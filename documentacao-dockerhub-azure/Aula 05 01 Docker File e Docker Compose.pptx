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5" r:id="rId1"/>
    <p:sldMasterId id="2147484180" r:id="rId2"/>
    <p:sldMasterId id="2147484182" r:id="rId3"/>
    <p:sldMasterId id="2147485737" r:id="rId4"/>
    <p:sldMasterId id="2147485752" r:id="rId5"/>
  </p:sldMasterIdLst>
  <p:notesMasterIdLst>
    <p:notesMasterId r:id="rId75"/>
  </p:notesMasterIdLst>
  <p:handoutMasterIdLst>
    <p:handoutMasterId r:id="rId76"/>
  </p:handoutMasterIdLst>
  <p:sldIdLst>
    <p:sldId id="863" r:id="rId6"/>
    <p:sldId id="1545" r:id="rId7"/>
    <p:sldId id="1153" r:id="rId8"/>
    <p:sldId id="1377" r:id="rId9"/>
    <p:sldId id="1544" r:id="rId10"/>
    <p:sldId id="1481" r:id="rId11"/>
    <p:sldId id="1378" r:id="rId12"/>
    <p:sldId id="1381" r:id="rId13"/>
    <p:sldId id="1379" r:id="rId14"/>
    <p:sldId id="1380" r:id="rId15"/>
    <p:sldId id="1382" r:id="rId16"/>
    <p:sldId id="1383" r:id="rId17"/>
    <p:sldId id="1384" r:id="rId18"/>
    <p:sldId id="1385" r:id="rId19"/>
    <p:sldId id="1345" r:id="rId20"/>
    <p:sldId id="1387" r:id="rId21"/>
    <p:sldId id="1546" r:id="rId22"/>
    <p:sldId id="1397" r:id="rId23"/>
    <p:sldId id="1467" r:id="rId24"/>
    <p:sldId id="1494" r:id="rId25"/>
    <p:sldId id="1393" r:id="rId26"/>
    <p:sldId id="1394" r:id="rId27"/>
    <p:sldId id="1493" r:id="rId28"/>
    <p:sldId id="1483" r:id="rId29"/>
    <p:sldId id="1482" r:id="rId30"/>
    <p:sldId id="1486" r:id="rId31"/>
    <p:sldId id="1495" r:id="rId32"/>
    <p:sldId id="1485" r:id="rId33"/>
    <p:sldId id="1487" r:id="rId34"/>
    <p:sldId id="1488" r:id="rId35"/>
    <p:sldId id="1489" r:id="rId36"/>
    <p:sldId id="1490" r:id="rId37"/>
    <p:sldId id="1505" r:id="rId38"/>
    <p:sldId id="1478" r:id="rId39"/>
    <p:sldId id="1496" r:id="rId40"/>
    <p:sldId id="1498" r:id="rId41"/>
    <p:sldId id="1500" r:id="rId42"/>
    <p:sldId id="1502" r:id="rId43"/>
    <p:sldId id="1343" r:id="rId44"/>
    <p:sldId id="1508" r:id="rId45"/>
    <p:sldId id="1523" r:id="rId46"/>
    <p:sldId id="1333" r:id="rId47"/>
    <p:sldId id="1334" r:id="rId48"/>
    <p:sldId id="1518" r:id="rId49"/>
    <p:sldId id="1524" r:id="rId50"/>
    <p:sldId id="1525" r:id="rId51"/>
    <p:sldId id="1517" r:id="rId52"/>
    <p:sldId id="1526" r:id="rId53"/>
    <p:sldId id="1527" r:id="rId54"/>
    <p:sldId id="1528" r:id="rId55"/>
    <p:sldId id="1529" r:id="rId56"/>
    <p:sldId id="1530" r:id="rId57"/>
    <p:sldId id="1531" r:id="rId58"/>
    <p:sldId id="1532" r:id="rId59"/>
    <p:sldId id="1533" r:id="rId60"/>
    <p:sldId id="1535" r:id="rId61"/>
    <p:sldId id="1534" r:id="rId62"/>
    <p:sldId id="1537" r:id="rId63"/>
    <p:sldId id="1536" r:id="rId64"/>
    <p:sldId id="1520" r:id="rId65"/>
    <p:sldId id="1521" r:id="rId66"/>
    <p:sldId id="1538" r:id="rId67"/>
    <p:sldId id="1539" r:id="rId68"/>
    <p:sldId id="1540" r:id="rId69"/>
    <p:sldId id="1541" r:id="rId70"/>
    <p:sldId id="1542" r:id="rId71"/>
    <p:sldId id="1506" r:id="rId72"/>
    <p:sldId id="1543" r:id="rId73"/>
    <p:sldId id="1331" r:id="rId74"/>
  </p:sldIdLst>
  <p:sldSz cx="9144000" cy="6858000" type="letter"/>
  <p:notesSz cx="7315200" cy="96012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454">
          <p15:clr>
            <a:srgbClr val="A4A3A4"/>
          </p15:clr>
        </p15:guide>
        <p15:guide id="2" pos="307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99"/>
    <a:srgbClr val="AF43C6"/>
    <a:srgbClr val="1EAFAD"/>
    <a:srgbClr val="005F8E"/>
    <a:srgbClr val="9E4607"/>
    <a:srgbClr val="AE5095"/>
    <a:srgbClr val="BD0A2E"/>
    <a:srgbClr val="F8B49D"/>
    <a:srgbClr val="4AB39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9CC9AA-D2E9-E92F-F6FC-EAD2D739C7E8}" v="1" dt="2025-05-19T11:11:37.2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4B1156A-380E-4F78-BDF5-A606A8083BF9}" styleName="Estilo Médio 4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282"/>
    <p:restoredTop sz="94654"/>
  </p:normalViewPr>
  <p:slideViewPr>
    <p:cSldViewPr snapToGrid="0">
      <p:cViewPr varScale="1">
        <p:scale>
          <a:sx n="136" d="100"/>
          <a:sy n="136" d="100"/>
        </p:scale>
        <p:origin x="984" y="200"/>
      </p:cViewPr>
      <p:guideLst>
        <p:guide orient="horz" pos="411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454"/>
        <p:guide pos="307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viewProps" Target="viewProps.xml"/><Relationship Id="rId81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146" descr="top ppt">
            <a:extLst>
              <a:ext uri="{FF2B5EF4-FFF2-40B4-BE49-F238E27FC236}">
                <a16:creationId xmlns:a16="http://schemas.microsoft.com/office/drawing/2014/main" id="{5D2D1507-373D-4883-8338-68617D2B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220663"/>
            <a:ext cx="6837362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" name="Group 147">
            <a:extLst>
              <a:ext uri="{FF2B5EF4-FFF2-40B4-BE49-F238E27FC236}">
                <a16:creationId xmlns:a16="http://schemas.microsoft.com/office/drawing/2014/main" id="{00BEB8F2-0CC2-4C6F-990D-771589F26EFD}"/>
              </a:ext>
            </a:extLst>
          </p:cNvPr>
          <p:cNvGraphicFramePr>
            <a:graphicFrameLocks noGrp="1"/>
          </p:cNvGraphicFramePr>
          <p:nvPr/>
        </p:nvGraphicFramePr>
        <p:xfrm>
          <a:off x="247650" y="8650288"/>
          <a:ext cx="6615113" cy="406400"/>
        </p:xfrm>
        <a:graphic>
          <a:graphicData uri="http://schemas.openxmlformats.org/drawingml/2006/table">
            <a:tbl>
              <a:tblPr/>
              <a:tblGrid>
                <a:gridCol w="5670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MBA </a:t>
                      </a:r>
                      <a:r>
                        <a:rPr kumimoji="0" lang="en-US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em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Business Intelligence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R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/>
                        </a:rPr>
                        <a:t>egina Claudia </a:t>
                      </a:r>
                      <a:r>
                        <a:rPr kumimoji="0" lang="en-US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/>
                        </a:rPr>
                        <a:t>Cantele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/>
                      </a:endParaRPr>
                    </a:p>
                  </a:txBody>
                  <a:tcPr marT="45769" marB="45769" anchor="ctr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endParaRPr kumimoji="0" lang="pt-B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69" marB="45769" anchor="ctr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ectangle 135">
            <a:extLst>
              <a:ext uri="{FF2B5EF4-FFF2-40B4-BE49-F238E27FC236}">
                <a16:creationId xmlns:a16="http://schemas.microsoft.com/office/drawing/2014/main" id="{C679A00E-E3FA-4B5C-A364-BA02E6C1032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95713" y="8753475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pt-BR" altLang="pt-BR"/>
              <a:t>Página - </a:t>
            </a:r>
            <a:fld id="{49FDC280-D0A0-498B-AAEB-842C588A5018}" type="slidenum">
              <a:rPr lang="pt-BR" altLang="pt-BR"/>
              <a:pPr>
                <a:defRPr/>
              </a:pPr>
              <a:t>‹nº›</a:t>
            </a:fld>
            <a:r>
              <a:rPr lang="pt-BR" altLang="pt-B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CF2F651-7DEF-4CF5-98D3-C75F2FA36C1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>
              <a:defRPr sz="1000" b="0" i="1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F53C36C-81EA-4A92-A1BE-20B00C27C39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>
              <a:defRPr sz="1000" b="0" i="1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11FABF6D-BA67-4765-9A6C-47B1B283A4F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>
              <a:defRPr sz="1000" b="0" i="1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3506227-31EE-4141-ADE6-0DA812569F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>
              <a:defRPr sz="1000" b="0" i="1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D357882-4790-467F-8EBC-04C1F36AB31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F56B03B3-31FF-42C0-92B4-EDDBDF268C4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81113" y="696913"/>
            <a:ext cx="4792662" cy="3594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1D525C9B-B19F-46B5-B4D7-E6471F89225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Click to 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  <a:p>
            <a:pPr lvl="3"/>
            <a:r>
              <a:rPr lang="pt-BR" noProof="0"/>
              <a:t>Fourth level</a:t>
            </a:r>
          </a:p>
          <a:p>
            <a:pPr lvl="4"/>
            <a:r>
              <a:rPr lang="pt-BR" noProof="0"/>
              <a:t>Fifth level</a:t>
            </a:r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45A09973-6CB1-4056-A79D-BB25117CF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8213" y="8888413"/>
            <a:ext cx="6731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27E61F01-F1A2-4050-A065-2F827B597615}" type="slidenum">
              <a:rPr lang="pt-BR" altLang="pt-BR" b="0" smtClean="0">
                <a:latin typeface="Book Antiqua" panose="02040602050305030304" pitchFamily="18" charset="0"/>
              </a:rPr>
              <a:pPr>
                <a:defRPr/>
              </a:pPr>
              <a:t>‹nº›</a:t>
            </a:fld>
            <a:endParaRPr lang="pt-BR" altLang="pt-BR" b="0">
              <a:latin typeface="Book Antiqua" panose="0204060205030503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30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357882-4790-467F-8EBC-04C1F36AB319}" type="slidenum">
              <a:rPr lang="pt-BR" altLang="pt-BR" smtClean="0"/>
              <a:pPr>
                <a:defRPr/>
              </a:pPr>
              <a:t>1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72410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C6CD5E-26BD-9B45-BB2F-78648736C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8096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236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524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429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Nome do arquivo:</a:t>
            </a:r>
          </a:p>
          <a:p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Dockerfile</a:t>
            </a:r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FROM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ubuntu</a:t>
            </a:r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b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</a:b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RUN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apt-get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-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y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update</a:t>
            </a:r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RUN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apt-get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-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y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install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python3</a:t>
            </a:r>
          </a:p>
          <a:p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899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pt-BR" sz="1200" err="1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hub.docker.com</a:t>
            </a:r>
            <a:r>
              <a:rPr lang="pt-BR" sz="1200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/_/</a:t>
            </a:r>
            <a:r>
              <a:rPr lang="pt-BR" sz="1200" err="1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scratch</a:t>
            </a: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73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build </a:t>
            </a:r>
            <a:r>
              <a:rPr lang="pt-BR" sz="1800">
                <a:solidFill>
                  <a:srgbClr val="FF0066"/>
                </a:solidFill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800" kern="1200">
              <a:solidFill>
                <a:srgbClr val="FF0066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800" kern="1200">
              <a:solidFill>
                <a:srgbClr val="FF0066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Se tiver problema de acesso no Mac OSX, verifique o acesso ao disco pelo Terminal: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https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://</a:t>
            </a: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www.igorkromin.net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/</a:t>
            </a: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index.php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/2020/11/18/how-to-fix-operation-not-permitted-error-in-macos-terminal-and-trash/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Tag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</a:t>
            </a: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an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</a:t>
            </a: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image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(-</a:t>
            </a: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t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docker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build -</a:t>
            </a: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t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</a:t>
            </a: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ubuntu_python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Specify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a </a:t>
            </a: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Dockerfile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(-</a:t>
            </a: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f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docker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build -</a:t>
            </a: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f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</a:t>
            </a: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meuDockerfile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565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ls</a:t>
            </a:r>
            <a:endParaRPr lang="pt-BR">
              <a:solidFill>
                <a:srgbClr val="FF006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rgbClr val="FF0066"/>
              </a:solidFill>
              <a:effectLst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docker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</a:t>
            </a: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image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</a:t>
            </a:r>
            <a:r>
              <a:rPr lang="pt-BR" sz="120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rm</a:t>
            </a:r>
            <a:r>
              <a:rPr lang="pt-BR" sz="120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&lt;ID&gt;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build -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ubuntu_python</a:t>
            </a:r>
            <a:r>
              <a:rPr lang="pt-BR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800">
                <a:solidFill>
                  <a:srgbClr val="FF0066"/>
                </a:solidFill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662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ls</a:t>
            </a:r>
            <a:endParaRPr lang="pt-BR">
              <a:solidFill>
                <a:srgbClr val="FF0066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303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-it </a:t>
            </a:r>
            <a:r>
              <a:rPr lang="pt-BR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ubuntu_python</a:t>
            </a:r>
            <a:r>
              <a:rPr lang="pt-BR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/bin/</a:t>
            </a:r>
            <a:r>
              <a:rPr lang="pt-BR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bash</a:t>
            </a:r>
            <a:endParaRPr lang="pt-BR">
              <a:solidFill>
                <a:srgbClr val="FF006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rgbClr val="FF0066"/>
              </a:solidFill>
              <a:effectLst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>
                <a:solidFill>
                  <a:srgbClr val="FF0066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python3 -V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798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FROM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ubuntu</a:t>
            </a:r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b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</a:b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RUN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apt-get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-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y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update</a:t>
            </a:r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RUN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apt-get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-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y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install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python3</a:t>
            </a:r>
          </a:p>
          <a:p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RUN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touch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arquivo-de-boas-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vindas.txt</a:t>
            </a:r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build -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ubuntu_python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800">
                <a:solidFill>
                  <a:srgbClr val="FF0066"/>
                </a:solidFill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3872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529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-it 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ubuntu_python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/bin/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bash</a:t>
            </a:r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python3 -V</a:t>
            </a:r>
          </a:p>
          <a:p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ls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0609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O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comando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COPY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somente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copia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arquivos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,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não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tem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suporte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para  URLs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etc</a:t>
            </a:r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ubuntu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pt-BR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18.04</a:t>
            </a:r>
            <a:endParaRPr lang="pt-BR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pt-BR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RUN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apt-get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update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y</a:t>
            </a:r>
            <a:endParaRPr lang="pt-BR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pt-BR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RUN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apt-get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install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npm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y</a:t>
            </a:r>
            <a:endParaRPr lang="pt-BR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pt-BR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ADD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Dockerfile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/root/arquivo-host-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transferido.txt</a:t>
            </a:r>
            <a:endParaRPr lang="pt-BR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build -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teste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800">
                <a:solidFill>
                  <a:srgbClr val="FF0066"/>
                </a:solidFill>
              </a:rPr>
              <a:t>.</a:t>
            </a:r>
            <a:endParaRPr lang="pt-BR">
              <a:solidFill>
                <a:srgbClr val="FF0066"/>
              </a:solidFill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--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testeadd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-it teste /bin/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bash</a:t>
            </a:r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  <a:sym typeface="Arial" panose="020B0604020202020204" pitchFamily="34" charset="0"/>
            </a:endParaRPr>
          </a:p>
          <a:p>
            <a:r>
              <a:rPr lang="en-US" err="1">
                <a:solidFill>
                  <a:srgbClr val="FF0066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npm</a:t>
            </a:r>
            <a:r>
              <a:rPr lang="en-US">
                <a:solidFill>
                  <a:srgbClr val="FF0066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–v</a:t>
            </a:r>
          </a:p>
          <a:p>
            <a:endParaRPr lang="en-US">
              <a:solidFill>
                <a:srgbClr val="FF0066"/>
              </a:solidFill>
              <a:latin typeface="Calibri" panose="020F050202020403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>
                <a:solidFill>
                  <a:srgbClr val="FF0066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exit</a:t>
            </a:r>
          </a:p>
          <a:p>
            <a:endParaRPr lang="en-US">
              <a:solidFill>
                <a:srgbClr val="FF0066"/>
              </a:solidFill>
              <a:latin typeface="Calibri" panose="020F050202020403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645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>
                <a:solidFill>
                  <a:srgbClr val="C586C0"/>
                </a:solidFill>
                <a:latin typeface="Menlo" panose="020B0609030804020204" pitchFamily="49" charset="0"/>
              </a:rPr>
              <a:t>Crie o arquivo antes em sua máquina: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b="0">
              <a:solidFill>
                <a:srgbClr val="C586C0"/>
              </a:solidFill>
              <a:latin typeface="Menlo" panose="020B06090308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echo</a:t>
            </a:r>
            <a:r>
              <a:rPr lang="pt-BR" sz="12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{ "nome": "Robert </a:t>
            </a:r>
            <a:r>
              <a:rPr lang="pt-BR" sz="1200" b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Plant</a:t>
            </a:r>
            <a:r>
              <a:rPr lang="pt-BR" sz="12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",  "banda": "Led Zeppelin" } &gt; arquivo-</a:t>
            </a:r>
            <a:r>
              <a:rPr lang="pt-BR" sz="1200" b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host.json</a:t>
            </a:r>
            <a:endParaRPr lang="pt-BR" sz="1200" b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BR" sz="1200" b="0">
              <a:solidFill>
                <a:srgbClr val="C586C0"/>
              </a:solidFill>
              <a:latin typeface="Menlo" panose="020B0609030804020204" pitchFamily="49" charset="0"/>
            </a:endParaRPr>
          </a:p>
          <a:p>
            <a:endParaRPr lang="pt-BR" sz="1200" b="0">
              <a:solidFill>
                <a:srgbClr val="C586C0"/>
              </a:solidFill>
              <a:latin typeface="Menlo" panose="020B0609030804020204" pitchFamily="49" charset="0"/>
            </a:endParaRPr>
          </a:p>
          <a:p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ubuntu:18.04</a:t>
            </a:r>
          </a:p>
          <a:p>
            <a:endParaRPr lang="en-US" sz="1200" b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WORKDIR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/app-java </a:t>
            </a:r>
          </a:p>
          <a:p>
            <a:endParaRPr lang="en-US" sz="1200" b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arquivo-host.json</a:t>
            </a:r>
            <a:r>
              <a:rPr lang="en-US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arquivo</a:t>
            </a:r>
            <a:r>
              <a:rPr lang="en-US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-host-</a:t>
            </a:r>
            <a:r>
              <a:rPr lang="en-US" sz="1200" b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transferido.json</a:t>
            </a:r>
            <a:endParaRPr lang="en-US" sz="12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endParaRPr lang="pt-BR" sz="1200" b="0">
              <a:solidFill>
                <a:srgbClr val="C586C0"/>
              </a:solidFill>
              <a:latin typeface="Menlo" panose="020B0609030804020204" pitchFamily="49" charset="0"/>
            </a:endParaRPr>
          </a:p>
          <a:p>
            <a:endParaRPr lang="pt-BR" altLang="pt-BR" sz="1200" b="0">
              <a:solidFill>
                <a:srgbClr val="9CDCFE"/>
              </a:solidFill>
              <a:latin typeface="Menlo" panose="020B060903080402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build -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teste </a:t>
            </a:r>
            <a:r>
              <a:rPr lang="pt-BR" sz="1800">
                <a:solidFill>
                  <a:srgbClr val="FF0066"/>
                </a:solidFill>
              </a:rPr>
              <a:t>.</a:t>
            </a:r>
          </a:p>
          <a:p>
            <a:endParaRPr lang="pt-BR" altLang="pt-BR" sz="1200" b="0">
              <a:solidFill>
                <a:srgbClr val="9CDCFE"/>
              </a:solidFill>
              <a:latin typeface="Menlo" panose="020B060903080402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--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testeworkdir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>
                <a:solidFill>
                  <a:srgbClr val="800080"/>
                </a:solidFill>
                <a:latin typeface="Trebuchet MS" panose="020B0703020202090204" pitchFamily="34" charset="0"/>
              </a:rPr>
              <a:t>-it </a:t>
            </a:r>
            <a:r>
              <a:rPr lang="pt-BR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teste </a:t>
            </a:r>
            <a:r>
              <a:rPr lang="pt-BR" err="1">
                <a:solidFill>
                  <a:srgbClr val="5E948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bash</a:t>
            </a:r>
            <a:endParaRPr lang="pt-BR">
              <a:solidFill>
                <a:srgbClr val="5E948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BR" altLang="pt-BR" sz="1200" b="0">
              <a:solidFill>
                <a:srgbClr val="9CDCFE"/>
              </a:solidFill>
              <a:latin typeface="Menlo" panose="020B060903080402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 sz="1200" b="0">
                <a:solidFill>
                  <a:srgbClr val="9CDCFE"/>
                </a:solidFill>
                <a:latin typeface="Menlo" panose="020B0609030804020204" pitchFamily="49" charset="0"/>
                <a:cs typeface="Arial" panose="020B0604020202020204" pitchFamily="34" charset="0"/>
                <a:sym typeface="Arial" panose="020B0604020202020204" pitchFamily="34" charset="0"/>
              </a:rPr>
              <a:t>docker container start 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testeworkdir</a:t>
            </a:r>
            <a:r>
              <a:rPr lang="en-US" altLang="pt-BR" sz="1200" b="0">
                <a:solidFill>
                  <a:srgbClr val="9CDCFE"/>
                </a:solidFill>
                <a:latin typeface="Menlo" panose="020B0609030804020204" pitchFamily="49" charset="0"/>
                <a:cs typeface="Arial" panose="020B0604020202020204" pitchFamily="34" charset="0"/>
                <a:sym typeface="Arial" panose="020B0604020202020204" pitchFamily="34" charset="0"/>
              </a:rPr>
              <a:t> -</a:t>
            </a:r>
            <a:r>
              <a:rPr lang="en-US" altLang="pt-BR" sz="1200" b="0" err="1">
                <a:solidFill>
                  <a:srgbClr val="9CDCFE"/>
                </a:solidFill>
                <a:latin typeface="Menlo" panose="020B0609030804020204" pitchFamily="49" charset="0"/>
                <a:cs typeface="Arial" panose="020B0604020202020204" pitchFamily="34" charset="0"/>
                <a:sym typeface="Arial" panose="020B0604020202020204" pitchFamily="34" charset="0"/>
              </a:rPr>
              <a:t>i</a:t>
            </a:r>
            <a:endParaRPr lang="en-US" altLang="pt-BR" sz="1200" b="0">
              <a:solidFill>
                <a:srgbClr val="9CDCFE"/>
              </a:solidFill>
              <a:latin typeface="Menlo" panose="020B060903080402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 sz="1200" b="0">
              <a:solidFill>
                <a:srgbClr val="9CDCFE"/>
              </a:solidFill>
              <a:latin typeface="Menlo" panose="020B060903080402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pt-BR" altLang="pt-BR" sz="1200" b="0">
              <a:solidFill>
                <a:srgbClr val="9CDCFE"/>
              </a:solidFill>
              <a:latin typeface="Menlo" panose="020B060903080402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4475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O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comando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COPY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somente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copia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arquivos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,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não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tem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suporte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para  URLs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etc</a:t>
            </a:r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ubuntu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pt-BR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18.04</a:t>
            </a:r>
            <a:endParaRPr lang="pt-BR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pt-BR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RUN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apt-get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update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y</a:t>
            </a:r>
            <a:endParaRPr lang="pt-BR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pt-BR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RUN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apt-get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install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npm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y</a:t>
            </a:r>
            <a:endParaRPr lang="pt-BR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pt-BR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ADD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Dockerfile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/root/arquivo-host-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transferido.txt</a:t>
            </a:r>
            <a:endParaRPr lang="pt-BR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build -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teste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800">
                <a:solidFill>
                  <a:srgbClr val="FF0066"/>
                </a:solidFill>
              </a:rPr>
              <a:t>.</a:t>
            </a:r>
            <a:endParaRPr lang="pt-BR">
              <a:solidFill>
                <a:srgbClr val="FF0066"/>
              </a:solidFill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--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testeadd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-it teste /bin/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bash</a:t>
            </a:r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  <a:sym typeface="Arial" panose="020B0604020202020204" pitchFamily="34" charset="0"/>
            </a:endParaRPr>
          </a:p>
          <a:p>
            <a:r>
              <a:rPr lang="en-US" err="1">
                <a:solidFill>
                  <a:srgbClr val="FF0066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npm</a:t>
            </a:r>
            <a:r>
              <a:rPr lang="en-US">
                <a:solidFill>
                  <a:srgbClr val="FF0066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–v</a:t>
            </a:r>
          </a:p>
          <a:p>
            <a:endParaRPr lang="en-US">
              <a:solidFill>
                <a:srgbClr val="FF0066"/>
              </a:solidFill>
              <a:latin typeface="Calibri" panose="020F050202020403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>
                <a:solidFill>
                  <a:srgbClr val="FF0066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exit</a:t>
            </a:r>
          </a:p>
          <a:p>
            <a:endParaRPr lang="en-US">
              <a:solidFill>
                <a:srgbClr val="FF0066"/>
              </a:solidFill>
              <a:latin typeface="Calibri" panose="020F050202020403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1414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FROM ubuntu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EXPOSE 80/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tcp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EXPOSE 80/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udp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docker build -t teste .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docker image inspect --format='' teste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docker container run --name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testeexpose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-it teste bash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Em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outro Terminal execute: 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docker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ps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8213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solidFill>
                <a:srgbClr val="FF0066"/>
              </a:solidFill>
              <a:latin typeface="Calibri" panose="020F0502020204030204" pitchFamily="34" charset="0"/>
              <a:cs typeface="Calibri" panose="020F050202020403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708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pt-BR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pt-BR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--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nginx</a:t>
            </a:r>
            <a:r>
              <a:rPr lang="pt-BR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-server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>
                <a:solidFill>
                  <a:srgbClr val="80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pt-BR" err="1">
                <a:solidFill>
                  <a:srgbClr val="80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80:80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nginx</a:t>
            </a:r>
            <a:endParaRPr lang="pt-BR" altLang="pt-BR">
              <a:solidFill>
                <a:srgbClr val="FF0066"/>
              </a:solidFill>
              <a:latin typeface="Calibri" panose="020F0502020204030204" pitchFamily="34" charset="0"/>
              <a:cs typeface="Calibri" panose="020F050202020403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stop </a:t>
            </a:r>
            <a:r>
              <a:rPr lang="pt-BR" sz="12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nginx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-server</a:t>
            </a:r>
          </a:p>
          <a:p>
            <a:endParaRPr lang="pt-BR" altLang="pt-BR" sz="1200">
              <a:solidFill>
                <a:srgbClr val="FF0066"/>
              </a:solidFill>
              <a:latin typeface="Calibri" panose="020F0502020204030204" pitchFamily="34" charset="0"/>
              <a:cs typeface="Calibri" panose="020F050202020403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rm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nginx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-server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9853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/>
              <a:t>O Docker limpe automaticamente o Container e remova o sistema de arquivos quando o Container for encerrado, adicione o sinalizador  --</a:t>
            </a:r>
            <a:r>
              <a:rPr lang="pt-PT" err="1"/>
              <a:t>rm</a:t>
            </a:r>
            <a:endParaRPr lang="pt-PT"/>
          </a:p>
          <a:p>
            <a:endParaRPr lang="pt-BR" b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FROM </a:t>
            </a:r>
            <a:r>
              <a:rPr lang="pt-BR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alpine</a:t>
            </a:r>
            <a:endParaRPr lang="pt-BR" b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endParaRPr lang="pt-BR" b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CMD ["</a:t>
            </a:r>
            <a:r>
              <a:rPr lang="pt-BR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pt-B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","Rodei na execução"]</a:t>
            </a:r>
          </a:p>
          <a:p>
            <a:endParaRPr lang="pt-BR" b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pt-B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build -</a:t>
            </a:r>
            <a:r>
              <a:rPr lang="pt-BR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pt-B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testecmd</a:t>
            </a:r>
            <a:r>
              <a:rPr lang="pt-B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.</a:t>
            </a:r>
          </a:p>
          <a:p>
            <a:endParaRPr lang="pt-BR" b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pt-B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container </a:t>
            </a:r>
            <a:r>
              <a:rPr lang="pt-BR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pt-B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--</a:t>
            </a:r>
            <a:r>
              <a:rPr lang="pt-BR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rm</a:t>
            </a:r>
            <a:r>
              <a:rPr lang="pt-B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testecmd</a:t>
            </a:r>
            <a:endParaRPr lang="pt-BR" b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endParaRPr lang="pt-BR" b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endParaRPr lang="pt-BR" b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endParaRPr lang="pt-BR" b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i="0">
                <a:solidFill>
                  <a:srgbClr val="000000"/>
                </a:solidFill>
                <a:effectLst/>
                <a:latin typeface="Source Code Pro" panose="020F0502020204030204" pitchFamily="34" charset="0"/>
              </a:rPr>
              <a:t>CMD</a:t>
            </a:r>
            <a:r>
              <a:rPr lang="pt-BR" b="0" i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i="0">
                <a:solidFill>
                  <a:srgbClr val="8E6FDC"/>
                </a:solidFill>
                <a:effectLst/>
                <a:latin typeface="Source Code Pro" panose="020B0509030403020204" pitchFamily="49" charset="0"/>
              </a:rPr>
              <a:t>/bin/</a:t>
            </a:r>
            <a:r>
              <a:rPr lang="pt-BR" b="0" i="0" err="1">
                <a:solidFill>
                  <a:srgbClr val="8E6FDC"/>
                </a:solidFill>
                <a:effectLst/>
                <a:latin typeface="Source Code Pro" panose="020B0509030403020204" pitchFamily="49" charset="0"/>
              </a:rPr>
              <a:t>bash</a:t>
            </a:r>
            <a:r>
              <a:rPr lang="pt-BR" b="0" i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-</a:t>
            </a:r>
            <a:r>
              <a:rPr lang="pt-BR" b="0" i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c</a:t>
            </a:r>
            <a:endParaRPr lang="pt-BR" b="0" i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endParaRPr lang="pt-BR" b="0" i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endParaRPr lang="pt-BR" b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endParaRPr lang="pt-BR" b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4684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b="0" i="0">
              <a:solidFill>
                <a:srgbClr val="292929"/>
              </a:solidFill>
              <a:effectLst/>
              <a:latin typeface="source-code-pro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clone https://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github.com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profjoaomenk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/Docker-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NodeJs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HelloWorld.git</a:t>
            </a:r>
            <a:endParaRPr lang="pt-BR" sz="1200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BR" b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cd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Docker-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NodeJs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HelloWorld</a:t>
            </a:r>
            <a:endParaRPr lang="pt-BR" sz="1200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BR" b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build -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nodehelloworld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>
                <a:solidFill>
                  <a:srgbClr val="FF0066"/>
                </a:solidFill>
              </a:rPr>
              <a:t>.</a:t>
            </a:r>
          </a:p>
          <a:p>
            <a:endParaRPr lang="pt-BR" sz="1200" b="0">
              <a:solidFill>
                <a:srgbClr val="FF006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3030:3030 --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apphello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err="1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nodehelloworld</a:t>
            </a:r>
            <a:endParaRPr lang="pt-BR" sz="1200" b="0">
              <a:solidFill>
                <a:srgbClr val="FF0066"/>
              </a:solidFill>
              <a:effectLst/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endParaRPr lang="pt-BR" sz="1200" b="0">
              <a:solidFill>
                <a:srgbClr val="FF0066"/>
              </a:solidFill>
              <a:effectLst/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en-US" b="0" i="0" u="sng">
                <a:effectLst/>
                <a:latin typeface="source-code-pro"/>
                <a:hlinkClick r:id="rId3"/>
              </a:rPr>
              <a:t>http://localhost:3030</a:t>
            </a:r>
            <a:endParaRPr lang="pt-BR" sz="1200" b="0">
              <a:solidFill>
                <a:srgbClr val="FF0066"/>
              </a:solidFill>
              <a:effectLst/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endParaRPr lang="pt-BR" sz="1200" b="0">
              <a:solidFill>
                <a:srgbClr val="FF0066"/>
              </a:solidFill>
              <a:effectLst/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stop </a:t>
            </a:r>
            <a:r>
              <a:rPr lang="pt-BR" sz="12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apphello</a:t>
            </a:r>
            <a:endParaRPr lang="pt-BR" sz="1200">
              <a:solidFill>
                <a:srgbClr val="FF006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BR" sz="1200" b="0">
              <a:solidFill>
                <a:srgbClr val="FF0066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start </a:t>
            </a:r>
            <a:r>
              <a:rPr lang="pt-BR" sz="12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apphello</a:t>
            </a:r>
            <a:endParaRPr lang="pt-BR" sz="1200" b="0">
              <a:solidFill>
                <a:srgbClr val="FF0066"/>
              </a:solidFill>
              <a:effectLst/>
              <a:latin typeface="Consolas" panose="020B0609020204030204" pitchFamily="49" charset="0"/>
            </a:endParaRPr>
          </a:p>
          <a:p>
            <a:endParaRPr lang="pt-BR" b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6243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build -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ptoentrada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>
                <a:solidFill>
                  <a:srgbClr val="FF0066"/>
                </a:solidFill>
              </a:rPr>
              <a:t>.</a:t>
            </a:r>
          </a:p>
          <a:p>
            <a:endParaRPr lang="pt-BR" altLang="pt-BR" sz="1200">
              <a:solidFill>
                <a:srgbClr val="FF0066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--name </a:t>
            </a:r>
            <a:r>
              <a:rPr lang="de-DE" altLang="pt-BR" sz="120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alpine_entry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lang="pt-BR" sz="1200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-it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ptoentrada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</a:t>
            </a:r>
            <a:endParaRPr lang="pt-BR" sz="1200">
              <a:solidFill>
                <a:srgbClr val="FF006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BR" altLang="pt-BR" sz="1200">
              <a:solidFill>
                <a:srgbClr val="FF0066"/>
              </a:solidFill>
              <a:latin typeface="Calibri" panose="020F0502020204030204" pitchFamily="34" charset="0"/>
              <a:cs typeface="Calibri" panose="020F050202020403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en-US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start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lang="pt-BR" sz="1200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pt-BR" sz="1200" err="1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pt-BR" sz="120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alpine_entry</a:t>
            </a:r>
            <a:endParaRPr lang="de-DE" altLang="pt-BR" sz="120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Para o “Exec form” a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chamada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deve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ser: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docker</a:t>
            </a:r>
            <a:r>
              <a:rPr lang="pt-BR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</a:t>
            </a:r>
            <a:r>
              <a:rPr lang="pt-BR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run</a:t>
            </a:r>
            <a:r>
              <a:rPr lang="pt-BR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-it --</a:t>
            </a:r>
            <a:r>
              <a:rPr lang="pt-BR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rm</a:t>
            </a:r>
            <a:r>
              <a:rPr lang="pt-BR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</a:t>
            </a:r>
            <a:r>
              <a:rPr lang="pt-BR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ptoentrada</a:t>
            </a:r>
            <a:endParaRPr lang="pt-BR">
              <a:solidFill>
                <a:srgbClr val="2FFF12"/>
              </a:solidFill>
              <a:effectLst/>
              <a:latin typeface="Andale Mono" panose="020B0509000000000004" pitchFamily="49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solidFill>
                <a:srgbClr val="2FFF12"/>
              </a:solidFill>
              <a:effectLst/>
              <a:latin typeface="Andale Mono" panose="020B05090000000000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solidFill>
                <a:srgbClr val="2FFF12"/>
              </a:solidFill>
              <a:effectLst/>
              <a:latin typeface="Andale Mono" panose="020B05090000000000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4925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https://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docs.docker.com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/engine/reference/builder/#understand-how-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cmd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-and-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entrypoint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-interact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8796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build -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teste </a:t>
            </a:r>
            <a:r>
              <a:rPr lang="pt-BR" sz="1200">
                <a:solidFill>
                  <a:srgbClr val="FF0066"/>
                </a:solidFill>
              </a:rPr>
              <a:t>.</a:t>
            </a:r>
          </a:p>
          <a:p>
            <a:endParaRPr lang="pt-BR" altLang="pt-BR" sz="1200">
              <a:solidFill>
                <a:srgbClr val="FF0066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--name </a:t>
            </a:r>
            <a:r>
              <a:rPr lang="de-DE" altLang="pt-BR" sz="120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appentryecmd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teste</a:t>
            </a:r>
          </a:p>
          <a:p>
            <a:endParaRPr lang="pt-BR" altLang="pt-BR" sz="1200">
              <a:solidFill>
                <a:srgbClr val="FF0066"/>
              </a:solidFill>
              <a:latin typeface="Calibri" panose="020F0502020204030204" pitchFamily="34" charset="0"/>
              <a:cs typeface="Calibri" panose="020F050202020403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rm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pt-BR" sz="120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appentryecmd</a:t>
            </a:r>
            <a:endParaRPr lang="de-DE" altLang="pt-BR" sz="120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  <a:sym typeface="Arial" panose="020B0604020202020204" pitchFamily="34" charset="0"/>
            </a:endParaRPr>
          </a:p>
          <a:p>
            <a:endParaRPr lang="de-DE" altLang="pt-BR" sz="120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--name </a:t>
            </a:r>
            <a:r>
              <a:rPr lang="de-DE" altLang="pt-BR" sz="120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appentryecmd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teste </a:t>
            </a:r>
            <a:r>
              <a:rPr lang="pt-BR" sz="1200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"João”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5843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PT" err="1"/>
              <a:t>https</a:t>
            </a:r>
            <a:r>
              <a:rPr lang="pt-PT"/>
              <a:t>://</a:t>
            </a:r>
            <a:r>
              <a:rPr lang="pt-PT" err="1"/>
              <a:t>vsupalov.com</a:t>
            </a:r>
            <a:r>
              <a:rPr lang="pt-PT"/>
              <a:t>/</a:t>
            </a:r>
            <a:r>
              <a:rPr lang="pt-PT" err="1"/>
              <a:t>docker-arg-vs-env</a:t>
            </a:r>
            <a:r>
              <a:rPr lang="pt-PT"/>
              <a:t>/</a:t>
            </a:r>
          </a:p>
          <a:p>
            <a:endParaRPr lang="pt-PT"/>
          </a:p>
          <a:p>
            <a:endParaRPr lang="pt-PT"/>
          </a:p>
          <a:p>
            <a:r>
              <a:rPr lang="pt-PT"/>
              <a:t>O Docker limpe automaticamente o contêiner e remova o sistema de arquivos quando o contêiner for encerrado, adicione o sinalizador  --rm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9992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PT"/>
              <a:t>O Docker limpe automaticamente o Container e remova o sistema de arquivos quando o Container for encerrado, adicione o sinalizador  --</a:t>
            </a:r>
            <a:r>
              <a:rPr lang="pt-PT" err="1"/>
              <a:t>rm</a:t>
            </a:r>
            <a:endParaRPr lang="pt-PT"/>
          </a:p>
          <a:p>
            <a:endParaRPr lang="pt-PT"/>
          </a:p>
          <a:p>
            <a:r>
              <a:rPr lang="pt-PT"/>
              <a:t>FROM </a:t>
            </a:r>
            <a:r>
              <a:rPr lang="pt-PT" err="1"/>
              <a:t>alpine</a:t>
            </a:r>
            <a:endParaRPr lang="pt-PT"/>
          </a:p>
          <a:p>
            <a:r>
              <a:rPr lang="pt-PT"/>
              <a:t>ARG nome=João</a:t>
            </a:r>
          </a:p>
          <a:p>
            <a:r>
              <a:rPr lang="pt-PT"/>
              <a:t>RUN </a:t>
            </a:r>
            <a:r>
              <a:rPr lang="pt-PT" err="1"/>
              <a:t>echo</a:t>
            </a:r>
            <a:r>
              <a:rPr lang="pt-PT"/>
              <a:t> "Olá! </a:t>
            </a:r>
            <a:r>
              <a:rPr lang="pt-PT" err="1"/>
              <a:t>Bem-vinde</a:t>
            </a:r>
            <a:r>
              <a:rPr lang="pt-PT"/>
              <a:t> $nome" &gt; bem-</a:t>
            </a:r>
            <a:r>
              <a:rPr lang="pt-PT" err="1"/>
              <a:t>vinde.txt</a:t>
            </a:r>
            <a:endParaRPr lang="pt-PT"/>
          </a:p>
          <a:p>
            <a:r>
              <a:rPr lang="pt-PT"/>
              <a:t>ENTRYPOINT </a:t>
            </a:r>
            <a:r>
              <a:rPr lang="pt-PT" err="1"/>
              <a:t>cat</a:t>
            </a:r>
            <a:r>
              <a:rPr lang="pt-PT"/>
              <a:t> bem-</a:t>
            </a:r>
            <a:r>
              <a:rPr lang="pt-PT" err="1"/>
              <a:t>vinde.txt</a:t>
            </a:r>
            <a:endParaRPr lang="pt-PT"/>
          </a:p>
          <a:p>
            <a:endParaRPr lang="pt-PT"/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build -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-demo </a:t>
            </a:r>
            <a:r>
              <a:rPr lang="pt-BR" sz="1200">
                <a:solidFill>
                  <a:srgbClr val="FF0066"/>
                </a:solidFill>
              </a:rPr>
              <a:t>.</a:t>
            </a:r>
          </a:p>
          <a:p>
            <a:endParaRPr lang="pt-BR" sz="1200">
              <a:solidFill>
                <a:srgbClr val="FF0066"/>
              </a:solidFill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--</a:t>
            </a:r>
            <a:r>
              <a:rPr lang="de-DE" alt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lang="pt-BR" sz="12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-demo</a:t>
            </a:r>
            <a:endParaRPr lang="pt-PT"/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build -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-demo </a:t>
            </a:r>
            <a:r>
              <a:rPr lang="en-US" sz="1200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--build-</a:t>
            </a:r>
            <a:r>
              <a:rPr lang="en-US" sz="1200" err="1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</a:t>
            </a:r>
            <a:r>
              <a:rPr lang="en-US" sz="1200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err="1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nome</a:t>
            </a:r>
            <a:r>
              <a:rPr lang="en-US" sz="1200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=Maria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.</a:t>
            </a:r>
          </a:p>
          <a:p>
            <a:endParaRPr lang="pt-BR" altLang="pt-BR" sz="1200">
              <a:solidFill>
                <a:srgbClr val="FF0066"/>
              </a:solidFill>
              <a:latin typeface="Calibri" panose="020F0502020204030204" pitchFamily="34" charset="0"/>
              <a:cs typeface="Calibri" panose="020F050202020403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--</a:t>
            </a:r>
            <a:r>
              <a:rPr lang="de-DE" alt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lang="pt-BR" sz="12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-demo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3963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sz="1600" b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pt-BR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sz="1200" b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ubuntu</a:t>
            </a:r>
            <a:endParaRPr lang="pt-BR" sz="1200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pt-BR" sz="1600" b="0">
                <a:solidFill>
                  <a:srgbClr val="569CD6"/>
                </a:solidFill>
                <a:latin typeface="Consolas" panose="020B0609020204030204" pitchFamily="49" charset="0"/>
              </a:rPr>
              <a:t>ARG</a:t>
            </a:r>
            <a:r>
              <a:rPr lang="pt-BR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sz="1200" b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PYTHON_VERSION</a:t>
            </a:r>
            <a:endParaRPr lang="pt-BR" sz="1200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pt-BR" sz="1600" b="0">
                <a:solidFill>
                  <a:srgbClr val="569CD6"/>
                </a:solidFill>
                <a:latin typeface="Consolas" panose="020B0609020204030204" pitchFamily="49" charset="0"/>
              </a:rPr>
              <a:t>RUN</a:t>
            </a:r>
            <a:r>
              <a:rPr lang="pt-BR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sz="1200" b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apt-get</a:t>
            </a:r>
            <a:r>
              <a:rPr lang="pt-BR" sz="1200" b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 update -</a:t>
            </a:r>
            <a:r>
              <a:rPr lang="pt-BR" sz="1200" b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y</a:t>
            </a:r>
            <a:endParaRPr lang="pt-BR" sz="1200" b="0">
              <a:solidFill>
                <a:schemeClr val="tx1"/>
              </a:solidFill>
              <a:latin typeface="Menlo" panose="020B0609030804020204" pitchFamily="49" charset="0"/>
            </a:endParaRPr>
          </a:p>
          <a:p>
            <a:r>
              <a:rPr lang="pt-BR" sz="1600" b="0">
                <a:solidFill>
                  <a:srgbClr val="569CD6"/>
                </a:solidFill>
                <a:latin typeface="Consolas" panose="020B0609020204030204" pitchFamily="49" charset="0"/>
              </a:rPr>
              <a:t>RUN</a:t>
            </a:r>
            <a:r>
              <a:rPr lang="pt-BR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sz="1200" b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apt-get</a:t>
            </a:r>
            <a:r>
              <a:rPr lang="pt-BR" sz="1200" b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sz="1200" b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install</a:t>
            </a:r>
            <a:r>
              <a:rPr lang="pt-BR" sz="1200" b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sz="1200" b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python</a:t>
            </a:r>
            <a:r>
              <a:rPr lang="pt-BR" sz="1200" b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${PYTHON_VERSION} -</a:t>
            </a:r>
            <a:r>
              <a:rPr lang="pt-BR" sz="1200" b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y</a:t>
            </a:r>
            <a:endParaRPr lang="pt-BR" sz="1200" b="0">
              <a:solidFill>
                <a:schemeClr val="tx1"/>
              </a:solidFill>
              <a:effectLst/>
              <a:latin typeface="Menlo" panose="020B0609030804020204" pitchFamily="49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build -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arg-version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--build-</a:t>
            </a:r>
            <a:r>
              <a:rPr lang="en-US" sz="1200" err="1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</a:t>
            </a:r>
            <a:r>
              <a:rPr lang="en-US" sz="1200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PYTHON_VERSION="2"</a:t>
            </a:r>
            <a:r>
              <a:rPr lang="pt-BR" sz="1200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--</a:t>
            </a:r>
            <a:r>
              <a:rPr lang="de-DE" alt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 -</a:t>
            </a:r>
            <a:r>
              <a:rPr lang="de-DE" alt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it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  </a:t>
            </a:r>
            <a:r>
              <a:rPr lang="pt-BR" sz="12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arg-version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b="0" err="1">
                <a:solidFill>
                  <a:srgbClr val="4EC9B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bash</a:t>
            </a:r>
            <a:endParaRPr lang="en-US" sz="1200" b="0">
              <a:solidFill>
                <a:srgbClr val="4EC9B0"/>
              </a:solidFill>
              <a:latin typeface="Calibri" panose="020F050202020403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 sz="1200" b="0">
              <a:solidFill>
                <a:srgbClr val="4EC9B0"/>
              </a:solidFill>
              <a:latin typeface="Calibri" panose="020F050202020403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python2 -V</a:t>
            </a:r>
          </a:p>
          <a:p>
            <a:endParaRPr lang="en-US" altLang="pt-BR" sz="1200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build -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arg-version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--build-</a:t>
            </a:r>
            <a:r>
              <a:rPr lang="en-US" sz="1200" err="1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</a:t>
            </a:r>
            <a:r>
              <a:rPr lang="en-US" sz="1200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PYTHON_VERSION="3"</a:t>
            </a:r>
            <a:r>
              <a:rPr lang="pt-BR" sz="1200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200">
              <a:solidFill>
                <a:srgbClr val="FF0066"/>
              </a:solidFill>
              <a:latin typeface="Calibri" panose="020F050202020403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 sz="1200">
              <a:solidFill>
                <a:srgbClr val="FF0066"/>
              </a:solidFill>
              <a:latin typeface="Calibri" panose="020F050202020403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--</a:t>
            </a:r>
            <a:r>
              <a:rPr lang="de-DE" alt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 -</a:t>
            </a:r>
            <a:r>
              <a:rPr lang="de-DE" alt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it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  </a:t>
            </a:r>
            <a:r>
              <a:rPr lang="pt-BR" sz="12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arg-version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b="0" err="1">
                <a:solidFill>
                  <a:srgbClr val="4EC9B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bash</a:t>
            </a:r>
            <a:endParaRPr lang="en-US" altLang="pt-BR" sz="1200">
              <a:solidFill>
                <a:srgbClr val="FF0066"/>
              </a:solidFill>
              <a:latin typeface="Calibri" panose="020F050202020403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 sz="1200">
              <a:solidFill>
                <a:srgbClr val="FF0066"/>
              </a:solidFill>
              <a:latin typeface="Calibri" panose="020F050202020403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python2 -V</a:t>
            </a:r>
            <a:endParaRPr lang="en-US" altLang="pt-BR" sz="1200">
              <a:solidFill>
                <a:srgbClr val="FF0066"/>
              </a:solidFill>
              <a:latin typeface="Calibri" panose="020F050202020403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python3 -V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7787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FROM ubuntu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ENV hey="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Olá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"</a:t>
            </a: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ENV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dir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="/"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# O ENV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também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pode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ser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utilizado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na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construção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ADD ./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Dockerfile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${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dir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}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CMD echo $hey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build -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err="1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</a:t>
            </a:r>
            <a:r>
              <a:rPr lang="pt-BR" sz="1200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-demo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.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--</a:t>
            </a:r>
            <a:r>
              <a:rPr lang="de-DE" alt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lang="pt-BR" sz="1200" err="1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</a:t>
            </a:r>
            <a:r>
              <a:rPr lang="pt-BR" sz="1200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-demo</a:t>
            </a:r>
          </a:p>
          <a:p>
            <a:endParaRPr lang="pt-BR" altLang="pt-BR" sz="1200">
              <a:solidFill>
                <a:srgbClr val="FF3399"/>
              </a:solidFill>
              <a:latin typeface="Calibri" panose="020F0502020204030204" pitchFamily="34" charset="0"/>
              <a:cs typeface="Calibri" panose="020F050202020403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--</a:t>
            </a:r>
            <a:r>
              <a:rPr lang="de-DE" alt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lang="de-DE" altLang="pt-BR" sz="1200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-</a:t>
            </a:r>
            <a:r>
              <a:rPr lang="de-DE" altLang="pt-BR" sz="1200" err="1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e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 hey="Salve" </a:t>
            </a:r>
            <a:r>
              <a:rPr lang="pt-BR" sz="1200" err="1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</a:t>
            </a:r>
            <a:r>
              <a:rPr lang="pt-BR" sz="1200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-demo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--</a:t>
            </a:r>
            <a:r>
              <a:rPr lang="de-DE" alt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lang="de-DE" altLang="pt-BR" sz="1200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-</a:t>
            </a:r>
            <a:r>
              <a:rPr lang="de-DE" altLang="pt-BR" sz="1200" err="1">
                <a:solidFill>
                  <a:srgbClr val="AF43C6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it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lang="pt-BR" sz="1200" err="1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</a:t>
            </a:r>
            <a:r>
              <a:rPr lang="pt-BR" sz="1200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-demo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b="0" err="1">
                <a:solidFill>
                  <a:srgbClr val="4EC9B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bash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0892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FROM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node:alpine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RUN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adduser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-h /home/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menk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-s /bin/bash -D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menk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USER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menk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RUN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whoami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RUN touch /home/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menk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/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teste.txt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USER node</a:t>
            </a: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RUN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whoami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RUN touch /home/node/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teste.txt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#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Executar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mais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de um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comando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com a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instrução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CMD</a:t>
            </a: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CMD ls -l /home/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menk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; ls -l /home/node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build -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err="1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pt-BR" sz="1200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-demo</a:t>
            </a:r>
            <a:r>
              <a:rPr lang="pt-BR" sz="12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.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--</a:t>
            </a:r>
            <a:r>
              <a:rPr lang="de-DE" altLang="pt-BR" sz="1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lang="de-DE" altLang="pt-BR" sz="120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lang="pt-BR" altLang="pt-BR" sz="1200" err="1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rPr>
              <a:t>user</a:t>
            </a:r>
            <a:r>
              <a:rPr lang="pt-BR" sz="1200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-demo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4397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0987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2590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3272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0924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9507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7906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4241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3147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6851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7897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1990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docker-compose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--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0713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sz="1200" err="1">
                <a:solidFill>
                  <a:srgbClr val="005F8E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BR" sz="1200">
                <a:solidFill>
                  <a:srgbClr val="005F8E"/>
                </a:solidFill>
                <a:latin typeface="Calibri"/>
                <a:ea typeface="Calibri"/>
                <a:cs typeface="Calibri"/>
                <a:sym typeface="Calibri"/>
              </a:rPr>
              <a:t> clone 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https://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github.com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profjoaomenk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out_stock.git</a:t>
            </a:r>
            <a:endParaRPr lang="pt-BR" sz="1200">
              <a:solidFill>
                <a:srgbClr val="005F8E"/>
              </a:solidFill>
              <a:latin typeface="Calibri"/>
              <a:cs typeface="Calibri"/>
            </a:endParaRPr>
          </a:p>
          <a:p>
            <a:endParaRPr lang="pt-BR" altLang="pt-BR" sz="1200">
              <a:solidFill>
                <a:srgbClr val="005F8E"/>
              </a:solidFill>
              <a:latin typeface="Calibri"/>
              <a:cs typeface="Calibri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err="1">
                <a:solidFill>
                  <a:srgbClr val="005F8E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r>
              <a:rPr lang="pt-BR" sz="1200">
                <a:solidFill>
                  <a:srgbClr val="005F8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200" err="1">
                <a:solidFill>
                  <a:srgbClr val="005F8E"/>
                </a:solidFill>
                <a:latin typeface="Calibri"/>
                <a:ea typeface="Calibri"/>
                <a:cs typeface="Calibri"/>
                <a:sym typeface="Calibri"/>
              </a:rPr>
              <a:t>out_stock</a:t>
            </a:r>
            <a:endParaRPr lang="pt-BR" sz="1200">
              <a:solidFill>
                <a:srgbClr val="005F8E"/>
              </a:solidFill>
              <a:latin typeface="Calibri"/>
              <a:cs typeface="Calibri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7177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09178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7346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sz="1200" err="1">
                <a:solidFill>
                  <a:srgbClr val="005F8E"/>
                </a:solidFill>
                <a:effectLst/>
                <a:latin typeface="Andale Mono" panose="020B0509000000000004" pitchFamily="49" charset="0"/>
              </a:rPr>
              <a:t>docker-compose</a:t>
            </a:r>
            <a:r>
              <a:rPr lang="pt-BR" sz="1200">
                <a:solidFill>
                  <a:srgbClr val="005F8E"/>
                </a:solidFill>
                <a:effectLst/>
                <a:latin typeface="Andale Mono" panose="020B0509000000000004" pitchFamily="49" charset="0"/>
              </a:rPr>
              <a:t> </a:t>
            </a:r>
            <a:r>
              <a:rPr lang="pt-BR" sz="1200" err="1">
                <a:solidFill>
                  <a:srgbClr val="005F8E"/>
                </a:solidFill>
                <a:effectLst/>
                <a:latin typeface="Andale Mono" panose="020B0509000000000004" pitchFamily="49" charset="0"/>
              </a:rPr>
              <a:t>up</a:t>
            </a:r>
            <a:r>
              <a:rPr lang="pt-BR" sz="1200">
                <a:solidFill>
                  <a:srgbClr val="005F8E"/>
                </a:solidFill>
                <a:effectLst/>
                <a:latin typeface="Andale Mono" panose="020B0509000000000004" pitchFamily="49" charset="0"/>
              </a:rPr>
              <a:t> -</a:t>
            </a:r>
            <a:r>
              <a:rPr lang="pt-BR" sz="1200" err="1">
                <a:solidFill>
                  <a:srgbClr val="005F8E"/>
                </a:solidFill>
                <a:effectLst/>
                <a:latin typeface="Andale Mono" panose="020B0509000000000004" pitchFamily="49" charset="0"/>
              </a:rPr>
              <a:t>d</a:t>
            </a:r>
            <a:r>
              <a:rPr lang="pt-BR" sz="1200">
                <a:solidFill>
                  <a:srgbClr val="005F8E"/>
                </a:solidFill>
                <a:effectLst/>
                <a:latin typeface="Andale Mono" panose="020B0509000000000004" pitchFamily="49" charset="0"/>
              </a:rPr>
              <a:t> --build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54617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1883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52080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45315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mysql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-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u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admdimdim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-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p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84118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show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databases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;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use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;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SELECT * FROM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;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DESCRIBE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;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SHOW TABLES;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SHOW GRANTS FOR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admdimdim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;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exit</a:t>
            </a:r>
            <a:endParaRPr lang="pt-BR" sz="1200">
              <a:solidFill>
                <a:srgbClr val="005F8E"/>
              </a:solidFill>
              <a:latin typeface="Calibri"/>
              <a:cs typeface="Calibri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95195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http://127.0.0.1:5000/</a:t>
            </a:r>
            <a:endParaRPr lang="pt-BR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64083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docker-compose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ps</a:t>
            </a:r>
            <a:endParaRPr lang="pt-BR" sz="1200">
              <a:solidFill>
                <a:srgbClr val="005F8E"/>
              </a:solidFill>
              <a:latin typeface="Calibri"/>
              <a:cs typeface="Calibri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docker-compose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logs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0621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network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ls</a:t>
            </a:r>
            <a:endParaRPr lang="pt-BR" sz="1200">
              <a:solidFill>
                <a:srgbClr val="005F8E"/>
              </a:solidFill>
              <a:latin typeface="Calibri"/>
              <a:cs typeface="Calibri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network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inspect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200" err="1">
                <a:solidFill>
                  <a:srgbClr val="FF3399"/>
                </a:solidFill>
                <a:latin typeface="Calibri"/>
                <a:cs typeface="Calibri"/>
              </a:rPr>
              <a:t>out_stock_outstock_network</a:t>
            </a:r>
            <a:endParaRPr lang="pt-BR" sz="1200">
              <a:solidFill>
                <a:srgbClr val="FF3399"/>
              </a:solidFill>
              <a:latin typeface="Calibri"/>
              <a:cs typeface="Calibri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63889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volume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ls</a:t>
            </a:r>
            <a:endParaRPr lang="pt-BR" sz="1200">
              <a:solidFill>
                <a:srgbClr val="005F8E"/>
              </a:solidFill>
              <a:latin typeface="Calibri"/>
              <a:cs typeface="Calibri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volume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inspect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200" err="1">
                <a:solidFill>
                  <a:srgbClr val="FF3399"/>
                </a:solidFill>
                <a:latin typeface="Calibri"/>
                <a:cs typeface="Calibri"/>
              </a:rPr>
              <a:t>out_stock_db_data</a:t>
            </a:r>
            <a:endParaRPr lang="pt-BR" sz="1200">
              <a:solidFill>
                <a:srgbClr val="FF3399"/>
              </a:solidFill>
              <a:latin typeface="Calibri"/>
              <a:cs typeface="Calibri"/>
            </a:endParaRPr>
          </a:p>
          <a:p>
            <a:endParaRPr lang="pt-BR" altLang="pt-BR" sz="1200">
              <a:solidFill>
                <a:srgbClr val="FF3399"/>
              </a:solidFill>
              <a:latin typeface="Calibri"/>
              <a:cs typeface="Calibri"/>
              <a:sym typeface="Arial" panose="020B0604020202020204" pitchFamily="34" charset="0"/>
            </a:endParaRPr>
          </a:p>
          <a:p>
            <a:endParaRPr lang="pt-BR" altLang="pt-BR" sz="1200">
              <a:solidFill>
                <a:srgbClr val="FF3399"/>
              </a:solidFill>
              <a:latin typeface="Calibri"/>
              <a:cs typeface="Calibri"/>
              <a:sym typeface="Arial" panose="020B0604020202020204" pitchFamily="34" charset="0"/>
            </a:endParaRPr>
          </a:p>
          <a:p>
            <a:endParaRPr lang="pt-BR" altLang="pt-BR" sz="1200">
              <a:solidFill>
                <a:srgbClr val="FF3399"/>
              </a:solidFill>
              <a:latin typeface="Calibri"/>
              <a:cs typeface="Calibri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95043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Windows: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Se for Docker Engine v20.10.16:</a:t>
            </a: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\\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wsl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$\docker-desktop-data\data\docker\volumes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Se for Docker Engine v19.03:</a:t>
            </a: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\\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wsl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$\docker-desktop-data\version-pack-data\community\docker\volumes\</a:t>
            </a:r>
          </a:p>
          <a:p>
            <a:endParaRPr lang="pt-BR" altLang="pt-BR" sz="1200" b="0">
              <a:solidFill>
                <a:srgbClr val="0070C0"/>
              </a:solidFill>
              <a:ea typeface="MS PGothic" panose="020B0600070205080204" pitchFamily="34" charset="-128"/>
            </a:endParaRPr>
          </a:p>
          <a:p>
            <a:endParaRPr lang="pt-BR" altLang="pt-BR" sz="1200" b="0">
              <a:solidFill>
                <a:srgbClr val="0070C0"/>
              </a:solidFill>
              <a:ea typeface="MS PGothic" panose="020B0600070205080204" pitchFamily="34" charset="-128"/>
            </a:endParaRPr>
          </a:p>
          <a:p>
            <a:endParaRPr lang="pt-BR" altLang="pt-BR" sz="1200" b="0">
              <a:solidFill>
                <a:srgbClr val="0070C0"/>
              </a:solidFill>
              <a:ea typeface="MS PGothic" panose="020B0600070205080204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*** ATENÇÃO ***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No Mac o Docker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roda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em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ema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pequena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máquina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Virtual,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então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para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acessar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o /var/lib/docker/volumes rode: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nc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-U ~/Library/Containers/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com.docker.docker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/Data/debug-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shell.sock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ou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screen ~/Library/Containers/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com.docker.docker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/Data/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vms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/0/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tty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Depende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da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Versão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do Docker e Mac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>
              <a:solidFill>
                <a:schemeClr val="tx1"/>
              </a:solidFill>
              <a:effectLst/>
              <a:latin typeface="Book Antiqua" pitchFamily="18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43769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exec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200">
                <a:solidFill>
                  <a:srgbClr val="AF43C6"/>
                </a:solidFill>
                <a:latin typeface="Calibri"/>
                <a:cs typeface="Calibri"/>
              </a:rPr>
              <a:t>-it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200" err="1">
                <a:solidFill>
                  <a:srgbClr val="FF3399"/>
                </a:solidFill>
                <a:latin typeface="Calibri"/>
                <a:cs typeface="Calibri"/>
              </a:rPr>
              <a:t>db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mysql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-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u</a:t>
            </a:r>
            <a:r>
              <a:rPr lang="pt-BR" sz="1200" err="1">
                <a:solidFill>
                  <a:srgbClr val="FF3399"/>
                </a:solidFill>
                <a:latin typeface="Calibri"/>
                <a:cs typeface="Calibri"/>
              </a:rPr>
              <a:t>admdimdim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-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p</a:t>
            </a:r>
            <a:endParaRPr lang="pt-BR" sz="1200">
              <a:solidFill>
                <a:srgbClr val="005F8E"/>
              </a:solidFill>
              <a:latin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altLang="pt-BR" sz="1200">
              <a:solidFill>
                <a:srgbClr val="005F8E"/>
              </a:solidFill>
              <a:latin typeface="Calibri"/>
              <a:cs typeface="Calibri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show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databases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;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use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;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SELECT * FROM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altLang="pt-BR" sz="1200">
              <a:solidFill>
                <a:srgbClr val="005F8E"/>
              </a:solidFill>
              <a:latin typeface="Calibri"/>
              <a:cs typeface="Calibri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docker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exec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200">
                <a:solidFill>
                  <a:srgbClr val="AF43C6"/>
                </a:solidFill>
                <a:latin typeface="Calibri"/>
                <a:cs typeface="Calibri"/>
              </a:rPr>
              <a:t>-it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200" err="1">
                <a:solidFill>
                  <a:srgbClr val="FF3399"/>
                </a:solidFill>
                <a:latin typeface="Calibri"/>
                <a:cs typeface="Calibri"/>
              </a:rPr>
              <a:t>outstock</a:t>
            </a:r>
            <a:r>
              <a:rPr lang="pt-BR" sz="1200">
                <a:solidFill>
                  <a:srgbClr val="FF3399"/>
                </a:solidFill>
                <a:latin typeface="Calibri"/>
                <a:cs typeface="Calibri"/>
              </a:rPr>
              <a:t> </a:t>
            </a:r>
            <a:r>
              <a:rPr lang="pt-BR" sz="1200">
                <a:solidFill>
                  <a:srgbClr val="00B050"/>
                </a:solidFill>
                <a:latin typeface="Calibri"/>
                <a:cs typeface="Calibri"/>
              </a:rPr>
              <a:t>/bin/</a:t>
            </a:r>
            <a:r>
              <a:rPr lang="pt-BR" sz="1200" err="1">
                <a:solidFill>
                  <a:srgbClr val="00B050"/>
                </a:solidFill>
                <a:latin typeface="Calibri"/>
                <a:cs typeface="Calibri"/>
              </a:rPr>
              <a:t>bash</a:t>
            </a:r>
            <a:endParaRPr lang="pt-BR" sz="1200">
              <a:solidFill>
                <a:srgbClr val="00B050"/>
              </a:solidFill>
              <a:latin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cat</a:t>
            </a:r>
            <a:r>
              <a:rPr lang="pt-BR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/</a:t>
            </a:r>
            <a:r>
              <a:rPr lang="pt-BR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etc</a:t>
            </a:r>
            <a:r>
              <a:rPr lang="pt-BR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/os-release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26851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Select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:</a:t>
            </a:r>
          </a:p>
          <a:p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curl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http://localhost:5000/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endParaRPr lang="pt-BR" sz="1200">
              <a:solidFill>
                <a:srgbClr val="005F8E"/>
              </a:solidFill>
              <a:latin typeface="Calibri"/>
              <a:cs typeface="Calibri"/>
            </a:endParaRPr>
          </a:p>
          <a:p>
            <a:endParaRPr lang="pt-BR" sz="1200">
              <a:solidFill>
                <a:srgbClr val="005F8E"/>
              </a:solidFill>
              <a:latin typeface="Calibri"/>
              <a:cs typeface="Calibri"/>
            </a:endParaRPr>
          </a:p>
          <a:p>
            <a:r>
              <a:rPr lang="pt-BR" sz="3200" err="1">
                <a:solidFill>
                  <a:srgbClr val="005F8E"/>
                </a:solidFill>
                <a:latin typeface="Calibri"/>
                <a:cs typeface="Calibri"/>
              </a:rPr>
              <a:t>Insert</a:t>
            </a:r>
            <a:r>
              <a:rPr lang="pt-BR" sz="3200">
                <a:solidFill>
                  <a:srgbClr val="005F8E"/>
                </a:solidFill>
                <a:latin typeface="Calibri"/>
                <a:cs typeface="Calibri"/>
              </a:rPr>
              <a:t>:</a:t>
            </a:r>
          </a:p>
          <a:p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curl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-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X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POST -H 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Content-Type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: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application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json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 -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'{"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codigo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": "001", 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descricao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": "Produto 1", 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data_solicitacao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": "2022-03-10"}' http://localhost:5000/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endParaRPr lang="pt-BR" sz="1200">
              <a:solidFill>
                <a:srgbClr val="005F8E"/>
              </a:solidFill>
              <a:latin typeface="Calibri"/>
              <a:cs typeface="Calibri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curl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-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X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POST -H 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Content-Type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: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application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json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 -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'{"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codigo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": "002", 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descricao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": "Produto 2", 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data_solicitacao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": "2022-03-10"}' http://localhost:5000/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endParaRPr lang="pt-BR" sz="1200">
              <a:solidFill>
                <a:srgbClr val="005F8E"/>
              </a:solidFill>
              <a:latin typeface="Calibri"/>
              <a:cs typeface="Calibri"/>
            </a:endParaRPr>
          </a:p>
          <a:p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curl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-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X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POST -H 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Content-Type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: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application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json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 -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'{"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codigo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": "003", 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descricao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": "Produto 3", 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data_solicitacao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": "2022-03-10"}' http://localhost:5000/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endParaRPr lang="pt-BR" sz="1200">
              <a:solidFill>
                <a:srgbClr val="005F8E"/>
              </a:solidFill>
              <a:latin typeface="Calibri"/>
              <a:cs typeface="Calibri"/>
            </a:endParaRPr>
          </a:p>
          <a:p>
            <a:endParaRPr lang="pt-BR" sz="1200">
              <a:solidFill>
                <a:srgbClr val="005F8E"/>
              </a:solidFill>
              <a:latin typeface="Calibri"/>
              <a:cs typeface="Calibri"/>
            </a:endParaRPr>
          </a:p>
          <a:p>
            <a:r>
              <a:rPr lang="pt-BR" sz="3200">
                <a:solidFill>
                  <a:srgbClr val="005F8E"/>
                </a:solidFill>
                <a:latin typeface="Calibri"/>
                <a:cs typeface="Calibri"/>
              </a:rPr>
              <a:t>Update:</a:t>
            </a:r>
          </a:p>
          <a:p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curl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-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X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PUT -H 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Content-Type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: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application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json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 -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'{"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codigo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": "001", 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descricao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": "Produto 1 atualizado", 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data_solicitacao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": "2022-03-09"}' http://localhost:5000/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1200">
                <a:solidFill>
                  <a:srgbClr val="FF3399"/>
                </a:solidFill>
                <a:latin typeface="Calibri"/>
                <a:cs typeface="Calibri"/>
              </a:rPr>
              <a:t>1</a:t>
            </a:r>
          </a:p>
          <a:p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curl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-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X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PUT -H 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Content-Type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: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application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json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 -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'{"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codigo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": "001", 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descricao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": "Produto dois", "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data_solicitacao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": "2022-03-10"}' http://localhost:5000/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1200">
                <a:solidFill>
                  <a:srgbClr val="FF3399"/>
                </a:solidFill>
                <a:latin typeface="Calibri"/>
                <a:cs typeface="Calibri"/>
              </a:rPr>
              <a:t>2</a:t>
            </a:r>
          </a:p>
          <a:p>
            <a:endParaRPr lang="pt-BR" sz="1200">
              <a:solidFill>
                <a:srgbClr val="FF3399"/>
              </a:solidFill>
              <a:latin typeface="Calibri"/>
              <a:cs typeface="Calibri"/>
            </a:endParaRPr>
          </a:p>
          <a:p>
            <a:endParaRPr lang="pt-BR" sz="1200">
              <a:solidFill>
                <a:srgbClr val="FF3399"/>
              </a:solidFill>
              <a:latin typeface="Calibri"/>
              <a:cs typeface="Calibri"/>
            </a:endParaRPr>
          </a:p>
          <a:p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Delete:</a:t>
            </a:r>
          </a:p>
          <a:p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curl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-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X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DELETE http://localhost:5000/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1200">
                <a:solidFill>
                  <a:srgbClr val="FF3399"/>
                </a:solidFill>
                <a:latin typeface="Calibri"/>
                <a:cs typeface="Calibri"/>
              </a:rPr>
              <a:t>003</a:t>
            </a:r>
          </a:p>
          <a:p>
            <a:endParaRPr lang="pt-BR" sz="1200">
              <a:solidFill>
                <a:srgbClr val="005F8E"/>
              </a:solidFill>
              <a:latin typeface="Calibri"/>
              <a:cs typeface="Calibri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7574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sz="1200">
                <a:latin typeface="Calibri" panose="020F0502020204030204" pitchFamily="34" charset="0"/>
                <a:cs typeface="Calibri" panose="020F0502020204030204" pitchFamily="34" charset="0"/>
              </a:rPr>
              <a:t>http://localhost:5000/</a:t>
            </a:r>
            <a:r>
              <a:rPr lang="pt-BR" sz="1200" err="1">
                <a:latin typeface="Calibri" panose="020F0502020204030204" pitchFamily="34" charset="0"/>
                <a:cs typeface="Calibri" panose="020F0502020204030204" pitchFamily="34" charset="0"/>
              </a:rPr>
              <a:t>out_stock</a:t>
            </a:r>
            <a:endParaRPr lang="pt-BR" sz="1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78279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sz="1200">
                <a:latin typeface="Calibri" panose="020F0502020204030204" pitchFamily="34" charset="0"/>
                <a:cs typeface="Calibri" panose="020F0502020204030204" pitchFamily="34" charset="0"/>
              </a:rPr>
              <a:t>http://localhost:5000/</a:t>
            </a:r>
            <a:r>
              <a:rPr lang="pt-BR" sz="1200" err="1">
                <a:latin typeface="Calibri" panose="020F0502020204030204" pitchFamily="34" charset="0"/>
                <a:cs typeface="Calibri" panose="020F0502020204030204" pitchFamily="34" charset="0"/>
              </a:rPr>
              <a:t>out_stock</a:t>
            </a:r>
            <a:endParaRPr lang="pt-BR" sz="1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56286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sz="1200">
                <a:latin typeface="Calibri" panose="020F0502020204030204" pitchFamily="34" charset="0"/>
                <a:cs typeface="Calibri" panose="020F0502020204030204" pitchFamily="34" charset="0"/>
              </a:rPr>
              <a:t>http://localhost:5000/</a:t>
            </a:r>
            <a:r>
              <a:rPr lang="pt-BR" sz="1200" err="1">
                <a:latin typeface="Calibri" panose="020F0502020204030204" pitchFamily="34" charset="0"/>
                <a:cs typeface="Calibri" panose="020F0502020204030204" pitchFamily="34" charset="0"/>
              </a:rPr>
              <a:t>out_stock</a:t>
            </a:r>
            <a:endParaRPr lang="pt-BR" sz="1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{"</a:t>
            </a:r>
            <a:r>
              <a:rPr lang="pt-BR" sz="1200" b="0" err="1">
                <a:latin typeface="Courier New" panose="02070309020205020404" pitchFamily="49" charset="0"/>
                <a:cs typeface="Courier New" panose="02070309020205020404" pitchFamily="49" charset="0"/>
              </a:rPr>
              <a:t>codigo</a:t>
            </a:r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": "001", "</a:t>
            </a:r>
            <a:r>
              <a:rPr lang="pt-BR" sz="1200" b="0" err="1">
                <a:latin typeface="Courier New" panose="02070309020205020404" pitchFamily="49" charset="0"/>
                <a:cs typeface="Courier New" panose="02070309020205020404" pitchFamily="49" charset="0"/>
              </a:rPr>
              <a:t>descricao</a:t>
            </a:r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": "Produto 1", "</a:t>
            </a:r>
            <a:r>
              <a:rPr lang="pt-BR" sz="1200" b="0" err="1">
                <a:latin typeface="Courier New" panose="02070309020205020404" pitchFamily="49" charset="0"/>
                <a:cs typeface="Courier New" panose="02070309020205020404" pitchFamily="49" charset="0"/>
              </a:rPr>
              <a:t>data_solicitacao</a:t>
            </a:r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": "2022-03-10"}</a:t>
            </a:r>
          </a:p>
          <a:p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{"</a:t>
            </a:r>
            <a:r>
              <a:rPr lang="pt-BR" sz="1200" b="0" err="1">
                <a:latin typeface="Courier New" panose="02070309020205020404" pitchFamily="49" charset="0"/>
                <a:cs typeface="Courier New" panose="02070309020205020404" pitchFamily="49" charset="0"/>
              </a:rPr>
              <a:t>codigo</a:t>
            </a:r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": "002", "</a:t>
            </a:r>
            <a:r>
              <a:rPr lang="pt-BR" sz="1200" b="0" err="1">
                <a:latin typeface="Courier New" panose="02070309020205020404" pitchFamily="49" charset="0"/>
                <a:cs typeface="Courier New" panose="02070309020205020404" pitchFamily="49" charset="0"/>
              </a:rPr>
              <a:t>descricao</a:t>
            </a:r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": "Produto 2", "</a:t>
            </a:r>
            <a:r>
              <a:rPr lang="pt-BR" sz="1200" b="0" err="1">
                <a:latin typeface="Courier New" panose="02070309020205020404" pitchFamily="49" charset="0"/>
                <a:cs typeface="Courier New" panose="02070309020205020404" pitchFamily="49" charset="0"/>
              </a:rPr>
              <a:t>data_solicitacao</a:t>
            </a:r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": "2022-03-10"}</a:t>
            </a:r>
          </a:p>
          <a:p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{"</a:t>
            </a:r>
            <a:r>
              <a:rPr lang="pt-BR" sz="1200" b="0" err="1">
                <a:latin typeface="Courier New" panose="02070309020205020404" pitchFamily="49" charset="0"/>
                <a:cs typeface="Courier New" panose="02070309020205020404" pitchFamily="49" charset="0"/>
              </a:rPr>
              <a:t>codigo</a:t>
            </a:r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": "003", "</a:t>
            </a:r>
            <a:r>
              <a:rPr lang="pt-BR" sz="1200" b="0" err="1">
                <a:latin typeface="Courier New" panose="02070309020205020404" pitchFamily="49" charset="0"/>
                <a:cs typeface="Courier New" panose="02070309020205020404" pitchFamily="49" charset="0"/>
              </a:rPr>
              <a:t>descricao</a:t>
            </a:r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": "Produto 3", "</a:t>
            </a:r>
            <a:r>
              <a:rPr lang="pt-BR" sz="1200" b="0" err="1">
                <a:latin typeface="Courier New" panose="02070309020205020404" pitchFamily="49" charset="0"/>
                <a:cs typeface="Courier New" panose="02070309020205020404" pitchFamily="49" charset="0"/>
              </a:rPr>
              <a:t>data_solicitacao</a:t>
            </a:r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": "2022-03-10"}</a:t>
            </a:r>
            <a:endParaRPr lang="en-US" sz="1200" b="0">
              <a:latin typeface="Courier New" panose="020703090202050204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49198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sz="1200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endParaRPr lang="pt-BR" sz="1200" b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http://localhost:5000/</a:t>
            </a:r>
            <a:r>
              <a:rPr lang="pt-BR" sz="1200" b="0" err="1">
                <a:latin typeface="Courier New" panose="02070309020205020404" pitchFamily="49" charset="0"/>
                <a:cs typeface="Courier New" panose="02070309020205020404" pitchFamily="49" charset="0"/>
              </a:rPr>
              <a:t>out_stock</a:t>
            </a:r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/1</a:t>
            </a:r>
          </a:p>
          <a:p>
            <a:endParaRPr lang="pt-BR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200">
                <a:latin typeface="Courier New" panose="02070309020205020404" pitchFamily="49" charset="0"/>
                <a:cs typeface="Courier New" panose="02070309020205020404" pitchFamily="49" charset="0"/>
              </a:rPr>
              <a:t>Linha</a:t>
            </a:r>
            <a:endParaRPr lang="pt-BR" sz="1200" b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{"</a:t>
            </a:r>
            <a:r>
              <a:rPr lang="pt-BR" sz="1200" b="0" err="1">
                <a:latin typeface="Courier New" panose="02070309020205020404" pitchFamily="49" charset="0"/>
                <a:cs typeface="Courier New" panose="02070309020205020404" pitchFamily="49" charset="0"/>
              </a:rPr>
              <a:t>codigo</a:t>
            </a:r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": "001", "</a:t>
            </a:r>
            <a:r>
              <a:rPr lang="pt-BR" sz="1200" b="0" err="1">
                <a:latin typeface="Courier New" panose="02070309020205020404" pitchFamily="49" charset="0"/>
                <a:cs typeface="Courier New" panose="02070309020205020404" pitchFamily="49" charset="0"/>
              </a:rPr>
              <a:t>descricao</a:t>
            </a:r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": "Produto 1 atualizado", "</a:t>
            </a:r>
            <a:r>
              <a:rPr lang="pt-BR" sz="1200" b="0" err="1">
                <a:latin typeface="Courier New" panose="02070309020205020404" pitchFamily="49" charset="0"/>
                <a:cs typeface="Courier New" panose="02070309020205020404" pitchFamily="49" charset="0"/>
              </a:rPr>
              <a:t>data_solicitacao</a:t>
            </a:r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": "2022-03-09"}</a:t>
            </a:r>
          </a:p>
          <a:p>
            <a:endParaRPr lang="pt-BR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200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endParaRPr lang="pt-BR" sz="1200" b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http://localhost:5000/</a:t>
            </a:r>
            <a:r>
              <a:rPr lang="pt-BR" sz="1200" b="0" err="1">
                <a:latin typeface="Courier New" panose="02070309020205020404" pitchFamily="49" charset="0"/>
                <a:cs typeface="Courier New" panose="02070309020205020404" pitchFamily="49" charset="0"/>
              </a:rPr>
              <a:t>out_stock</a:t>
            </a:r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/2</a:t>
            </a:r>
          </a:p>
          <a:p>
            <a:endParaRPr lang="pt-BR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200">
                <a:latin typeface="Courier New" panose="02070309020205020404" pitchFamily="49" charset="0"/>
                <a:cs typeface="Courier New" panose="02070309020205020404" pitchFamily="49" charset="0"/>
              </a:rPr>
              <a:t>Linha</a:t>
            </a:r>
            <a:endParaRPr lang="pt-BR" sz="1200" b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{"</a:t>
            </a:r>
            <a:r>
              <a:rPr lang="pt-BR" sz="1200" b="0" err="1">
                <a:latin typeface="Courier New" panose="02070309020205020404" pitchFamily="49" charset="0"/>
                <a:cs typeface="Courier New" panose="02070309020205020404" pitchFamily="49" charset="0"/>
              </a:rPr>
              <a:t>codigo</a:t>
            </a:r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": "002", "</a:t>
            </a:r>
            <a:r>
              <a:rPr lang="pt-BR" sz="1200" b="0" err="1">
                <a:latin typeface="Courier New" panose="02070309020205020404" pitchFamily="49" charset="0"/>
                <a:cs typeface="Courier New" panose="02070309020205020404" pitchFamily="49" charset="0"/>
              </a:rPr>
              <a:t>descricao</a:t>
            </a:r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": "Produto dois", "</a:t>
            </a:r>
            <a:r>
              <a:rPr lang="pt-BR" sz="1200" b="0" err="1">
                <a:latin typeface="Courier New" panose="02070309020205020404" pitchFamily="49" charset="0"/>
                <a:cs typeface="Courier New" panose="02070309020205020404" pitchFamily="49" charset="0"/>
              </a:rPr>
              <a:t>data_solicitacao</a:t>
            </a:r>
            <a:r>
              <a:rPr lang="pt-BR" sz="1200" b="0">
                <a:latin typeface="Courier New" panose="02070309020205020404" pitchFamily="49" charset="0"/>
                <a:cs typeface="Courier New" panose="02070309020205020404" pitchFamily="49" charset="0"/>
              </a:rPr>
              <a:t>": "2022-03-10"}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72488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http://localhost:5000/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1200">
                <a:solidFill>
                  <a:srgbClr val="FF3399"/>
                </a:solidFill>
                <a:latin typeface="Calibri"/>
                <a:cs typeface="Calibri"/>
              </a:rPr>
              <a:t>3</a:t>
            </a: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25701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47080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15280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docker-compose</a:t>
            </a:r>
            <a:r>
              <a:rPr lang="pt-BR" sz="12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200" err="1">
                <a:solidFill>
                  <a:srgbClr val="005F8E"/>
                </a:solidFill>
                <a:latin typeface="Calibri"/>
                <a:cs typeface="Calibri"/>
              </a:rPr>
              <a:t>down</a:t>
            </a:r>
            <a:endParaRPr lang="pt-BR" sz="1200">
              <a:solidFill>
                <a:srgbClr val="005F8E"/>
              </a:solidFill>
              <a:latin typeface="Calibri"/>
              <a:cs typeface="Calibri"/>
            </a:endParaRPr>
          </a:p>
          <a:p>
            <a:endParaRPr lang="pt-BR" altLang="pt-BR" sz="1200">
              <a:solidFill>
                <a:srgbClr val="005F8E"/>
              </a:solidFill>
              <a:latin typeface="Calibri"/>
              <a:cs typeface="Calibri"/>
              <a:sym typeface="Arial" panose="020B0604020202020204" pitchFamily="34" charset="0"/>
            </a:endParaRPr>
          </a:p>
          <a:p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system </a:t>
            </a:r>
            <a:r>
              <a:rPr lang="pt-BR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prune</a:t>
            </a:r>
            <a:r>
              <a:rPr lang="pt-BR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b="1" i="0">
                <a:solidFill>
                  <a:srgbClr val="FF3399"/>
                </a:solidFill>
                <a:effectLst/>
                <a:latin typeface="Trebuchet MS" panose="020B0703020202090204" pitchFamily="34" charset="0"/>
              </a:rPr>
              <a:t>-a</a:t>
            </a:r>
            <a:r>
              <a:rPr lang="pt-BR" b="1" i="0">
                <a:solidFill>
                  <a:srgbClr val="800080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pt-BR" b="1" i="0">
                <a:solidFill>
                  <a:srgbClr val="FF0066"/>
                </a:solidFill>
                <a:effectLst/>
                <a:latin typeface="Trebuchet MS" panose="020B0703020202090204" pitchFamily="34" charset="0"/>
              </a:rPr>
              <a:t>-</a:t>
            </a:r>
            <a:r>
              <a:rPr lang="pt-BR" b="1" i="0" err="1">
                <a:solidFill>
                  <a:srgbClr val="FF0066"/>
                </a:solidFill>
                <a:effectLst/>
                <a:latin typeface="Trebuchet MS" panose="020B0703020202090204" pitchFamily="34" charset="0"/>
              </a:rPr>
              <a:t>f</a:t>
            </a:r>
            <a:r>
              <a:rPr lang="pt-BR" b="1" i="0">
                <a:solidFill>
                  <a:srgbClr val="800080"/>
                </a:solidFill>
                <a:effectLst/>
                <a:latin typeface="Trebuchet MS" panose="020B0703020202090204" pitchFamily="34" charset="0"/>
              </a:rPr>
              <a:t> --volumes</a:t>
            </a:r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40013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C6CD5E-26BD-9B45-BB2F-78648736C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7924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6804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2566" y="188640"/>
            <a:ext cx="7200652" cy="76358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14610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4102249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7200652" cy="76358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79388" y="1050925"/>
            <a:ext cx="4316412" cy="5473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050925"/>
            <a:ext cx="4316413" cy="5473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15557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139136" cy="562074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730567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22779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509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762843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85105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683527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24650" y="0"/>
            <a:ext cx="2239963" cy="65246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572250" cy="65246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337519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844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684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554C5-5150-4BBF-B454-C1F22B72D550}" type="datetime1">
              <a:rPr lang="pt-BR" smtClean="0"/>
              <a:t>07/05/2026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17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72C6D-EF36-4C6C-AA85-9C166CEC2DBF}" type="datetime1">
              <a:rPr lang="pt-BR" smtClean="0"/>
              <a:t>07/05/2026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7171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5943-389E-4FCC-84A8-9BB774E35C56}" type="datetime1">
              <a:rPr lang="pt-BR" smtClean="0"/>
              <a:t>07/05/2026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49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5E0B4-2F75-4527-83A5-99D6BAD95220}" type="datetime1">
              <a:rPr lang="pt-BR" smtClean="0"/>
              <a:t>07/05/2026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1078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B78A-A785-4587-B91A-C3928AA29A4E}" type="datetime1">
              <a:rPr lang="pt-BR" smtClean="0"/>
              <a:t>07/05/2026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29532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933BB-F2E8-4EA1-B3C8-EF323B1F3AF5}" type="datetime1">
              <a:rPr lang="pt-BR" smtClean="0"/>
              <a:t>07/05/2026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53500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682B4-9FE5-4CA5-9D91-EBF51BCBB20C}" type="datetime1">
              <a:rPr lang="pt-BR" smtClean="0"/>
              <a:t>07/05/2026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743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0DF1-1405-48B3-820A-9D8870880930}" type="datetime1">
              <a:rPr lang="pt-BR" smtClean="0"/>
              <a:t>07/05/2026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8574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D0901-4804-4607-9EA1-783A1898B8C5}" type="datetime1">
              <a:rPr lang="pt-BR" smtClean="0"/>
              <a:t>07/05/2026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6505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0C8C3-5E43-480A-8C8A-872C52A1AD4C}" type="datetime1">
              <a:rPr lang="pt-BR" smtClean="0"/>
              <a:t>07/05/2026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6282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CEE30-F5B7-4997-801C-E787E0F7A72E}" type="datetime1">
              <a:rPr lang="pt-BR" smtClean="0"/>
              <a:t>07/05/2026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5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1706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 userDrawn="1"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53C5324-E7B2-4328-ABFA-3EE39506D70D}" type="slidenum">
              <a:rPr lang="en-US" sz="1200" smtClean="0">
                <a:solidFill>
                  <a:schemeClr val="bg1"/>
                </a:solidFill>
                <a:latin typeface="Gotham-Bold"/>
                <a:cs typeface="Gotham-Bold"/>
              </a:rPr>
              <a:t>‹nº›</a:t>
            </a:fld>
            <a:endParaRPr lang="en-US" sz="1200">
              <a:solidFill>
                <a:schemeClr val="bg1"/>
              </a:solidFill>
              <a:latin typeface="Gotham-Bold"/>
              <a:cs typeface="Gotham-Bold"/>
            </a:endParaRP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3280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1053372" y="3222882"/>
            <a:ext cx="8107976" cy="40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Wingdings" charset="2"/>
              <a:buNone/>
              <a:tabLst/>
              <a:defRPr kumimoji="1" lang="en-US" sz="1600" kern="1200" dirty="0" smtClean="0">
                <a:solidFill>
                  <a:schemeClr val="bg1"/>
                </a:solidFill>
                <a:latin typeface="Gotham-Bold"/>
                <a:ea typeface="+mn-ea"/>
                <a:cs typeface="Gotham-Bold"/>
              </a:defRPr>
            </a:lvl1pPr>
            <a:lvl2pPr>
              <a:defRPr lang="x-none" sz="1800" smtClean="0"/>
            </a:lvl2pPr>
            <a:lvl3pPr>
              <a:defRPr lang="x-none" sz="1800" smtClean="0"/>
            </a:lvl3pPr>
            <a:lvl4pPr>
              <a:defRPr lang="x-none" sz="1800" smtClean="0"/>
            </a:lvl4pPr>
            <a:lvl5pPr>
              <a:defRPr lang="en-US" sz="1800" dirty="0"/>
            </a:lvl5pPr>
          </a:lstStyle>
          <a:p>
            <a:pPr>
              <a:defRPr/>
            </a:pPr>
            <a:r>
              <a:rPr kumimoji="1" lang="en-US" sz="2000">
                <a:solidFill>
                  <a:schemeClr val="bg1"/>
                </a:solidFill>
                <a:latin typeface="Gotham-Bold"/>
                <a:cs typeface="Gotham-Bold"/>
              </a:rPr>
              <a:t>Copyright © 2015  Prof. Jorge </a:t>
            </a:r>
            <a:r>
              <a:rPr kumimoji="1" lang="en-US" sz="2000" err="1">
                <a:solidFill>
                  <a:schemeClr val="bg1"/>
                </a:solidFill>
                <a:latin typeface="Gotham-Bold"/>
                <a:cs typeface="Gotham-Bold"/>
              </a:rPr>
              <a:t>Surian</a:t>
            </a:r>
            <a:endParaRPr lang="x-none"/>
          </a:p>
        </p:txBody>
      </p:sp>
      <p:sp>
        <p:nvSpPr>
          <p:cNvPr id="14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1053372" y="3773418"/>
            <a:ext cx="6694934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Wingdings" charset="2"/>
              <a:buNone/>
              <a:tabLst/>
              <a:defRPr kumimoji="1" lang="en-US" sz="1600" kern="1200" dirty="0">
                <a:solidFill>
                  <a:schemeClr val="bg1"/>
                </a:solidFill>
                <a:latin typeface="Gotham-Book"/>
                <a:ea typeface="+mn-ea"/>
                <a:cs typeface="Gotham-Book"/>
              </a:defRPr>
            </a:lvl1pPr>
            <a:lvl2pPr>
              <a:defRPr lang="x-none" sz="1800" smtClean="0"/>
            </a:lvl2pPr>
            <a:lvl3pPr>
              <a:defRPr lang="x-none" sz="1800" smtClean="0"/>
            </a:lvl3pPr>
            <a:lvl4pPr>
              <a:defRPr lang="x-none" sz="1800" smtClean="0"/>
            </a:lvl4pPr>
            <a:lvl5pPr>
              <a:defRPr lang="en-US" sz="1800" dirty="0"/>
            </a:lvl5pPr>
          </a:lstStyle>
          <a:p>
            <a:pPr>
              <a:lnSpc>
                <a:spcPct val="110000"/>
              </a:lnSpc>
              <a:defRPr/>
            </a:pP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252627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142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 userDrawn="1"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53C5324-E7B2-4328-ABFA-3EE39506D70D}" type="slidenum">
              <a:rPr lang="en-US" sz="1200" smtClean="0">
                <a:solidFill>
                  <a:schemeClr val="bg1"/>
                </a:solidFill>
                <a:latin typeface="Gotham-Bold"/>
                <a:cs typeface="Gotham-Bold"/>
              </a:rPr>
              <a:t>‹nº›</a:t>
            </a:fld>
            <a:endParaRPr lang="en-US" sz="1200">
              <a:solidFill>
                <a:schemeClr val="bg1"/>
              </a:solidFill>
              <a:latin typeface="Gotham-Bold"/>
              <a:cs typeface="Gotham-Bold"/>
            </a:endParaRP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0987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 userDrawn="1"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53C5324-E7B2-4328-ABFA-3EE39506D70D}" type="slidenum">
              <a:rPr lang="en-US" sz="1200" smtClean="0">
                <a:solidFill>
                  <a:schemeClr val="bg1"/>
                </a:solidFill>
                <a:latin typeface="Gotham-Bold"/>
                <a:cs typeface="Gotham-Bold"/>
              </a:rPr>
              <a:t>‹nº›</a:t>
            </a:fld>
            <a:endParaRPr lang="en-US" sz="1200">
              <a:solidFill>
                <a:schemeClr val="bg1"/>
              </a:solidFill>
              <a:latin typeface="Gotham-Bold"/>
              <a:cs typeface="Gotham-Bold"/>
            </a:endParaRP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789680" y="465328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>
                <a:solidFill>
                  <a:srgbClr val="303030"/>
                </a:solidFill>
                <a:latin typeface="Gotham-Bold"/>
                <a:cs typeface="Gotham-Bold"/>
              </a:rPr>
              <a:t>SHORT </a:t>
            </a:r>
            <a:r>
              <a:rPr lang="en-US" sz="2800">
                <a:solidFill>
                  <a:srgbClr val="303030"/>
                </a:solidFill>
                <a:latin typeface="Gotham-Book"/>
                <a:cs typeface="Gotham-Book"/>
              </a:rPr>
              <a:t>BIO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3"/>
          <a:srcRect r="11217"/>
          <a:stretch/>
        </p:blipFill>
        <p:spPr>
          <a:xfrm>
            <a:off x="765379" y="1755983"/>
            <a:ext cx="3024301" cy="4093388"/>
          </a:xfrm>
          <a:prstGeom prst="rect">
            <a:avLst/>
          </a:prstGeom>
        </p:spPr>
      </p:pic>
      <p:sp>
        <p:nvSpPr>
          <p:cNvPr id="12" name="Isosceles Triangle 11"/>
          <p:cNvSpPr/>
          <p:nvPr userDrawn="1"/>
        </p:nvSpPr>
        <p:spPr>
          <a:xfrm rot="16200000">
            <a:off x="3489444" y="4913820"/>
            <a:ext cx="336316" cy="264160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130483" y="1674703"/>
            <a:ext cx="4222487" cy="2540000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Arial"/>
              <a:buNone/>
              <a:tabLst/>
              <a:defRPr lang="en-US" sz="1600" kern="1200" dirty="0">
                <a:solidFill>
                  <a:srgbClr val="303030"/>
                </a:solidFill>
                <a:latin typeface="Gotham-Book"/>
                <a:ea typeface="+mn-ea"/>
                <a:cs typeface="Gotham-Boo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lnSpc>
                <a:spcPct val="110000"/>
              </a:lnSpc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Lorem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ipsum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dolor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consectetur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adipiscing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elit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Fusce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dapibus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quam,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fermentum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elit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rhoncus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nec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Quisque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ac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aliquet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velit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maximus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felis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Quisque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id ante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massa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sollicitudin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eleifend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Fusce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at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massa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vehicula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finibus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risus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viverra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massa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Donec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lobortis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quam in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dignissim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euismod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eros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erat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4177275" y="4865041"/>
            <a:ext cx="3651742" cy="349677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Arial"/>
              <a:buNone/>
              <a:tabLst/>
              <a:defRPr lang="en-US" sz="2000" kern="1200" cap="all" baseline="0" dirty="0">
                <a:solidFill>
                  <a:schemeClr val="bg1"/>
                </a:solidFill>
                <a:latin typeface="Gotham-Bold"/>
                <a:ea typeface="+mn-ea"/>
                <a:cs typeface="Gotham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lnSpc>
                <a:spcPct val="110000"/>
              </a:lnSpc>
            </a:pP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PROF. LEANDO RUBIM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4176945" y="5252143"/>
            <a:ext cx="2621426" cy="349677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Arial"/>
              <a:buNone/>
              <a:tabLst/>
              <a:defRPr lang="en-US" sz="1800" kern="1200" dirty="0">
                <a:solidFill>
                  <a:srgbClr val="FFFFFF"/>
                </a:solidFill>
                <a:latin typeface="Gotham-Bold"/>
                <a:ea typeface="+mn-ea"/>
                <a:cs typeface="Gotham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lnSpc>
                <a:spcPct val="110000"/>
              </a:lnSpc>
            </a:pP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leandro@fiap.com.br</a:t>
            </a:r>
          </a:p>
        </p:txBody>
      </p:sp>
    </p:spTree>
    <p:extLst>
      <p:ext uri="{BB962C8B-B14F-4D97-AF65-F5344CB8AC3E}">
        <p14:creationId xmlns:p14="http://schemas.microsoft.com/office/powerpoint/2010/main" val="8968991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53C5324-E7B2-4328-ABFA-3EE39506D70D}" type="slidenum">
              <a:rPr lang="en-US" sz="1200" smtClean="0">
                <a:solidFill>
                  <a:schemeClr val="bg1"/>
                </a:solidFill>
                <a:latin typeface="Gotham-Bold"/>
                <a:cs typeface="Gotham-Bold"/>
              </a:rPr>
              <a:t>‹nº›</a:t>
            </a:fld>
            <a:endParaRPr lang="en-US" sz="1200">
              <a:solidFill>
                <a:schemeClr val="bg1"/>
              </a:solidFill>
              <a:latin typeface="Gotham-Bold"/>
              <a:cs typeface="Gotham-Bold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765379" y="7924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947124" y="694653"/>
            <a:ext cx="819687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defRPr lang="en-US" sz="2800" cap="all" baseline="0" dirty="0">
                <a:solidFill>
                  <a:srgbClr val="303030"/>
                </a:solidFill>
                <a:latin typeface="Gotham-Bold"/>
                <a:ea typeface="+mn-ea"/>
                <a:cs typeface="Gotham-Bold"/>
              </a:defRPr>
            </a:lvl1pPr>
          </a:lstStyle>
          <a:p>
            <a:pPr marL="0" lvl="0" algn="l" defTabSz="914400">
              <a:lnSpc>
                <a:spcPct val="90000"/>
              </a:lnSpc>
            </a:pPr>
            <a:r>
              <a:rPr lang="pt-BR"/>
              <a:t>Conteúdo do curso</a:t>
            </a:r>
            <a:endParaRPr lang="en-US"/>
          </a:p>
        </p:txBody>
      </p:sp>
      <p:sp>
        <p:nvSpPr>
          <p:cNvPr id="19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1036024" y="2165488"/>
            <a:ext cx="8107976" cy="134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Wingdings" charset="2"/>
              <a:buChar char="§"/>
              <a:tabLst/>
              <a:defRPr lang="en-US" sz="1600" kern="1200" dirty="0" smtClean="0">
                <a:solidFill>
                  <a:srgbClr val="303030"/>
                </a:solidFill>
                <a:latin typeface="Gotham-Book"/>
                <a:ea typeface="+mn-ea"/>
                <a:cs typeface="Gotham-Book"/>
              </a:defRPr>
            </a:lvl1pPr>
            <a:lvl2pPr>
              <a:defRPr lang="x-none" sz="1800" smtClean="0"/>
            </a:lvl2pPr>
            <a:lvl3pPr>
              <a:defRPr lang="x-none" sz="1800" smtClean="0"/>
            </a:lvl3pPr>
            <a:lvl4pPr>
              <a:defRPr lang="x-none" sz="1800" smtClean="0"/>
            </a:lvl4pPr>
            <a:lvl5pPr>
              <a:defRPr lang="en-US" sz="1800" dirty="0"/>
            </a:lvl5pPr>
          </a:lstStyle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Nunc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libero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quam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commodo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sagittis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in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eu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felis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  <a:b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</a:b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Aenean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ut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lacus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fringilla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purus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luctus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viverra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lvl="0" indent="-285750" defTabSz="91440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x-none"/>
          </a:p>
        </p:txBody>
      </p:sp>
      <p:sp>
        <p:nvSpPr>
          <p:cNvPr id="2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60400" y="1576244"/>
            <a:ext cx="7239000" cy="3968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x-none" sz="2000" kern="1200" cap="all" baseline="0" smtClean="0">
                <a:solidFill>
                  <a:srgbClr val="303030"/>
                </a:solidFill>
                <a:latin typeface="Gotham-Bold"/>
                <a:ea typeface="+mn-ea"/>
                <a:cs typeface="Gotham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LOREM INPSUM DOLOR SITE AMET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81616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53C5324-E7B2-4328-ABFA-3EE39506D70D}" type="slidenum">
              <a:rPr lang="en-US" sz="1200" smtClean="0">
                <a:solidFill>
                  <a:schemeClr val="bg1"/>
                </a:solidFill>
                <a:latin typeface="Gotham-Bold"/>
                <a:cs typeface="Gotham-Bold"/>
              </a:rPr>
              <a:t>‹nº›</a:t>
            </a:fld>
            <a:endParaRPr lang="en-US" sz="1200">
              <a:solidFill>
                <a:schemeClr val="bg1"/>
              </a:solidFill>
              <a:latin typeface="Gotham-Bold"/>
              <a:cs typeface="Gotham-Bold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765379" y="7924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9179" y="1246972"/>
            <a:ext cx="7239000" cy="629337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110000"/>
              </a:lnSpc>
              <a:buClr>
                <a:srgbClr val="303030"/>
              </a:buClr>
              <a:buNone/>
              <a:defRPr lang="en-US" sz="1400" kern="1200" dirty="0">
                <a:solidFill>
                  <a:srgbClr val="303030"/>
                </a:solidFill>
                <a:latin typeface="Gotham-Book"/>
                <a:ea typeface="+mn-ea"/>
                <a:cs typeface="Gotham-Boo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lnSpc>
                <a:spcPct val="110000"/>
              </a:lnSpc>
              <a:buClr>
                <a:srgbClr val="303030"/>
              </a:buClr>
            </a:pP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Lorem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ipsum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dolor sit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consectetur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adipiscing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elit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Nulla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posuere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metus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vel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dictum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molestie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. Nam sit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ullamcorper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sem.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Fusce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1023324" y="685962"/>
            <a:ext cx="819687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>
              <a:buFont typeface="+mj-lt"/>
              <a:buNone/>
              <a:defRPr lang="en-US" sz="2800" cap="all" baseline="0" dirty="0">
                <a:solidFill>
                  <a:srgbClr val="303030"/>
                </a:solidFill>
                <a:latin typeface="Gotham-Bold"/>
                <a:ea typeface="+mn-ea"/>
                <a:cs typeface="Gotham-Bold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>
                <a:solidFill>
                  <a:srgbClr val="303030"/>
                </a:solidFill>
                <a:latin typeface="Gotham-Bold"/>
                <a:cs typeface="Gotham-Bold"/>
              </a:rPr>
              <a:t>1.1 LOREM INPSUM </a:t>
            </a:r>
            <a:r>
              <a:rPr lang="en-US" sz="2800">
                <a:solidFill>
                  <a:srgbClr val="303030"/>
                </a:solidFill>
                <a:latin typeface="Gotham-Book"/>
                <a:cs typeface="Gotham-Book"/>
              </a:rPr>
              <a:t>DOLOR SIT AMET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660399" y="2362200"/>
            <a:ext cx="7705585" cy="2540000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Arial"/>
              <a:buNone/>
              <a:tabLst/>
              <a:defRPr lang="en-US" sz="1600" kern="1200" dirty="0" smtClean="0">
                <a:solidFill>
                  <a:srgbClr val="303030"/>
                </a:solidFill>
                <a:latin typeface="Gotham-Book"/>
                <a:ea typeface="+mn-ea"/>
                <a:cs typeface="Gotham-Boo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lnSpc>
                <a:spcPct val="110000"/>
              </a:lnSpc>
              <a:buClr>
                <a:srgbClr val="303030"/>
              </a:buClr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Lorem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ipsum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dolor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consectetur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adipiscing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elit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Etiam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non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neque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imperdiet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sodales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lectus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cursus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ultricies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justo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Aliquam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egestas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fermentum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aliquet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Aliquam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quis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sagittis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nunc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et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porttitor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ante.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Fusce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volutpat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nulla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Phasellus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ligula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ligula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dignissim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ac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viverra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vitae,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laoreet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turpis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Fusce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commodo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urna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et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iaculis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semper.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Suspendisse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potenti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Mauris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fermentum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elit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enim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sagittis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mauris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porttitor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et.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Nullam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rhoncus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diam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ac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turpis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egestas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varius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Nunc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malesuada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quam. In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nunc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ex,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efficitur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et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ornare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a,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ornare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quis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mauris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Vestibulum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cursus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malesuada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elit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luctus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nulla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diam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pulvinar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ut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odio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ac,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bibendum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gravida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est.</a:t>
            </a:r>
          </a:p>
          <a:p>
            <a:pPr>
              <a:lnSpc>
                <a:spcPct val="110000"/>
              </a:lnSpc>
              <a:buClr>
                <a:srgbClr val="303030"/>
              </a:buClr>
            </a:pP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</p:txBody>
      </p:sp>
    </p:spTree>
    <p:extLst>
      <p:ext uri="{BB962C8B-B14F-4D97-AF65-F5344CB8AC3E}">
        <p14:creationId xmlns:p14="http://schemas.microsoft.com/office/powerpoint/2010/main" val="34496791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53C5324-E7B2-4328-ABFA-3EE39506D70D}" type="slidenum">
              <a:rPr lang="en-US" sz="1200" smtClean="0">
                <a:solidFill>
                  <a:schemeClr val="bg1"/>
                </a:solidFill>
                <a:latin typeface="Gotham-Bold"/>
                <a:cs typeface="Gotham-Bold"/>
              </a:rPr>
              <a:t>‹nº›</a:t>
            </a:fld>
            <a:endParaRPr lang="en-US" sz="1200">
              <a:solidFill>
                <a:schemeClr val="bg1"/>
              </a:solidFill>
              <a:latin typeface="Gotham-Bold"/>
              <a:cs typeface="Gotham-Bold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caomputador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3" name="Picture 12" descr="chicara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947123" y="6975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>
                <a:solidFill>
                  <a:srgbClr val="303030"/>
                </a:solidFill>
                <a:latin typeface="Gotham-Bold"/>
                <a:cs typeface="Gotham-Bold"/>
              </a:rPr>
              <a:t>REFERÊNCIAS</a:t>
            </a:r>
            <a:endParaRPr lang="en-US" sz="280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765379" y="7924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livros.png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2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3715077" y="2447970"/>
            <a:ext cx="4745081" cy="2540000"/>
          </a:xfrm>
          <a:prstGeom prst="rect">
            <a:avLst/>
          </a:prstGeom>
        </p:spPr>
        <p:txBody>
          <a:bodyPr anchor="t"/>
          <a:lstStyle>
            <a:lvl1pPr marL="285750" marR="0" indent="-2857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Wingdings" charset="2"/>
              <a:buChar char="§"/>
              <a:tabLst/>
              <a:defRPr lang="x-none" sz="1400" kern="1200" cap="none" baseline="0" smtClean="0">
                <a:solidFill>
                  <a:srgbClr val="303030"/>
                </a:solidFill>
                <a:latin typeface="Gotham-Bold"/>
                <a:ea typeface="+mn-ea"/>
                <a:cs typeface="Gotham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Nunc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libero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quam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commodo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sagittis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in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eu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felis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Aenean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ut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lacus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fringilla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purus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luctus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viverra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Nunc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libero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quam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commodo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sagittis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in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eu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felis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Aenean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ut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lacus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fringilla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purus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luctus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viverra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</p:txBody>
      </p:sp>
    </p:spTree>
    <p:extLst>
      <p:ext uri="{BB962C8B-B14F-4D97-AF65-F5344CB8AC3E}">
        <p14:creationId xmlns:p14="http://schemas.microsoft.com/office/powerpoint/2010/main" val="23323072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e 25"/>
          <p:cNvGraphicFramePr>
            <a:graphicFrameLocks noGrp="1"/>
          </p:cNvGraphicFramePr>
          <p:nvPr userDrawn="1"/>
        </p:nvGraphicFramePr>
        <p:xfrm>
          <a:off x="804820" y="1689617"/>
          <a:ext cx="7583539" cy="25506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86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1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018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Version</a:t>
                      </a:r>
                      <a:endParaRPr lang="en-US" sz="1600" b="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Codename</a:t>
                      </a:r>
                      <a:endParaRPr lang="en-US" sz="1600" b="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API</a:t>
                      </a:r>
                      <a:endParaRPr lang="en-US" sz="1800" b="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spc="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Distribution</a:t>
                      </a:r>
                      <a:endParaRPr lang="en-US" sz="1400" b="0" spc="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01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2.2</a:t>
                      </a:r>
                      <a:endParaRPr lang="en-US" sz="140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err="1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Froyo</a:t>
                      </a:r>
                      <a:endParaRPr lang="en-US" sz="140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8</a:t>
                      </a:r>
                      <a:endParaRPr lang="en-US" sz="140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0.7%</a:t>
                      </a:r>
                    </a:p>
                  </a:txBody>
                  <a:tcPr>
                    <a:solidFill>
                      <a:schemeClr val="bg1">
                        <a:lumMod val="6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214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2.3.3-</a:t>
                      </a:r>
                      <a:b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</a:br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2.3.7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Gingerbread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10</a:t>
                      </a:r>
                      <a:endParaRPr lang="en-US" sz="140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11.4%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214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4.0.3-</a:t>
                      </a:r>
                    </a:p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4.0.4</a:t>
                      </a:r>
                    </a:p>
                  </a:txBody>
                  <a:tcPr>
                    <a:solidFill>
                      <a:srgbClr val="A6A6A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Ice Cream Sandwich</a:t>
                      </a:r>
                    </a:p>
                  </a:txBody>
                  <a:tcPr>
                    <a:solidFill>
                      <a:srgbClr val="A6A6A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15</a:t>
                      </a:r>
                      <a:endParaRPr lang="en-US" sz="140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>
                    <a:solidFill>
                      <a:srgbClr val="A6A6A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9.6%</a:t>
                      </a:r>
                    </a:p>
                  </a:txBody>
                  <a:tcP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24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Jelly Bean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8.0%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01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4.4</a:t>
                      </a:r>
                    </a:p>
                  </a:txBody>
                  <a:tcPr>
                    <a:solidFill>
                      <a:srgbClr val="A6A6A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err="1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KitKat</a:t>
                      </a:r>
                      <a:endParaRPr lang="en-US" sz="120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>
                    <a:solidFill>
                      <a:srgbClr val="A6A6A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19</a:t>
                      </a:r>
                    </a:p>
                  </a:txBody>
                  <a:tcPr>
                    <a:solidFill>
                      <a:srgbClr val="A6A6A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24.5%</a:t>
                      </a:r>
                    </a:p>
                  </a:txBody>
                  <a:tcP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Rectangle 28"/>
          <p:cNvSpPr/>
          <p:nvPr userDrawn="1"/>
        </p:nvSpPr>
        <p:spPr>
          <a:xfrm>
            <a:off x="765379" y="7924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34" name="Rectangle 3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53C5324-E7B2-4328-ABFA-3EE39506D70D}" type="slidenum">
              <a:rPr lang="en-US" sz="1200" smtClean="0">
                <a:solidFill>
                  <a:schemeClr val="bg1"/>
                </a:solidFill>
                <a:latin typeface="Gotham-Bold"/>
                <a:cs typeface="Gotham-Bold"/>
              </a:rPr>
              <a:t>‹nº›</a:t>
            </a:fld>
            <a:endParaRPr lang="en-US" sz="1200">
              <a:solidFill>
                <a:schemeClr val="bg1"/>
              </a:solidFill>
              <a:latin typeface="Gotham-Bold"/>
              <a:cs typeface="Gotham-Bold"/>
            </a:endParaRPr>
          </a:p>
        </p:txBody>
      </p:sp>
      <p:sp>
        <p:nvSpPr>
          <p:cNvPr id="36" name="Title 1"/>
          <p:cNvSpPr>
            <a:spLocks noGrp="1"/>
          </p:cNvSpPr>
          <p:nvPr>
            <p:ph type="title" hasCustomPrompt="1"/>
          </p:nvPr>
        </p:nvSpPr>
        <p:spPr>
          <a:xfrm>
            <a:off x="947124" y="694653"/>
            <a:ext cx="819687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defRPr lang="en-US" sz="2800" cap="all" baseline="0" dirty="0">
                <a:solidFill>
                  <a:srgbClr val="303030"/>
                </a:solidFill>
                <a:latin typeface="Gotham-Bold"/>
                <a:ea typeface="+mn-ea"/>
                <a:cs typeface="Gotham-Bold"/>
              </a:defRPr>
            </a:lvl1pPr>
          </a:lstStyle>
          <a:p>
            <a:pPr marL="0" lvl="0" algn="l" defTabSz="914400">
              <a:lnSpc>
                <a:spcPct val="90000"/>
              </a:lnSpc>
            </a:pPr>
            <a:r>
              <a:rPr lang="pt-BR"/>
              <a:t>Tabela</a:t>
            </a:r>
            <a:endParaRPr lang="en-US"/>
          </a:p>
        </p:txBody>
      </p:sp>
      <p:sp>
        <p:nvSpPr>
          <p:cNvPr id="4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702895" y="4468899"/>
            <a:ext cx="8107976" cy="1280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85750" marR="0" indent="-28575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Wingdings" charset="2"/>
              <a:buChar char="§"/>
              <a:tabLst/>
              <a:defRPr lang="en-US" sz="12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otham-Book"/>
                <a:ea typeface="+mn-ea"/>
                <a:cs typeface="Gotham-Book"/>
              </a:defRPr>
            </a:lvl1pPr>
            <a:lvl2pPr>
              <a:defRPr lang="x-none" sz="1800" smtClean="0"/>
            </a:lvl2pPr>
            <a:lvl3pPr>
              <a:defRPr lang="x-none" sz="1800" smtClean="0"/>
            </a:lvl3pPr>
            <a:lvl4pPr>
              <a:defRPr lang="x-none" sz="1800" smtClean="0"/>
            </a:lvl4pPr>
            <a:lvl5pPr>
              <a:defRPr lang="en-US" sz="1800" dirty="0"/>
            </a:lvl5pPr>
          </a:lstStyle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Nunc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libero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quam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commodo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sagittis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in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eu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felis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  <a:b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</a:b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Aenean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ut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lacus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fringilla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purus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luctus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viverra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lvl="0" indent="-285750" defTabSz="91440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456044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33" name="Rectangle 32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53C5324-E7B2-4328-ABFA-3EE39506D70D}" type="slidenum">
              <a:rPr lang="en-US" sz="1200" smtClean="0">
                <a:solidFill>
                  <a:schemeClr val="bg1"/>
                </a:solidFill>
                <a:latin typeface="Gotham-Bold"/>
                <a:cs typeface="Gotham-Bold"/>
              </a:rPr>
              <a:t>‹nº›</a:t>
            </a:fld>
            <a:endParaRPr lang="en-US" sz="1200">
              <a:solidFill>
                <a:schemeClr val="bg1"/>
              </a:solidFill>
              <a:latin typeface="Gotham-Bold"/>
              <a:cs typeface="Gotham-Bold"/>
            </a:endParaRPr>
          </a:p>
        </p:txBody>
      </p:sp>
      <p:sp>
        <p:nvSpPr>
          <p:cNvPr id="3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3049905"/>
            <a:ext cx="7635794" cy="639762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lnSpc>
                <a:spcPct val="90000"/>
              </a:lnSpc>
              <a:buNone/>
              <a:defRPr lang="x-none" sz="5400" kern="1200" cap="all" baseline="0" smtClean="0">
                <a:solidFill>
                  <a:srgbClr val="FFFFFF"/>
                </a:solidFill>
                <a:latin typeface="Gotham-Bold"/>
                <a:ea typeface="+mn-ea"/>
                <a:cs typeface="Gotham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1. título</a:t>
            </a:r>
            <a:endParaRPr lang="x-none"/>
          </a:p>
        </p:txBody>
      </p:sp>
      <p:sp>
        <p:nvSpPr>
          <p:cNvPr id="3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57200" y="3753167"/>
            <a:ext cx="7635794" cy="639762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lnSpc>
                <a:spcPct val="90000"/>
              </a:lnSpc>
              <a:buNone/>
              <a:defRPr lang="x-none" sz="4400" kern="1200" cap="none" baseline="0" smtClean="0">
                <a:solidFill>
                  <a:srgbClr val="FFFFFF"/>
                </a:solidFill>
                <a:latin typeface="Gotham-Bold"/>
                <a:ea typeface="+mn-ea"/>
                <a:cs typeface="Gotham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Subtítulo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853769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1053372" y="3222882"/>
            <a:ext cx="8107976" cy="40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Wingdings" charset="2"/>
              <a:buNone/>
              <a:tabLst/>
              <a:defRPr kumimoji="1" lang="en-US" sz="1600" kern="1200" dirty="0" smtClean="0">
                <a:solidFill>
                  <a:schemeClr val="bg1"/>
                </a:solidFill>
                <a:latin typeface="Gotham-Bold"/>
                <a:ea typeface="+mn-ea"/>
                <a:cs typeface="Gotham-Bold"/>
              </a:defRPr>
            </a:lvl1pPr>
            <a:lvl2pPr>
              <a:defRPr lang="x-none" sz="1800" smtClean="0"/>
            </a:lvl2pPr>
            <a:lvl3pPr>
              <a:defRPr lang="x-none" sz="1800" smtClean="0"/>
            </a:lvl3pPr>
            <a:lvl4pPr>
              <a:defRPr lang="x-none" sz="1800" smtClean="0"/>
            </a:lvl4pPr>
            <a:lvl5pPr>
              <a:defRPr lang="en-US" sz="1800" dirty="0"/>
            </a:lvl5pPr>
          </a:lstStyle>
          <a:p>
            <a:pPr>
              <a:defRPr/>
            </a:pPr>
            <a:r>
              <a:rPr kumimoji="1" lang="en-US" sz="2000">
                <a:solidFill>
                  <a:schemeClr val="bg1"/>
                </a:solidFill>
                <a:latin typeface="Gotham-Bold"/>
                <a:cs typeface="Gotham-Bold"/>
              </a:rPr>
              <a:t>Copyright © 2015  Prof. Jorge </a:t>
            </a:r>
            <a:r>
              <a:rPr kumimoji="1" lang="en-US" sz="2000" err="1">
                <a:solidFill>
                  <a:schemeClr val="bg1"/>
                </a:solidFill>
                <a:latin typeface="Gotham-Bold"/>
                <a:cs typeface="Gotham-Bold"/>
              </a:rPr>
              <a:t>Surian</a:t>
            </a:r>
            <a:endParaRPr lang="x-none"/>
          </a:p>
        </p:txBody>
      </p:sp>
      <p:sp>
        <p:nvSpPr>
          <p:cNvPr id="14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1053372" y="3773418"/>
            <a:ext cx="6694934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Wingdings" charset="2"/>
              <a:buNone/>
              <a:tabLst/>
              <a:defRPr kumimoji="1" lang="en-US" sz="1600" kern="1200" dirty="0">
                <a:solidFill>
                  <a:schemeClr val="bg1"/>
                </a:solidFill>
                <a:latin typeface="Gotham-Book"/>
                <a:ea typeface="+mn-ea"/>
                <a:cs typeface="Gotham-Book"/>
              </a:defRPr>
            </a:lvl1pPr>
            <a:lvl2pPr>
              <a:defRPr lang="x-none" sz="1800" smtClean="0"/>
            </a:lvl2pPr>
            <a:lvl3pPr>
              <a:defRPr lang="x-none" sz="1800" smtClean="0"/>
            </a:lvl3pPr>
            <a:lvl4pPr>
              <a:defRPr lang="x-none" sz="1800" smtClean="0"/>
            </a:lvl4pPr>
            <a:lvl5pPr>
              <a:defRPr lang="en-US" sz="1800" dirty="0"/>
            </a:lvl5pPr>
          </a:lstStyle>
          <a:p>
            <a:pPr>
              <a:lnSpc>
                <a:spcPct val="110000"/>
              </a:lnSpc>
              <a:defRPr/>
            </a:pP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319619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8257AB-1B97-428E-942A-A149AD14107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3224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A4DD1FD2-253C-4762-BBC4-3D01FAD13D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23825"/>
            <a:ext cx="7199312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9">
            <a:extLst>
              <a:ext uri="{FF2B5EF4-FFF2-40B4-BE49-F238E27FC236}">
                <a16:creationId xmlns:a16="http://schemas.microsoft.com/office/drawing/2014/main" id="{BC5E6D78-A437-4089-AB0E-4F0D56D8CE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052513"/>
            <a:ext cx="8351837" cy="554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pic>
        <p:nvPicPr>
          <p:cNvPr id="1028" name="Imagem 1">
            <a:extLst>
              <a:ext uri="{FF2B5EF4-FFF2-40B4-BE49-F238E27FC236}">
                <a16:creationId xmlns:a16="http://schemas.microsoft.com/office/drawing/2014/main" id="{8F0A7795-8F39-4504-A9C0-34ABBD8FD56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0"/>
            <a:ext cx="914400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2">
            <a:extLst>
              <a:ext uri="{FF2B5EF4-FFF2-40B4-BE49-F238E27FC236}">
                <a16:creationId xmlns:a16="http://schemas.microsoft.com/office/drawing/2014/main" id="{49063287-909D-4C3A-9030-21DDFA2EDFB8}"/>
              </a:ext>
            </a:extLst>
          </p:cNvPr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FA176CEA-4BB4-4AC1-983A-DA378DCA8A03}"/>
              </a:ext>
            </a:extLst>
          </p:cNvPr>
          <p:cNvSpPr txBox="1"/>
          <p:nvPr userDrawn="1"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53C5324-E7B2-4328-ABFA-3EE39506D70D}" type="slidenum">
              <a:rPr lang="en-US" sz="1200" smtClean="0">
                <a:solidFill>
                  <a:schemeClr val="bg1"/>
                </a:solidFill>
                <a:latin typeface="Gotham-Bold"/>
                <a:cs typeface="Gotham-Bold"/>
              </a:rPr>
              <a:t>‹nº›</a:t>
            </a:fld>
            <a:endParaRPr lang="en-US" sz="1200">
              <a:solidFill>
                <a:schemeClr val="bg1"/>
              </a:solidFill>
              <a:latin typeface="Gotham-Bold"/>
              <a:cs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685" r:id="rId1"/>
    <p:sldLayoutId id="2147485686" r:id="rId2"/>
    <p:sldLayoutId id="2147485687" r:id="rId3"/>
    <p:sldLayoutId id="2147485688" r:id="rId4"/>
    <p:sldLayoutId id="2147485689" r:id="rId5"/>
    <p:sldLayoutId id="2147485690" r:id="rId6"/>
    <p:sldLayoutId id="2147485691" r:id="rId7"/>
    <p:sldLayoutId id="2147485692" r:id="rId8"/>
    <p:sldLayoutId id="2147485693" r:id="rId9"/>
    <p:sldLayoutId id="2147485694" r:id="rId10"/>
    <p:sldLayoutId id="2147485695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C0128"/>
        </a:buClr>
        <a:buSzPct val="100000"/>
        <a:buFont typeface="Wingdings" panose="05000000000000000000" pitchFamily="2" charset="2"/>
        <a:buChar char="ü"/>
        <a:defRPr sz="24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C0128"/>
        </a:buClr>
        <a:buSzPct val="10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C0128"/>
        </a:buClr>
        <a:buSzPct val="100000"/>
        <a:buChar char="•"/>
        <a:defRPr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C0128"/>
        </a:buClr>
        <a:buSzPct val="100000"/>
        <a:buFont typeface="Wingdings" panose="05000000000000000000" pitchFamily="2" charset="2"/>
        <a:buChar char="û"/>
        <a:defRPr sz="16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C0128"/>
        </a:buClr>
        <a:buSzPct val="100000"/>
        <a:buFont typeface="Wingdings" panose="05000000000000000000" pitchFamily="2" charset="2"/>
        <a:buChar char="F"/>
        <a:defRPr sz="1200">
          <a:solidFill>
            <a:schemeClr val="tx1"/>
          </a:solidFill>
          <a:latin typeface="+mj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FC0128"/>
        </a:buClr>
        <a:buSzPct val="100000"/>
        <a:buFont typeface="Wingdings" pitchFamily="2" charset="2"/>
        <a:buChar char="F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FC0128"/>
        </a:buClr>
        <a:buSzPct val="100000"/>
        <a:buFont typeface="Wingdings" pitchFamily="2" charset="2"/>
        <a:buChar char="F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FC0128"/>
        </a:buClr>
        <a:buSzPct val="100000"/>
        <a:buFont typeface="Wingdings" pitchFamily="2" charset="2"/>
        <a:buChar char="F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FC0128"/>
        </a:buClr>
        <a:buSzPct val="100000"/>
        <a:buFont typeface="Wingdings" pitchFamily="2" charset="2"/>
        <a:buChar char="F"/>
        <a:defRPr sz="12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cl0817\Desktop\CAPA.jpg">
            <a:extLst>
              <a:ext uri="{FF2B5EF4-FFF2-40B4-BE49-F238E27FC236}">
                <a16:creationId xmlns:a16="http://schemas.microsoft.com/office/drawing/2014/main" id="{F6CEB96C-A16B-4B44-915D-6332A33155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9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ço Reservado para Título 1">
            <a:extLst>
              <a:ext uri="{FF2B5EF4-FFF2-40B4-BE49-F238E27FC236}">
                <a16:creationId xmlns:a16="http://schemas.microsoft.com/office/drawing/2014/main" id="{0A6FAF27-C6ED-4BF1-8804-67974C984F7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3075" name="Espaço Reservado para Texto 2">
            <a:extLst>
              <a:ext uri="{FF2B5EF4-FFF2-40B4-BE49-F238E27FC236}">
                <a16:creationId xmlns:a16="http://schemas.microsoft.com/office/drawing/2014/main" id="{14FC529E-FEB2-47B6-A0DE-73645E4490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0B68BB-EAFB-470D-AAEB-0593808CCF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A5A776F-EE5C-4CA4-8DA1-88704B9F3BA8}" type="datetimeFigureOut">
              <a:rPr lang="pt-BR"/>
              <a:pPr>
                <a:defRPr/>
              </a:pPr>
              <a:t>07/05/2026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FE333B-0CEE-46C7-A152-1B84E143E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84F7A7-6EC8-40BE-B70E-83A20C2E6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275CE9E-7E05-4EF1-BB07-F40C37585E98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pic>
        <p:nvPicPr>
          <p:cNvPr id="3079" name="Picture 2" descr="C:\Users\cl0817\Desktop\DireitosAutorais.jpg">
            <a:extLst>
              <a:ext uri="{FF2B5EF4-FFF2-40B4-BE49-F238E27FC236}">
                <a16:creationId xmlns:a16="http://schemas.microsoft.com/office/drawing/2014/main" id="{922272C8-169A-404B-B593-2D6C4DD56B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9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10">
            <a:extLst>
              <a:ext uri="{FF2B5EF4-FFF2-40B4-BE49-F238E27FC236}">
                <a16:creationId xmlns:a16="http://schemas.microsoft.com/office/drawing/2014/main" id="{ECB7CAE2-87AD-4A7B-9E45-706E7E9CF8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2420938"/>
            <a:ext cx="482441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9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F4EA0-1D94-4AB7-B9F2-23B25EC7660E}" type="datetime1">
              <a:rPr lang="pt-BR" smtClean="0"/>
              <a:t>07/05/2026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2576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38" r:id="rId1"/>
    <p:sldLayoutId id="2147485739" r:id="rId2"/>
    <p:sldLayoutId id="2147485740" r:id="rId3"/>
    <p:sldLayoutId id="2147485741" r:id="rId4"/>
    <p:sldLayoutId id="2147485742" r:id="rId5"/>
    <p:sldLayoutId id="2147485743" r:id="rId6"/>
    <p:sldLayoutId id="2147485744" r:id="rId7"/>
    <p:sldLayoutId id="2147485745" r:id="rId8"/>
    <p:sldLayoutId id="2147485746" r:id="rId9"/>
    <p:sldLayoutId id="2147485747" r:id="rId10"/>
    <p:sldLayoutId id="2147485748" r:id="rId11"/>
    <p:sldLayoutId id="2147485749" r:id="rId12"/>
    <p:sldLayoutId id="2147485750" r:id="rId13"/>
    <p:sldLayoutId id="2147485751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124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53" r:id="rId1"/>
    <p:sldLayoutId id="2147485754" r:id="rId2"/>
    <p:sldLayoutId id="2147485755" r:id="rId3"/>
    <p:sldLayoutId id="2147485756" r:id="rId4"/>
    <p:sldLayoutId id="2147485757" r:id="rId5"/>
    <p:sldLayoutId id="2147485758" r:id="rId6"/>
    <p:sldLayoutId id="2147485759" r:id="rId7"/>
    <p:sldLayoutId id="2147485760" r:id="rId8"/>
    <p:sldLayoutId id="2147485761" r:id="rId9"/>
    <p:sldLayoutId id="2147485762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3">
            <a:extLst>
              <a:ext uri="{FF2B5EF4-FFF2-40B4-BE49-F238E27FC236}">
                <a16:creationId xmlns:a16="http://schemas.microsoft.com/office/drawing/2014/main" id="{9D3717E7-6590-4D35-BB82-7D76A893E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2700338"/>
            <a:ext cx="431958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pt-BR" altLang="pt-BR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MBA em </a:t>
            </a:r>
            <a:r>
              <a:rPr lang="pt-BR" altLang="pt-BR" i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Análise de Negócios com práticas do BABOK</a:t>
            </a:r>
          </a:p>
        </p:txBody>
      </p:sp>
      <p:pic>
        <p:nvPicPr>
          <p:cNvPr id="9219" name="Imagem 2">
            <a:extLst>
              <a:ext uri="{FF2B5EF4-FFF2-40B4-BE49-F238E27FC236}">
                <a16:creationId xmlns:a16="http://schemas.microsoft.com/office/drawing/2014/main" id="{607ADD21-DBF9-420F-BBBE-8FF307418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3116263"/>
            <a:ext cx="1368425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Imagem 1">
            <a:extLst>
              <a:ext uri="{FF2B5EF4-FFF2-40B4-BE49-F238E27FC236}">
                <a16:creationId xmlns:a16="http://schemas.microsoft.com/office/drawing/2014/main" id="{5A9D60F8-FB08-4869-BF09-2923FA4E6C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3"/>
            <a:ext cx="9144000" cy="6867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1064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1776" r="21705"/>
          <a:stretch/>
        </p:blipFill>
        <p:spPr>
          <a:xfrm>
            <a:off x="0" y="1844824"/>
            <a:ext cx="9143683" cy="39959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5536" y="2029373"/>
            <a:ext cx="871296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TECNOLOGIA EM DESENVOLVIMENTO DE SISTEMAS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8782" y="2828409"/>
            <a:ext cx="6316512" cy="79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ok"/>
                <a:ea typeface="+mn-ea"/>
                <a:cs typeface="Gotham-Book"/>
              </a:rPr>
              <a:t>DevOps Tools &amp; Cloud </a:t>
            </a:r>
            <a:r>
              <a:rPr kumimoji="0" lang="pt-BR" sz="2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ok"/>
                <a:ea typeface="+mn-ea"/>
                <a:cs typeface="Gotham-Book"/>
              </a:rPr>
              <a:t>Computing</a:t>
            </a:r>
            <a:endParaRPr kumimoji="0" lang="pt-BR" sz="2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-Book"/>
              <a:ea typeface="+mn-ea"/>
              <a:cs typeface="Gotham-Book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7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otham-Book"/>
              <a:ea typeface="+mn-ea"/>
              <a:cs typeface="Gotham-Book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otham-Book"/>
                <a:ea typeface="+mn-ea"/>
                <a:cs typeface="Gotham-Book"/>
              </a:rPr>
              <a:t>Docker File e Docker </a:t>
            </a:r>
            <a:r>
              <a:rPr kumimoji="0" lang="pt-BR" sz="2200" b="0" i="0" u="none" strike="noStrike" kern="1200" cap="none" spc="0" normalizeH="0" baseline="0" noProof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otham-Book"/>
                <a:ea typeface="+mn-ea"/>
                <a:cs typeface="Gotham-Book"/>
              </a:rPr>
              <a:t>Compose</a:t>
            </a:r>
            <a:endParaRPr kumimoji="0" lang="pt-BR" sz="2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otham-Book"/>
              <a:ea typeface="+mn-ea"/>
              <a:cs typeface="Gotham-Book"/>
            </a:endParaRPr>
          </a:p>
        </p:txBody>
      </p:sp>
      <p:sp>
        <p:nvSpPr>
          <p:cNvPr id="23" name="Rectangle 22"/>
          <p:cNvSpPr/>
          <p:nvPr/>
        </p:nvSpPr>
        <p:spPr>
          <a:xfrm flipH="1">
            <a:off x="179510" y="2079627"/>
            <a:ext cx="72009" cy="3365598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7471" y="3932299"/>
            <a:ext cx="615285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PROF.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Sálvio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Padlipskas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       </a:t>
            </a:r>
            <a:r>
              <a:rPr kumimoji="0" lang="pt-BR" sz="14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salvio@fiap.com.br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-Bold"/>
              <a:ea typeface="+mn-ea"/>
              <a:cs typeface="Gotham-Bold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395536" y="3633882"/>
            <a:ext cx="622162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PROF. João Menk                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profjoao.menk@fiap.com.br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-Bold"/>
              <a:ea typeface="+mn-ea"/>
              <a:cs typeface="Gotham-Bold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D79F325F-D456-5A65-88E1-377053E725B6}"/>
              </a:ext>
            </a:extLst>
          </p:cNvPr>
          <p:cNvSpPr txBox="1"/>
          <p:nvPr/>
        </p:nvSpPr>
        <p:spPr>
          <a:xfrm>
            <a:off x="397445" y="4243487"/>
            <a:ext cx="806296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PROF. Antonio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Figueiredo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  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profantonio.figueiredo@fiap.com.br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-Bold"/>
              <a:ea typeface="+mn-ea"/>
              <a:cs typeface="Gotham-Bold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161D0BC9-3AA1-286E-DABA-87F671FB9915}"/>
              </a:ext>
            </a:extLst>
          </p:cNvPr>
          <p:cNvSpPr txBox="1"/>
          <p:nvPr/>
        </p:nvSpPr>
        <p:spPr>
          <a:xfrm>
            <a:off x="397445" y="4537087"/>
            <a:ext cx="806296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PROF. Marcus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Leite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             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profmarcus.leite@fiap.com.br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-Bold"/>
              <a:ea typeface="+mn-ea"/>
              <a:cs typeface="Gotham-Bold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50A56607-5B3C-60FE-9060-CF9A6DDD086F}"/>
              </a:ext>
            </a:extLst>
          </p:cNvPr>
          <p:cNvSpPr txBox="1"/>
          <p:nvPr/>
        </p:nvSpPr>
        <p:spPr>
          <a:xfrm>
            <a:off x="397445" y="4810464"/>
            <a:ext cx="806296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PROF. Thiago Rocha            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profthiago.rocha@fiap.com.br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-Bold"/>
              <a:ea typeface="+mn-ea"/>
              <a:cs typeface="Gotham-Bold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67298D59-74DC-EB53-5326-CA8FD220EF83}"/>
              </a:ext>
            </a:extLst>
          </p:cNvPr>
          <p:cNvSpPr txBox="1"/>
          <p:nvPr/>
        </p:nvSpPr>
        <p:spPr>
          <a:xfrm>
            <a:off x="397445" y="5114175"/>
            <a:ext cx="8062961" cy="3416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PROF. Thiago Moraes</a:t>
            </a:r>
            <a:r>
              <a:rPr lang="en-US" sz="1800" b="0">
                <a:solidFill>
                  <a:srgbClr val="FFFFFF"/>
                </a:solidFill>
                <a:latin typeface="Gotham-Bold"/>
                <a:cs typeface="Gotham-Bold"/>
              </a:rPr>
              <a:t>           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proftiago.moraes@fiap.com.br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-Bold"/>
              <a:ea typeface="+mn-ea"/>
              <a:cs typeface="Gotham-Bold"/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D5340CE6-5F18-829E-3A03-0A485D7621E2}"/>
              </a:ext>
            </a:extLst>
          </p:cNvPr>
          <p:cNvSpPr txBox="1"/>
          <p:nvPr/>
        </p:nvSpPr>
        <p:spPr>
          <a:xfrm>
            <a:off x="397445" y="5437327"/>
            <a:ext cx="8062961" cy="3416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PROF. </a:t>
            </a:r>
            <a:r>
              <a:rPr lang="en-US" sz="1800" b="0">
                <a:solidFill>
                  <a:srgbClr val="FFFFFF"/>
                </a:solidFill>
                <a:latin typeface="Gotham-Bold"/>
                <a:cs typeface="Gotham-Bold"/>
              </a:rPr>
              <a:t>Rafael Pereira          </a:t>
            </a:r>
            <a:r>
              <a:rPr lang="en-US" sz="1400" b="0">
                <a:solidFill>
                  <a:srgbClr val="FFFFFF"/>
                </a:solidFill>
                <a:latin typeface="Gotham-Bold"/>
                <a:cs typeface="Gotham-Bold"/>
              </a:rPr>
              <a:t>profrafael.pereira@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fiap.com.br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-Bold"/>
              <a:ea typeface="+mn-ea"/>
              <a:cs typeface="Gotham-Bold"/>
            </a:endParaRPr>
          </a:p>
        </p:txBody>
      </p:sp>
    </p:spTree>
    <p:extLst>
      <p:ext uri="{BB962C8B-B14F-4D97-AF65-F5344CB8AC3E}">
        <p14:creationId xmlns:p14="http://schemas.microsoft.com/office/powerpoint/2010/main" val="186939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1E7352-4E94-47F9-A1DD-4D554B1F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pic>
        <p:nvPicPr>
          <p:cNvPr id="8196" name="Picture 4" descr="Build a basic Docker image using Dockerfile - Programmer Lib">
            <a:extLst>
              <a:ext uri="{FF2B5EF4-FFF2-40B4-BE49-F238E27FC236}">
                <a16:creationId xmlns:a16="http://schemas.microsoft.com/office/drawing/2014/main" id="{BAB27862-3698-ED48-12F8-77DEDE94A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0728"/>
            <a:ext cx="9144000" cy="507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9247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79E55-FFBF-08E9-E064-3992E00F4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Arial"/>
              </a:rPr>
              <a:t>Resumo</a:t>
            </a:r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F491C4B-8E93-46EF-874F-7A405B3F1BB5}"/>
              </a:ext>
            </a:extLst>
          </p:cNvPr>
          <p:cNvSpPr txBox="1"/>
          <p:nvPr/>
        </p:nvSpPr>
        <p:spPr>
          <a:xfrm>
            <a:off x="500916" y="1582895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latin typeface="Arial"/>
                <a:cs typeface="Arial"/>
              </a:rPr>
              <a:t>1 Container</a:t>
            </a:r>
            <a:endParaRPr lang="pt-BR"/>
          </a:p>
        </p:txBody>
      </p:sp>
      <p:pic>
        <p:nvPicPr>
          <p:cNvPr id="5" name="Imagem 5" descr="Interface gráfica do usuário&#10;&#10;Descrição gerada automaticamente">
            <a:extLst>
              <a:ext uri="{FF2B5EF4-FFF2-40B4-BE49-F238E27FC236}">
                <a16:creationId xmlns:a16="http://schemas.microsoft.com/office/drawing/2014/main" id="{EFFDD26A-9FBF-BC5F-F1ED-65BB352FC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72" y="2159455"/>
            <a:ext cx="2743200" cy="2375154"/>
          </a:xfrm>
          <a:prstGeom prst="rect">
            <a:avLst/>
          </a:prstGeom>
        </p:spPr>
      </p:pic>
      <p:pic>
        <p:nvPicPr>
          <p:cNvPr id="6" name="Imagem 6" descr="Diagrama&#10;&#10;Descrição gerada automaticamente">
            <a:extLst>
              <a:ext uri="{FF2B5EF4-FFF2-40B4-BE49-F238E27FC236}">
                <a16:creationId xmlns:a16="http://schemas.microsoft.com/office/drawing/2014/main" id="{0E7106A9-544B-A536-2B9E-74649076D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831" y="2162315"/>
            <a:ext cx="6214527" cy="356767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C76CA9F-EEA7-F303-2B1E-749A39DA0890}"/>
              </a:ext>
            </a:extLst>
          </p:cNvPr>
          <p:cNvSpPr txBox="1"/>
          <p:nvPr/>
        </p:nvSpPr>
        <p:spPr>
          <a:xfrm>
            <a:off x="3242294" y="1582895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latin typeface="Arial"/>
                <a:cs typeface="Arial"/>
              </a:rPr>
              <a:t>2 Imagem</a:t>
            </a:r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3F9F469-0490-D84C-56D6-925E3910480A}"/>
              </a:ext>
            </a:extLst>
          </p:cNvPr>
          <p:cNvSpPr txBox="1"/>
          <p:nvPr/>
        </p:nvSpPr>
        <p:spPr>
          <a:xfrm>
            <a:off x="6393514" y="1582895"/>
            <a:ext cx="295267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latin typeface="Arial"/>
                <a:cs typeface="Arial"/>
              </a:rPr>
              <a:t>3 Docker Registry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898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CCC4385E-7859-F147-9D4C-F9F43381B9CB}"/>
              </a:ext>
            </a:extLst>
          </p:cNvPr>
          <p:cNvSpPr/>
          <p:nvPr/>
        </p:nvSpPr>
        <p:spPr>
          <a:xfrm>
            <a:off x="131400" y="908720"/>
            <a:ext cx="8833088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 interface de linha de comando (CLI) é uma forma manual de realizar a administração. Visto em nossos exemplos não é complexo fazer o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pull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ps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e stop de uma Imagem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Porém podemos automatizar o processo utilizando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Dockerfiles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 Esses arquivos nada mais são do que listas de instruções utilizados para automatizar a criação e configuração de Containers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 outras palavras, ele serve como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uma receita para construir um Container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permitindo definir um ambiente personalizado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46120D-BBAE-C943-882A-CA293568B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311730"/>
            <a:ext cx="4536504" cy="254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E1E7352-4E94-47F9-A1DD-4D554B1F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81745CE-9245-4527-80A8-DF5D51CCB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192" y="4666399"/>
            <a:ext cx="1539496" cy="194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456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9DF4DBE8-A182-FF43-BA30-4CCE65F38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70" y="1963610"/>
            <a:ext cx="4287998" cy="1609406"/>
          </a:xfrm>
          <a:prstGeom prst="rect">
            <a:avLst/>
          </a:prstGeom>
        </p:spPr>
      </p:pic>
      <p:sp>
        <p:nvSpPr>
          <p:cNvPr id="23" name="Retângulo 22">
            <a:extLst>
              <a:ext uri="{FF2B5EF4-FFF2-40B4-BE49-F238E27FC236}">
                <a16:creationId xmlns:a16="http://schemas.microsoft.com/office/drawing/2014/main" id="{CCC4385E-7859-F147-9D4C-F9F43381B9CB}"/>
              </a:ext>
            </a:extLst>
          </p:cNvPr>
          <p:cNvSpPr/>
          <p:nvPr/>
        </p:nvSpPr>
        <p:spPr>
          <a:xfrm>
            <a:off x="131400" y="908720"/>
            <a:ext cx="88330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 exemplo abaixo temos o fonte de um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simples, que realiza alguns dos passos que já executamos em nossos exemplos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AC29009-6A48-AA42-A84C-EEC6949B80D8}"/>
              </a:ext>
            </a:extLst>
          </p:cNvPr>
          <p:cNvSpPr/>
          <p:nvPr/>
        </p:nvSpPr>
        <p:spPr>
          <a:xfrm>
            <a:off x="4748129" y="1844824"/>
            <a:ext cx="3284104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Obter uma imagem do </a:t>
            </a:r>
            <a:r>
              <a:rPr kumimoji="0" lang="pt-BR" sz="19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Ubuntu</a:t>
            </a:r>
            <a:endParaRPr kumimoji="0" lang="pt-BR" sz="1900" b="1" i="0" u="none" strike="noStrike" kern="1200" cap="none" spc="0" normalizeH="0" baseline="0" noProof="0">
              <a:ln>
                <a:noFill/>
              </a:ln>
              <a:solidFill>
                <a:srgbClr val="005F8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B6FD999-3055-1E42-AF51-0988713CD9A5}"/>
              </a:ext>
            </a:extLst>
          </p:cNvPr>
          <p:cNvSpPr/>
          <p:nvPr/>
        </p:nvSpPr>
        <p:spPr>
          <a:xfrm>
            <a:off x="4748129" y="2321620"/>
            <a:ext cx="3424271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Atualizar os pacotes do Sistema Operacional da imagem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7A3DE72-5AB0-2F4E-9B23-BF7A4167FEAA}"/>
              </a:ext>
            </a:extLst>
          </p:cNvPr>
          <p:cNvSpPr/>
          <p:nvPr/>
        </p:nvSpPr>
        <p:spPr>
          <a:xfrm>
            <a:off x="4788023" y="3134338"/>
            <a:ext cx="1913794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Instalar o Python</a:t>
            </a:r>
          </a:p>
        </p:txBody>
      </p:sp>
      <p:cxnSp>
        <p:nvCxnSpPr>
          <p:cNvPr id="11" name="Conector em Curva 10">
            <a:extLst>
              <a:ext uri="{FF2B5EF4-FFF2-40B4-BE49-F238E27FC236}">
                <a16:creationId xmlns:a16="http://schemas.microsoft.com/office/drawing/2014/main" id="{2912A8E8-5970-574B-8E92-55AB9D1B3682}"/>
              </a:ext>
            </a:extLst>
          </p:cNvPr>
          <p:cNvCxnSpPr>
            <a:cxnSpLocks/>
            <a:endCxn id="4" idx="1"/>
          </p:cNvCxnSpPr>
          <p:nvPr/>
        </p:nvCxnSpPr>
        <p:spPr bwMode="auto">
          <a:xfrm flipV="1">
            <a:off x="1997368" y="2037185"/>
            <a:ext cx="2750761" cy="280788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444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Conector em Curva 19">
            <a:extLst>
              <a:ext uri="{FF2B5EF4-FFF2-40B4-BE49-F238E27FC236}">
                <a16:creationId xmlns:a16="http://schemas.microsoft.com/office/drawing/2014/main" id="{AD5D36B1-7820-F54F-934E-EBD1BFB993E5}"/>
              </a:ext>
            </a:extLst>
          </p:cNvPr>
          <p:cNvCxnSpPr>
            <a:cxnSpLocks/>
          </p:cNvCxnSpPr>
          <p:nvPr/>
        </p:nvCxnSpPr>
        <p:spPr bwMode="auto">
          <a:xfrm flipV="1">
            <a:off x="3275856" y="2526983"/>
            <a:ext cx="1512167" cy="404085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444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2AA38228-1FC0-8F4F-A38A-686AC8757AC9}"/>
              </a:ext>
            </a:extLst>
          </p:cNvPr>
          <p:cNvSpPr/>
          <p:nvPr/>
        </p:nvSpPr>
        <p:spPr>
          <a:xfrm>
            <a:off x="131400" y="4068978"/>
            <a:ext cx="883308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Instrução 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FROM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É obrigatória e define qual será o ponto de partida da Imagem que criaremos com o nosso </a:t>
            </a:r>
            <a:r>
              <a:rPr kumimoji="0" lang="pt-BR" sz="20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endParaRPr kumimoji="0" lang="pt-BR" sz="20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0ABA20F-7F7D-0043-9C35-6CA310183CD4}"/>
              </a:ext>
            </a:extLst>
          </p:cNvPr>
          <p:cNvSpPr/>
          <p:nvPr/>
        </p:nvSpPr>
        <p:spPr>
          <a:xfrm>
            <a:off x="131400" y="5529196"/>
            <a:ext cx="825702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Instrução 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RUN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Pode ser executada uma ou mais vezes e, com ela, podemos definir quais serão os comandos executados na etapa de criação de camadas da Imagem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3FEF6AFB-29B4-F048-A7BA-FAE41AB5EC2E}"/>
              </a:ext>
            </a:extLst>
          </p:cNvPr>
          <p:cNvCxnSpPr>
            <a:cxnSpLocks/>
          </p:cNvCxnSpPr>
          <p:nvPr/>
        </p:nvCxnSpPr>
        <p:spPr bwMode="auto">
          <a:xfrm>
            <a:off x="4368351" y="3326699"/>
            <a:ext cx="419673" cy="0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8C96CC8-1385-C2B7-3022-1C455C88E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</p:spTree>
    <p:extLst>
      <p:ext uri="{BB962C8B-B14F-4D97-AF65-F5344CB8AC3E}">
        <p14:creationId xmlns:p14="http://schemas.microsoft.com/office/powerpoint/2010/main" val="1599279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95152C4B-5E8A-B741-A25B-79EFFC888320}"/>
              </a:ext>
            </a:extLst>
          </p:cNvPr>
          <p:cNvSpPr/>
          <p:nvPr/>
        </p:nvSpPr>
        <p:spPr>
          <a:xfrm>
            <a:off x="131400" y="908720"/>
            <a:ext cx="88330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Crie um arquivo com o fonte </a:t>
            </a:r>
            <a:r>
              <a:rPr kumimoji="0" lang="pt-BR" sz="2400" b="0" i="0" u="sng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 sua Home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no Sistema Operacional, e salve como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 </a:t>
            </a: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(sem extensão)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13157-0E7F-1C09-5360-FF278EC6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7D133AC-C58A-9D62-C916-85EBAE2634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994" y="2750028"/>
            <a:ext cx="5010011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64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CCC4385E-7859-F147-9D4C-F9F43381B9CB}"/>
              </a:ext>
            </a:extLst>
          </p:cNvPr>
          <p:cNvSpPr/>
          <p:nvPr/>
        </p:nvSpPr>
        <p:spPr>
          <a:xfrm>
            <a:off x="131400" y="985952"/>
            <a:ext cx="8833088" cy="1831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Agora que escrevemos um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iremos construir uma imagem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a partir dele executando o comando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e, por fim, criar e rodar um Container com o comando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7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“O Container é o fim enquanto a Imagem é o meio”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83A1A48-CAFD-5544-93EC-757235CB010D}"/>
              </a:ext>
            </a:extLst>
          </p:cNvPr>
          <p:cNvSpPr/>
          <p:nvPr/>
        </p:nvSpPr>
        <p:spPr>
          <a:xfrm>
            <a:off x="104466" y="4226217"/>
            <a:ext cx="88330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Caso queira criar uma imagem do zero, sem a preocupação de utilizar imagem alguma, utilize a imagem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scratch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869D5B3-95BA-0647-81DD-6E50A62DFABE}"/>
              </a:ext>
            </a:extLst>
          </p:cNvPr>
          <p:cNvSpPr/>
          <p:nvPr/>
        </p:nvSpPr>
        <p:spPr>
          <a:xfrm>
            <a:off x="359016" y="5056602"/>
            <a:ext cx="2416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FROM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scratch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</p:txBody>
      </p:sp>
      <p:pic>
        <p:nvPicPr>
          <p:cNvPr id="17" name="Picture 2" descr="HashTags…Que são? Para que servem? |">
            <a:extLst>
              <a:ext uri="{FF2B5EF4-FFF2-40B4-BE49-F238E27FC236}">
                <a16:creationId xmlns:a16="http://schemas.microsoft.com/office/drawing/2014/main" id="{2EE2D318-82AB-2541-B23E-73823FE2E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58" y="3312639"/>
            <a:ext cx="908449" cy="908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F695E9-B8CF-375B-235E-54B53EDD0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79EC23-71DE-A971-6674-3A8AC8738A55}"/>
              </a:ext>
            </a:extLst>
          </p:cNvPr>
          <p:cNvSpPr txBox="1"/>
          <p:nvPr/>
        </p:nvSpPr>
        <p:spPr>
          <a:xfrm>
            <a:off x="25930" y="6274187"/>
            <a:ext cx="29966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500" b="1" i="0" u="none" strike="noStrike" kern="1200" cap="none" spc="0" normalizeH="0" baseline="0" noProof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https://</a:t>
            </a:r>
            <a:r>
              <a:rPr kumimoji="0" lang="pt-BR" sz="1500" b="1" i="0" u="none" strike="noStrike" kern="1200" cap="none" spc="0" normalizeH="0" baseline="0" noProof="0" err="1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hub.docker.com</a:t>
            </a:r>
            <a:r>
              <a:rPr kumimoji="0" lang="pt-BR" sz="1500" b="1" i="0" u="none" strike="noStrike" kern="1200" cap="none" spc="0" normalizeH="0" baseline="0" noProof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/_/</a:t>
            </a:r>
            <a:r>
              <a:rPr kumimoji="0" lang="pt-BR" sz="1500" b="1" i="0" u="none" strike="noStrike" kern="1200" cap="none" spc="0" normalizeH="0" baseline="0" noProof="0" err="1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scratch</a:t>
            </a:r>
            <a:endParaRPr kumimoji="0" lang="pt-BR" sz="1500" b="1" i="0" u="none" strike="noStrike" kern="1200" cap="none" spc="0" normalizeH="0" baseline="0" noProof="0">
              <a:ln>
                <a:noFill/>
              </a:ln>
              <a:solidFill>
                <a:srgbClr val="FF339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591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CCC4385E-7859-F147-9D4C-F9F43381B9CB}"/>
              </a:ext>
            </a:extLst>
          </p:cNvPr>
          <p:cNvSpPr/>
          <p:nvPr/>
        </p:nvSpPr>
        <p:spPr>
          <a:xfrm>
            <a:off x="131400" y="908720"/>
            <a:ext cx="8905096" cy="1677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Para criar uma Imagem a partir desse arquivo usamos o comando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Por padrão esse comando procura um arquivo com o nome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005F8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7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 nosso exemplo o comando ficará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1D1E7A0-EC05-AB4E-B396-4821D54E06AB}"/>
              </a:ext>
            </a:extLst>
          </p:cNvPr>
          <p:cNvSpPr/>
          <p:nvPr/>
        </p:nvSpPr>
        <p:spPr>
          <a:xfrm>
            <a:off x="827584" y="2492896"/>
            <a:ext cx="19442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 </a:t>
            </a:r>
            <a:r>
              <a:rPr kumimoji="0" lang="pt-BR" sz="36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30BF4C-9958-E6AE-E714-178C52F5A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FBD31B2-23B1-9BD3-58A0-4E31969821FA}"/>
              </a:ext>
            </a:extLst>
          </p:cNvPr>
          <p:cNvSpPr/>
          <p:nvPr/>
        </p:nvSpPr>
        <p:spPr>
          <a:xfrm>
            <a:off x="15102" y="6490211"/>
            <a:ext cx="5060954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5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15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 </a:t>
            </a:r>
            <a:r>
              <a:rPr kumimoji="0" lang="pt-BR" sz="15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t>-</a:t>
            </a:r>
            <a:r>
              <a:rPr kumimoji="0" lang="pt-BR" sz="1500" b="1" i="0" u="none" strike="noStrike" kern="1200" cap="none" spc="0" normalizeH="0" baseline="0" noProof="0" err="1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t>f</a:t>
            </a:r>
            <a:r>
              <a:rPr kumimoji="0" lang="pt-BR" sz="15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15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dockerfile-ubuntu-python</a:t>
            </a:r>
            <a:r>
              <a:rPr kumimoji="0" lang="pt-BR" sz="15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15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818FF3D-692C-363F-A28F-0675B208E5AB}"/>
              </a:ext>
            </a:extLst>
          </p:cNvPr>
          <p:cNvSpPr/>
          <p:nvPr/>
        </p:nvSpPr>
        <p:spPr>
          <a:xfrm>
            <a:off x="0" y="6237312"/>
            <a:ext cx="781236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Caso necessite, especifique o nome do </a:t>
            </a:r>
            <a:r>
              <a:rPr kumimoji="0" lang="pt-BR" sz="15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com a opção </a:t>
            </a:r>
            <a:r>
              <a:rPr kumimoji="0" lang="pt-BR" sz="15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t>-f</a:t>
            </a: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(exemplo)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5B20F15-6393-5B12-CEC6-C840D3978523}"/>
              </a:ext>
            </a:extLst>
          </p:cNvPr>
          <p:cNvSpPr txBox="1"/>
          <p:nvPr/>
        </p:nvSpPr>
        <p:spPr>
          <a:xfrm>
            <a:off x="3521958" y="2631375"/>
            <a:ext cx="570048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Diretório corrente (não esqueça do espaço antes do ponto)</a:t>
            </a:r>
          </a:p>
        </p:txBody>
      </p:sp>
      <p:cxnSp>
        <p:nvCxnSpPr>
          <p:cNvPr id="13" name="Conector em Curva 12">
            <a:extLst>
              <a:ext uri="{FF2B5EF4-FFF2-40B4-BE49-F238E27FC236}">
                <a16:creationId xmlns:a16="http://schemas.microsoft.com/office/drawing/2014/main" id="{ECE7A019-1C34-F285-0389-A019B7131408}"/>
              </a:ext>
            </a:extLst>
          </p:cNvPr>
          <p:cNvCxnSpPr>
            <a:cxnSpLocks/>
          </p:cNvCxnSpPr>
          <p:nvPr/>
        </p:nvCxnSpPr>
        <p:spPr bwMode="auto">
          <a:xfrm flipV="1">
            <a:off x="2771800" y="2780928"/>
            <a:ext cx="792088" cy="177479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444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6" name="Imagem 25">
            <a:extLst>
              <a:ext uri="{FF2B5EF4-FFF2-40B4-BE49-F238E27FC236}">
                <a16:creationId xmlns:a16="http://schemas.microsoft.com/office/drawing/2014/main" id="{A10BA6F6-EAEC-B215-368A-9E09FE882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998" y="3097938"/>
            <a:ext cx="5532003" cy="308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656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DAE96DA-73FF-040F-8D5B-46E7BD1F20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377634"/>
            <a:ext cx="7772400" cy="1561471"/>
          </a:xfrm>
          <a:prstGeom prst="rect">
            <a:avLst/>
          </a:prstGeom>
        </p:spPr>
      </p:pic>
      <p:sp>
        <p:nvSpPr>
          <p:cNvPr id="23" name="Retângulo 22">
            <a:extLst>
              <a:ext uri="{FF2B5EF4-FFF2-40B4-BE49-F238E27FC236}">
                <a16:creationId xmlns:a16="http://schemas.microsoft.com/office/drawing/2014/main" id="{CCC4385E-7859-F147-9D4C-F9F43381B9CB}"/>
              </a:ext>
            </a:extLst>
          </p:cNvPr>
          <p:cNvSpPr/>
          <p:nvPr/>
        </p:nvSpPr>
        <p:spPr>
          <a:xfrm>
            <a:off x="131400" y="908720"/>
            <a:ext cx="88330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Para verificar a imagem criada a partir desse arquivo usamos o comando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image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ls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005F8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1D1E7A0-EC05-AB4E-B396-4821D54E06AB}"/>
              </a:ext>
            </a:extLst>
          </p:cNvPr>
          <p:cNvSpPr/>
          <p:nvPr/>
        </p:nvSpPr>
        <p:spPr>
          <a:xfrm>
            <a:off x="3490346" y="1780145"/>
            <a:ext cx="21633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image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ls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8422337-CE64-D548-B634-1A583F57F964}"/>
              </a:ext>
            </a:extLst>
          </p:cNvPr>
          <p:cNvSpPr/>
          <p:nvPr/>
        </p:nvSpPr>
        <p:spPr>
          <a:xfrm>
            <a:off x="611560" y="3140968"/>
            <a:ext cx="7416824" cy="213397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A74E76E-EF7E-684F-B850-DB26756A18FB}"/>
              </a:ext>
            </a:extLst>
          </p:cNvPr>
          <p:cNvSpPr/>
          <p:nvPr/>
        </p:nvSpPr>
        <p:spPr>
          <a:xfrm>
            <a:off x="155455" y="4345014"/>
            <a:ext cx="88330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sng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Ops</a:t>
            </a:r>
            <a:r>
              <a:rPr kumimoji="0" lang="pt-BR" sz="24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...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Faltou nomear nossa imagem.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Remova essa imagem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e crie novamente informando uma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Tag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(opção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t>-t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)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005F8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9840F4A-F4CE-BC4E-97AC-9E348388DBCB}"/>
              </a:ext>
            </a:extLst>
          </p:cNvPr>
          <p:cNvSpPr/>
          <p:nvPr/>
        </p:nvSpPr>
        <p:spPr>
          <a:xfrm>
            <a:off x="131400" y="5912583"/>
            <a:ext cx="43685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t>-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t>t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ubuntu_python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36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C85230A-1532-B64E-9C49-F4ECFA9EE4B2}"/>
              </a:ext>
            </a:extLst>
          </p:cNvPr>
          <p:cNvSpPr/>
          <p:nvPr/>
        </p:nvSpPr>
        <p:spPr>
          <a:xfrm>
            <a:off x="131400" y="5535288"/>
            <a:ext cx="29937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image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rm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967a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26BA9-F82E-A620-1949-F88C9BE0B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046F087-5C9F-9F2D-6439-5C6350A8A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36" y="5118284"/>
            <a:ext cx="3769350" cy="1695092"/>
          </a:xfrm>
          <a:prstGeom prst="rect">
            <a:avLst/>
          </a:prstGeom>
        </p:spPr>
      </p:pic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D5420C9-2E4F-2C4D-0F9C-A1BDC2BBB772}"/>
              </a:ext>
            </a:extLst>
          </p:cNvPr>
          <p:cNvCxnSpPr>
            <a:cxnSpLocks/>
          </p:cNvCxnSpPr>
          <p:nvPr/>
        </p:nvCxnSpPr>
        <p:spPr bwMode="auto">
          <a:xfrm>
            <a:off x="4788024" y="6093296"/>
            <a:ext cx="288032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97627425-D2B2-19EC-DB05-79C673DD62D0}"/>
              </a:ext>
            </a:extLst>
          </p:cNvPr>
          <p:cNvCxnSpPr>
            <a:cxnSpLocks/>
          </p:cNvCxnSpPr>
          <p:nvPr/>
        </p:nvCxnSpPr>
        <p:spPr bwMode="auto">
          <a:xfrm>
            <a:off x="4788024" y="6021288"/>
            <a:ext cx="288032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Conector em Curva 20">
            <a:extLst>
              <a:ext uri="{FF2B5EF4-FFF2-40B4-BE49-F238E27FC236}">
                <a16:creationId xmlns:a16="http://schemas.microsoft.com/office/drawing/2014/main" id="{9F563127-496F-C7B8-5CDF-F5896F528DBA}"/>
              </a:ext>
            </a:extLst>
          </p:cNvPr>
          <p:cNvCxnSpPr>
            <a:cxnSpLocks/>
          </p:cNvCxnSpPr>
          <p:nvPr/>
        </p:nvCxnSpPr>
        <p:spPr bwMode="auto">
          <a:xfrm rot="5400000" flipH="1" flipV="1">
            <a:off x="3317865" y="3609365"/>
            <a:ext cx="360732" cy="3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444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908191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5DA00EA-F7DA-D74B-C3B2-EAE935B8C8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45" y="2780928"/>
            <a:ext cx="8168109" cy="1717019"/>
          </a:xfrm>
          <a:prstGeom prst="rect">
            <a:avLst/>
          </a:prstGeom>
        </p:spPr>
      </p:pic>
      <p:sp>
        <p:nvSpPr>
          <p:cNvPr id="23" name="Retângulo 22">
            <a:extLst>
              <a:ext uri="{FF2B5EF4-FFF2-40B4-BE49-F238E27FC236}">
                <a16:creationId xmlns:a16="http://schemas.microsoft.com/office/drawing/2014/main" id="{CCC4385E-7859-F147-9D4C-F9F43381B9CB}"/>
              </a:ext>
            </a:extLst>
          </p:cNvPr>
          <p:cNvSpPr/>
          <p:nvPr/>
        </p:nvSpPr>
        <p:spPr>
          <a:xfrm>
            <a:off x="131400" y="908720"/>
            <a:ext cx="8833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Verifique o resultado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005F8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8422337-CE64-D548-B634-1A583F57F964}"/>
              </a:ext>
            </a:extLst>
          </p:cNvPr>
          <p:cNvSpPr/>
          <p:nvPr/>
        </p:nvSpPr>
        <p:spPr>
          <a:xfrm>
            <a:off x="518583" y="3645022"/>
            <a:ext cx="7869841" cy="216025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3982D7B-6B02-AE4D-8A6A-C005E08E9334}"/>
              </a:ext>
            </a:extLst>
          </p:cNvPr>
          <p:cNvSpPr/>
          <p:nvPr/>
        </p:nvSpPr>
        <p:spPr>
          <a:xfrm>
            <a:off x="131400" y="1682363"/>
            <a:ext cx="21633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image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ls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F1C8E-B7A8-B59B-616A-F1A5D0CDF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528D747-C279-30A9-A835-22E5F8244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00" y="5185439"/>
            <a:ext cx="1416264" cy="141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636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DFDDF2-3698-E3AA-72C3-8CFF59A25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72" y="3933056"/>
            <a:ext cx="7772400" cy="2583246"/>
          </a:xfrm>
          <a:prstGeom prst="rect">
            <a:avLst/>
          </a:prstGeom>
        </p:spPr>
      </p:pic>
      <p:sp>
        <p:nvSpPr>
          <p:cNvPr id="23" name="Retângulo 22">
            <a:extLst>
              <a:ext uri="{FF2B5EF4-FFF2-40B4-BE49-F238E27FC236}">
                <a16:creationId xmlns:a16="http://schemas.microsoft.com/office/drawing/2014/main" id="{CCC4385E-7859-F147-9D4C-F9F43381B9CB}"/>
              </a:ext>
            </a:extLst>
          </p:cNvPr>
          <p:cNvSpPr/>
          <p:nvPr/>
        </p:nvSpPr>
        <p:spPr>
          <a:xfrm>
            <a:off x="131400" y="908720"/>
            <a:ext cx="8833088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Como último passo vamos rodar um Container criado por meio de um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Vamos rodar esse Container em modo Interativo e acessar o terminal para verificar se as tarefas foram concluídas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005F8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D1599CF-C526-B540-A3C6-809E5A166878}"/>
              </a:ext>
            </a:extLst>
          </p:cNvPr>
          <p:cNvSpPr/>
          <p:nvPr/>
        </p:nvSpPr>
        <p:spPr>
          <a:xfrm>
            <a:off x="1040125" y="3198167"/>
            <a:ext cx="68767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t>-it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ubuntu_python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5E948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/bin/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5E948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bash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5E948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4DF29C3-DFC1-F94E-9D28-CD91DCE816ED}"/>
              </a:ext>
            </a:extLst>
          </p:cNvPr>
          <p:cNvSpPr/>
          <p:nvPr/>
        </p:nvSpPr>
        <p:spPr>
          <a:xfrm>
            <a:off x="2987824" y="4647326"/>
            <a:ext cx="1296144" cy="288032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8D16C9-C306-E81E-AE79-CD3BE89FF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DAB0AAA-7C70-F52F-0CFE-551039AC9152}"/>
              </a:ext>
            </a:extLst>
          </p:cNvPr>
          <p:cNvSpPr txBox="1"/>
          <p:nvPr/>
        </p:nvSpPr>
        <p:spPr>
          <a:xfrm>
            <a:off x="6565" y="6565612"/>
            <a:ext cx="435781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00">
                <a:solidFill>
                  <a:srgbClr val="FF3399"/>
                </a:solidFill>
              </a:rPr>
              <a:t>Após análise saia do Container com o comando: </a:t>
            </a:r>
            <a:r>
              <a:rPr lang="pt-BR" sz="1300" err="1">
                <a:solidFill>
                  <a:srgbClr val="FF3399"/>
                </a:solidFill>
              </a:rPr>
              <a:t>exit</a:t>
            </a:r>
            <a:endParaRPr lang="pt-BR" sz="1300">
              <a:solidFill>
                <a:srgbClr val="FF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024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66079C05-49F1-C570-AEFF-44AE63DB33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76" y="3881516"/>
            <a:ext cx="4114800" cy="1841500"/>
          </a:xfrm>
          <a:prstGeom prst="rect">
            <a:avLst/>
          </a:prstGeom>
        </p:spPr>
      </p:pic>
      <p:sp>
        <p:nvSpPr>
          <p:cNvPr id="23" name="Retângulo 22">
            <a:extLst>
              <a:ext uri="{FF2B5EF4-FFF2-40B4-BE49-F238E27FC236}">
                <a16:creationId xmlns:a16="http://schemas.microsoft.com/office/drawing/2014/main" id="{CCC4385E-7859-F147-9D4C-F9F43381B9CB}"/>
              </a:ext>
            </a:extLst>
          </p:cNvPr>
          <p:cNvSpPr/>
          <p:nvPr/>
        </p:nvSpPr>
        <p:spPr>
          <a:xfrm>
            <a:off x="155456" y="894783"/>
            <a:ext cx="8833088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Agora vamos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recriar</a:t>
            </a: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a imagem a partir do </a:t>
            </a:r>
            <a:r>
              <a:rPr kumimoji="0" lang="pt-BR" sz="22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alterando com novas solicitações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Cada RUN criará uma etapa na criação da Imagem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Cada camada gerada por ele poderá ser reutilizada na criação de outras Imagens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Altere seu </a:t>
            </a:r>
            <a:r>
              <a:rPr kumimoji="0" lang="pt-BR" sz="22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conforme abaixo adicionando mais uma tarefa, salve e execute novamente o Build</a:t>
            </a:r>
            <a:endParaRPr kumimoji="0" lang="pt-BR" sz="2200" b="1" i="0" u="none" strike="noStrike" kern="1200" cap="none" spc="0" normalizeH="0" baseline="0" noProof="0">
              <a:ln>
                <a:noFill/>
              </a:ln>
              <a:solidFill>
                <a:srgbClr val="005F8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Seta para a Direita 2">
            <a:extLst>
              <a:ext uri="{FF2B5EF4-FFF2-40B4-BE49-F238E27FC236}">
                <a16:creationId xmlns:a16="http://schemas.microsoft.com/office/drawing/2014/main" id="{02B05C7A-A4A7-7840-B367-6F85B8FF183C}"/>
              </a:ext>
            </a:extLst>
          </p:cNvPr>
          <p:cNvSpPr/>
          <p:nvPr/>
        </p:nvSpPr>
        <p:spPr bwMode="auto">
          <a:xfrm>
            <a:off x="611560" y="5383103"/>
            <a:ext cx="360040" cy="360040"/>
          </a:xfrm>
          <a:prstGeom prst="rightArrow">
            <a:avLst/>
          </a:prstGeom>
          <a:solidFill>
            <a:srgbClr val="FF33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7B99226-B713-AF4A-B383-7C84D582EE46}"/>
              </a:ext>
            </a:extLst>
          </p:cNvPr>
          <p:cNvSpPr/>
          <p:nvPr/>
        </p:nvSpPr>
        <p:spPr>
          <a:xfrm>
            <a:off x="351042" y="5946639"/>
            <a:ext cx="43523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 -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ubuntu_python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36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F25718-C95C-825B-679E-8F67CA973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</p:spTree>
    <p:extLst>
      <p:ext uri="{BB962C8B-B14F-4D97-AF65-F5344CB8AC3E}">
        <p14:creationId xmlns:p14="http://schemas.microsoft.com/office/powerpoint/2010/main" val="2657184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AA90B37-B75E-1D9C-9E27-AABE5EE65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06" y="2161610"/>
            <a:ext cx="8691987" cy="4044684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B4FC8725-4569-274E-BA42-85D46236C420}"/>
              </a:ext>
            </a:extLst>
          </p:cNvPr>
          <p:cNvSpPr/>
          <p:nvPr/>
        </p:nvSpPr>
        <p:spPr>
          <a:xfrm>
            <a:off x="131400" y="904652"/>
            <a:ext cx="88330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 comando BUILD consegue reutilizar diversas camadas e isso torna o processo muito mais rápido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5C7C723-44D3-CC43-BABD-1F17BBE8F4DE}"/>
              </a:ext>
            </a:extLst>
          </p:cNvPr>
          <p:cNvSpPr/>
          <p:nvPr/>
        </p:nvSpPr>
        <p:spPr>
          <a:xfrm>
            <a:off x="251520" y="3789040"/>
            <a:ext cx="8496944" cy="576064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43843-F4A1-9220-ED74-0C1C3101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3265D5F-CCDB-0EDF-EF74-50C1B022527B}"/>
              </a:ext>
            </a:extLst>
          </p:cNvPr>
          <p:cNvSpPr/>
          <p:nvPr/>
        </p:nvSpPr>
        <p:spPr>
          <a:xfrm>
            <a:off x="251520" y="4365104"/>
            <a:ext cx="8496944" cy="216024"/>
          </a:xfrm>
          <a:prstGeom prst="rect">
            <a:avLst/>
          </a:prstGeom>
          <a:solidFill>
            <a:srgbClr val="4AB396">
              <a:alpha val="2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0287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60EB775F-B0E2-C148-8AA8-F51921BED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17" y="2724333"/>
            <a:ext cx="8536254" cy="2864907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B4FC8725-4569-274E-BA42-85D46236C420}"/>
              </a:ext>
            </a:extLst>
          </p:cNvPr>
          <p:cNvSpPr/>
          <p:nvPr/>
        </p:nvSpPr>
        <p:spPr>
          <a:xfrm>
            <a:off x="131400" y="904652"/>
            <a:ext cx="8833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Executando um novo Container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FD8FFA-882D-634B-8616-8DA6F01B5069}"/>
              </a:ext>
            </a:extLst>
          </p:cNvPr>
          <p:cNvSpPr/>
          <p:nvPr/>
        </p:nvSpPr>
        <p:spPr>
          <a:xfrm>
            <a:off x="2771800" y="3505344"/>
            <a:ext cx="1224136" cy="216024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56D4097-3288-8346-90E4-6F664FBB3027}"/>
              </a:ext>
            </a:extLst>
          </p:cNvPr>
          <p:cNvSpPr/>
          <p:nvPr/>
        </p:nvSpPr>
        <p:spPr>
          <a:xfrm>
            <a:off x="2771800" y="4156787"/>
            <a:ext cx="648072" cy="216024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731BE73-0833-424B-A6AC-9B3DCDAAE43E}"/>
              </a:ext>
            </a:extLst>
          </p:cNvPr>
          <p:cNvSpPr/>
          <p:nvPr/>
        </p:nvSpPr>
        <p:spPr>
          <a:xfrm>
            <a:off x="341784" y="4372811"/>
            <a:ext cx="3078088" cy="216024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D286B-87A3-A74D-AD3A-48291A8B2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E958F12-E816-6D70-FB18-0144245EFD18}"/>
              </a:ext>
            </a:extLst>
          </p:cNvPr>
          <p:cNvSpPr/>
          <p:nvPr/>
        </p:nvSpPr>
        <p:spPr>
          <a:xfrm>
            <a:off x="999690" y="1786927"/>
            <a:ext cx="68767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t>-it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ubuntu_python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5E948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/bin/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5E948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bash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5E948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93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18EA51A-5DD5-BB44-5ED0-6CF4FC0CD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 – Possibilidades com </a:t>
            </a:r>
            <a:r>
              <a:rPr lang="pt-BR" sz="2000" err="1">
                <a:solidFill>
                  <a:schemeClr val="tx1"/>
                </a:solidFill>
              </a:rPr>
              <a:t>DockerFile</a:t>
            </a:r>
          </a:p>
        </p:txBody>
      </p:sp>
      <p:pic>
        <p:nvPicPr>
          <p:cNvPr id="12" name="Imagem 11" descr="Texto&#10;&#10;Descrição gerada automaticamente">
            <a:extLst>
              <a:ext uri="{FF2B5EF4-FFF2-40B4-BE49-F238E27FC236}">
                <a16:creationId xmlns:a16="http://schemas.microsoft.com/office/drawing/2014/main" id="{5B422FD0-A8F1-BF2D-500E-EBED0C413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16" y="928499"/>
            <a:ext cx="11386089" cy="425018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9CA41A7-1AF0-4B2A-986B-2CF0D3A56232}"/>
              </a:ext>
            </a:extLst>
          </p:cNvPr>
          <p:cNvSpPr txBox="1"/>
          <p:nvPr/>
        </p:nvSpPr>
        <p:spPr>
          <a:xfrm>
            <a:off x="203560" y="5526789"/>
            <a:ext cx="86399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https://docs.docker.com/reference/dockerfile/#understand-how-cmd-and-entrypoint-interact</a:t>
            </a:r>
          </a:p>
        </p:txBody>
      </p:sp>
    </p:spTree>
    <p:extLst>
      <p:ext uri="{BB962C8B-B14F-4D97-AF65-F5344CB8AC3E}">
        <p14:creationId xmlns:p14="http://schemas.microsoft.com/office/powerpoint/2010/main" val="2040899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FC8725-4569-274E-BA42-85D46236C420}"/>
              </a:ext>
            </a:extLst>
          </p:cNvPr>
          <p:cNvSpPr/>
          <p:nvPr/>
        </p:nvSpPr>
        <p:spPr>
          <a:xfrm>
            <a:off x="131400" y="879103"/>
            <a:ext cx="8833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Exemplos de outros comandos no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2604203-124D-A640-8B27-057367ED0F8C}"/>
              </a:ext>
            </a:extLst>
          </p:cNvPr>
          <p:cNvSpPr/>
          <p:nvPr/>
        </p:nvSpPr>
        <p:spPr>
          <a:xfrm>
            <a:off x="539552" y="1412776"/>
            <a:ext cx="2016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WORKDIR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DF41C44-FBC1-9B45-951A-A11579E4D261}"/>
              </a:ext>
            </a:extLst>
          </p:cNvPr>
          <p:cNvSpPr/>
          <p:nvPr/>
        </p:nvSpPr>
        <p:spPr>
          <a:xfrm>
            <a:off x="683568" y="1844824"/>
            <a:ext cx="835292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Define o ambiente de trabalho no Container, onde as instruções CMD, RUN, ENTRYPOINT, ADD </a:t>
            </a:r>
            <a:r>
              <a:rPr kumimoji="0" lang="pt-BR" sz="22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etc</a:t>
            </a: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executarão suas tarefas, além de definir o diretório padrão que será aberto ao executarmos o Container no modo Interativo (</a:t>
            </a: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-it</a:t>
            </a: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)</a:t>
            </a:r>
            <a:endParaRPr kumimoji="0" lang="pt-BR" sz="2200" b="1" i="0" u="none" strike="noStrike" kern="1200" cap="none" spc="0" normalizeH="0" baseline="0" noProof="0">
              <a:ln>
                <a:noFill/>
              </a:ln>
              <a:solidFill>
                <a:srgbClr val="005F8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CBEAE9D-24BB-D146-9E0F-BD31BF49D220}"/>
              </a:ext>
            </a:extLst>
          </p:cNvPr>
          <p:cNvSpPr/>
          <p:nvPr/>
        </p:nvSpPr>
        <p:spPr>
          <a:xfrm>
            <a:off x="700534" y="4237814"/>
            <a:ext cx="4820405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ubuntu:18.04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WORKDIR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/app-java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3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arquivo-host.json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3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arquivo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-host-</a:t>
            </a:r>
            <a:r>
              <a:rPr kumimoji="0" lang="en-US" sz="13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transferido.json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D0F6639-ACE9-AC80-F00C-2A656AE56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7EF823E-0478-4A2D-1FFE-949BCA3289E7}"/>
              </a:ext>
            </a:extLst>
          </p:cNvPr>
          <p:cNvSpPr/>
          <p:nvPr/>
        </p:nvSpPr>
        <p:spPr>
          <a:xfrm>
            <a:off x="683568" y="3387772"/>
            <a:ext cx="539051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Crie o arquivo no seu Host, no Terminal execute: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500" b="0" i="0" u="none" strike="noStrike" kern="1200" cap="none" spc="0" normalizeH="0" baseline="0" noProof="0" dirty="0">
              <a:ln>
                <a:noFill/>
              </a:ln>
              <a:solidFill>
                <a:srgbClr val="005F8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echo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{ "nome": "Robert Plant",  "banda": "Led Zeppelin" } &gt; arquivo-</a:t>
            </a: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host.json</a:t>
            </a:r>
            <a:endParaRPr kumimoji="0" lang="pt-BR" sz="1300" b="0" i="0" u="none" strike="noStrike" kern="1200" cap="none" spc="0" normalizeH="0" baseline="0" noProof="0" dirty="0">
              <a:ln>
                <a:noFill/>
              </a:ln>
              <a:solidFill>
                <a:srgbClr val="005F8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BEE57A2-7A0E-EF54-4E48-D5107C13F1CB}"/>
              </a:ext>
            </a:extLst>
          </p:cNvPr>
          <p:cNvSpPr/>
          <p:nvPr/>
        </p:nvSpPr>
        <p:spPr>
          <a:xfrm>
            <a:off x="255651" y="5611076"/>
            <a:ext cx="28761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 -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teste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99ADDEC-EC6F-F65C-6D74-7A157CAA6529}"/>
              </a:ext>
            </a:extLst>
          </p:cNvPr>
          <p:cNvSpPr/>
          <p:nvPr/>
        </p:nvSpPr>
        <p:spPr>
          <a:xfrm>
            <a:off x="255651" y="6144749"/>
            <a:ext cx="72686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--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name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testeworkdir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t>-it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teste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5E948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bash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5E948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451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FC8725-4569-274E-BA42-85D46236C420}"/>
              </a:ext>
            </a:extLst>
          </p:cNvPr>
          <p:cNvSpPr/>
          <p:nvPr/>
        </p:nvSpPr>
        <p:spPr>
          <a:xfrm>
            <a:off x="131400" y="879103"/>
            <a:ext cx="8833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Exemplos de outros comandos no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BDE869F-66A5-E340-ADAD-C2891E86E0C1}"/>
              </a:ext>
            </a:extLst>
          </p:cNvPr>
          <p:cNvSpPr/>
          <p:nvPr/>
        </p:nvSpPr>
        <p:spPr>
          <a:xfrm>
            <a:off x="539552" y="1412776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sng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ADD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/ COPY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2A31393-958F-0A4C-8CE6-EABA6E1015D9}"/>
              </a:ext>
            </a:extLst>
          </p:cNvPr>
          <p:cNvSpPr/>
          <p:nvPr/>
        </p:nvSpPr>
        <p:spPr>
          <a:xfrm>
            <a:off x="683568" y="1795463"/>
            <a:ext cx="835292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Faz a cópia de um arquivo, diretório ou até mesmo fazer o download de uma URL de nossa máquina host e inserir dentro da imagem (ADD)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FB962B7-DDA8-424F-A4DA-842EBF673B08}"/>
              </a:ext>
            </a:extLst>
          </p:cNvPr>
          <p:cNvSpPr/>
          <p:nvPr/>
        </p:nvSpPr>
        <p:spPr>
          <a:xfrm>
            <a:off x="860223" y="2784069"/>
            <a:ext cx="472903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pt-BR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ubuntu</a:t>
            </a:r>
            <a:r>
              <a:rPr lang="pt-BR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pt-BR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18.04</a:t>
            </a:r>
            <a:endParaRPr lang="pt-BR" sz="1200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pt-BR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pt-BR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RUN</a:t>
            </a:r>
            <a:r>
              <a:rPr lang="pt-BR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sz="1200" b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apt-get</a:t>
            </a:r>
            <a:r>
              <a:rPr lang="pt-BR" sz="1200" b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 update -</a:t>
            </a:r>
            <a:r>
              <a:rPr lang="pt-BR" sz="1200" b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y</a:t>
            </a:r>
            <a:endParaRPr lang="pt-BR" sz="1200" b="0">
              <a:solidFill>
                <a:schemeClr val="tx1"/>
              </a:solidFill>
              <a:effectLst/>
              <a:latin typeface="Menlo" panose="020B0609030804020204" pitchFamily="49" charset="0"/>
            </a:endParaRPr>
          </a:p>
          <a:p>
            <a:r>
              <a:rPr lang="pt-BR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RUN</a:t>
            </a:r>
            <a:r>
              <a:rPr lang="pt-BR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sz="1200" b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apt-get</a:t>
            </a:r>
            <a:r>
              <a:rPr lang="pt-BR" sz="1200" b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sz="1200" b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install</a:t>
            </a:r>
            <a:r>
              <a:rPr lang="pt-BR" sz="1200" b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sz="1200" b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npm</a:t>
            </a:r>
            <a:r>
              <a:rPr lang="pt-BR" sz="1200" b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 -</a:t>
            </a:r>
            <a:r>
              <a:rPr lang="pt-BR" sz="1200" b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y</a:t>
            </a:r>
            <a:endParaRPr lang="pt-BR" sz="1200" b="0">
              <a:solidFill>
                <a:schemeClr val="tx1"/>
              </a:solidFill>
              <a:effectLst/>
              <a:latin typeface="Menlo" panose="020B0609030804020204" pitchFamily="49" charset="0"/>
            </a:endParaRPr>
          </a:p>
          <a:p>
            <a:br>
              <a:rPr lang="pt-BR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pt-BR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ADD</a:t>
            </a:r>
            <a:r>
              <a:rPr lang="pt-BR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sz="1200" b="0" err="1">
                <a:solidFill>
                  <a:srgbClr val="FF0066"/>
                </a:solidFill>
                <a:effectLst/>
                <a:latin typeface="Menlo" panose="020B0609030804020204" pitchFamily="49" charset="0"/>
              </a:rPr>
              <a:t>Dockerfile</a:t>
            </a:r>
            <a:r>
              <a:rPr lang="pt-BR" sz="1200" b="0">
                <a:solidFill>
                  <a:srgbClr val="FF0066"/>
                </a:solidFill>
                <a:effectLst/>
                <a:latin typeface="Menlo" panose="020B0609030804020204" pitchFamily="49" charset="0"/>
              </a:rPr>
              <a:t> /root/arquivo-host-</a:t>
            </a:r>
            <a:r>
              <a:rPr lang="pt-BR" sz="1200" b="0" err="1">
                <a:solidFill>
                  <a:srgbClr val="FF0066"/>
                </a:solidFill>
                <a:effectLst/>
                <a:latin typeface="Menlo" panose="020B0609030804020204" pitchFamily="49" charset="0"/>
              </a:rPr>
              <a:t>transferido.txt</a:t>
            </a:r>
            <a:endParaRPr lang="pt-BR" sz="1200" b="0">
              <a:solidFill>
                <a:srgbClr val="FF0066"/>
              </a:solidFill>
              <a:effectLst/>
              <a:latin typeface="Menlo" panose="020B0609030804020204" pitchFamily="49" charset="0"/>
            </a:endParaRPr>
          </a:p>
          <a:p>
            <a:endParaRPr lang="pt-BR" sz="1800">
              <a:solidFill>
                <a:srgbClr val="FF0066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2C7527B-B280-B14A-B23A-9166BEBFD9F3}"/>
              </a:ext>
            </a:extLst>
          </p:cNvPr>
          <p:cNvSpPr/>
          <p:nvPr/>
        </p:nvSpPr>
        <p:spPr>
          <a:xfrm>
            <a:off x="5868144" y="3712676"/>
            <a:ext cx="234140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1" i="0" u="none" strike="noStrike" kern="1200" cap="none" spc="0" normalizeH="0" baseline="0" noProof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Direção: Host -&gt; </a:t>
            </a:r>
            <a:r>
              <a:rPr kumimoji="0" lang="pt-BR" sz="13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Container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18EA51A-5DD5-BB44-5ED0-6CF4FC0CD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43D1A55E-BCFB-3A46-5D76-32B61DDD77EA}"/>
              </a:ext>
            </a:extLst>
          </p:cNvPr>
          <p:cNvCxnSpPr>
            <a:cxnSpLocks/>
          </p:cNvCxnSpPr>
          <p:nvPr/>
        </p:nvCxnSpPr>
        <p:spPr bwMode="auto">
          <a:xfrm>
            <a:off x="5652120" y="3854874"/>
            <a:ext cx="275657" cy="0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D8895022-6899-836B-F290-99F3ABA4FB0F}"/>
              </a:ext>
            </a:extLst>
          </p:cNvPr>
          <p:cNvSpPr/>
          <p:nvPr/>
        </p:nvSpPr>
        <p:spPr>
          <a:xfrm>
            <a:off x="336474" y="4623300"/>
            <a:ext cx="43523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 -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teste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04A4724-47CC-EB5F-A217-264D3B95ED40}"/>
              </a:ext>
            </a:extLst>
          </p:cNvPr>
          <p:cNvSpPr/>
          <p:nvPr/>
        </p:nvSpPr>
        <p:spPr>
          <a:xfrm>
            <a:off x="336474" y="5333127"/>
            <a:ext cx="74758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--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name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testeadd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t>-it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teste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5E948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/bin/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5E948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bash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5E948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2904025-C440-50EC-706F-FDFC1BA552DA}"/>
              </a:ext>
            </a:extLst>
          </p:cNvPr>
          <p:cNvSpPr txBox="1"/>
          <p:nvPr/>
        </p:nvSpPr>
        <p:spPr>
          <a:xfrm>
            <a:off x="6565" y="6565612"/>
            <a:ext cx="787780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00">
                <a:solidFill>
                  <a:srgbClr val="FF3399"/>
                </a:solidFill>
              </a:rPr>
              <a:t>Execute o comando </a:t>
            </a:r>
            <a:r>
              <a:rPr lang="pt-BR" sz="1300" err="1">
                <a:solidFill>
                  <a:srgbClr val="FF3399"/>
                </a:solidFill>
              </a:rPr>
              <a:t>npm</a:t>
            </a:r>
            <a:r>
              <a:rPr lang="pt-BR" sz="1300">
                <a:solidFill>
                  <a:srgbClr val="FF3399"/>
                </a:solidFill>
              </a:rPr>
              <a:t> -</a:t>
            </a:r>
            <a:r>
              <a:rPr lang="pt-BR" sz="1300" err="1">
                <a:solidFill>
                  <a:srgbClr val="FF3399"/>
                </a:solidFill>
              </a:rPr>
              <a:t>v</a:t>
            </a:r>
            <a:r>
              <a:rPr lang="pt-BR" sz="1300">
                <a:solidFill>
                  <a:srgbClr val="FF3399"/>
                </a:solidFill>
              </a:rPr>
              <a:t> para verificar a instalação, e após, </a:t>
            </a:r>
            <a:r>
              <a:rPr lang="pt-BR" sz="1300" err="1">
                <a:solidFill>
                  <a:srgbClr val="FF3399"/>
                </a:solidFill>
              </a:rPr>
              <a:t>exit</a:t>
            </a:r>
            <a:r>
              <a:rPr lang="pt-BR" sz="1300">
                <a:solidFill>
                  <a:srgbClr val="FF3399"/>
                </a:solidFill>
              </a:rPr>
              <a:t>, para sair do Container</a:t>
            </a:r>
          </a:p>
        </p:txBody>
      </p:sp>
    </p:spTree>
    <p:extLst>
      <p:ext uri="{BB962C8B-B14F-4D97-AF65-F5344CB8AC3E}">
        <p14:creationId xmlns:p14="http://schemas.microsoft.com/office/powerpoint/2010/main" val="3046057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FC8725-4569-274E-BA42-85D46236C420}"/>
              </a:ext>
            </a:extLst>
          </p:cNvPr>
          <p:cNvSpPr/>
          <p:nvPr/>
        </p:nvSpPr>
        <p:spPr>
          <a:xfrm>
            <a:off x="131400" y="879103"/>
            <a:ext cx="8833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Exemplos de outros comandos no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2604203-124D-A640-8B27-057367ED0F8C}"/>
              </a:ext>
            </a:extLst>
          </p:cNvPr>
          <p:cNvSpPr/>
          <p:nvPr/>
        </p:nvSpPr>
        <p:spPr>
          <a:xfrm>
            <a:off x="539552" y="1311151"/>
            <a:ext cx="11521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EXPOSE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BD9DF3C-A83F-CD4C-B7D9-7E9B2190B520}"/>
              </a:ext>
            </a:extLst>
          </p:cNvPr>
          <p:cNvSpPr/>
          <p:nvPr/>
        </p:nvSpPr>
        <p:spPr>
          <a:xfrm>
            <a:off x="683568" y="1700808"/>
            <a:ext cx="835292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Expõe uma porta específica com um protocolo especificado dentro de um </a:t>
            </a:r>
            <a:r>
              <a:rPr kumimoji="0" lang="pt-BR" sz="22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41BA869-7193-1741-86E7-00DC052ED9BC}"/>
              </a:ext>
            </a:extLst>
          </p:cNvPr>
          <p:cNvSpPr/>
          <p:nvPr/>
        </p:nvSpPr>
        <p:spPr>
          <a:xfrm>
            <a:off x="899592" y="2492896"/>
            <a:ext cx="187220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ubuntu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EXPOSE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80/</a:t>
            </a: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tcp</a:t>
            </a: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EXPOSE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80/</a:t>
            </a: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udp</a:t>
            </a: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18EA51A-5DD5-BB44-5ED0-6CF4FC0CD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EAB8FD4-59AD-FBA2-1CED-48CEE114B588}"/>
              </a:ext>
            </a:extLst>
          </p:cNvPr>
          <p:cNvSpPr/>
          <p:nvPr/>
        </p:nvSpPr>
        <p:spPr>
          <a:xfrm>
            <a:off x="339698" y="3430161"/>
            <a:ext cx="43523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 -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teste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573D780-F2AB-C6C7-6388-26D1086AA05F}"/>
              </a:ext>
            </a:extLst>
          </p:cNvPr>
          <p:cNvSpPr/>
          <p:nvPr/>
        </p:nvSpPr>
        <p:spPr>
          <a:xfrm>
            <a:off x="339698" y="3789040"/>
            <a:ext cx="50276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image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inspect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--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format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=''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teste</a:t>
            </a:r>
            <a:endParaRPr kumimoji="0" lang="pt-BR" sz="2200" b="1" i="0" u="none" strike="noStrike" kern="1200" cap="none" spc="0" normalizeH="0" baseline="0" noProof="0">
              <a:ln>
                <a:noFill/>
              </a:ln>
              <a:solidFill>
                <a:srgbClr val="5E948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3A643EF-6A6A-22ED-874A-489226F965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26" y="4221088"/>
            <a:ext cx="5811858" cy="163044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FA406AA-BE44-075B-19F0-0258F68CB2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26" y="6219397"/>
            <a:ext cx="5309150" cy="461665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540679D9-DC96-6160-90BC-8C687A7A0C2A}"/>
              </a:ext>
            </a:extLst>
          </p:cNvPr>
          <p:cNvSpPr/>
          <p:nvPr/>
        </p:nvSpPr>
        <p:spPr>
          <a:xfrm>
            <a:off x="329900" y="5820020"/>
            <a:ext cx="721088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--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name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testeexpose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rebuchet MS" panose="020B0703020202090204" pitchFamily="34" charset="0"/>
                <a:ea typeface="+mn-ea"/>
                <a:cs typeface="+mn-cs"/>
              </a:rPr>
              <a:t>-it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teste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5E948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bash</a:t>
            </a:r>
            <a:endParaRPr kumimoji="0" lang="pt-BR" sz="2200" b="1" i="0" u="none" strike="noStrike" kern="1200" cap="none" spc="0" normalizeH="0" baseline="0" noProof="0">
              <a:ln>
                <a:noFill/>
              </a:ln>
              <a:solidFill>
                <a:srgbClr val="5E948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41A3478-1223-BFCF-953C-CBAF617C899B}"/>
              </a:ext>
            </a:extLst>
          </p:cNvPr>
          <p:cNvSpPr/>
          <p:nvPr/>
        </p:nvSpPr>
        <p:spPr>
          <a:xfrm>
            <a:off x="1402095" y="5150708"/>
            <a:ext cx="1512168" cy="513118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97DC8E6-B700-82C2-AD16-0E22DFEFA69D}"/>
              </a:ext>
            </a:extLst>
          </p:cNvPr>
          <p:cNvSpPr/>
          <p:nvPr/>
        </p:nvSpPr>
        <p:spPr>
          <a:xfrm>
            <a:off x="4214861" y="6290542"/>
            <a:ext cx="862543" cy="285188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637D928-315E-BAAD-41B0-CC4F1389BA83}"/>
              </a:ext>
            </a:extLst>
          </p:cNvPr>
          <p:cNvSpPr txBox="1"/>
          <p:nvPr/>
        </p:nvSpPr>
        <p:spPr>
          <a:xfrm>
            <a:off x="5751147" y="6450229"/>
            <a:ext cx="170117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00">
                <a:solidFill>
                  <a:srgbClr val="FF3399"/>
                </a:solidFill>
              </a:rPr>
              <a:t>Em outro Terminal</a:t>
            </a:r>
          </a:p>
        </p:txBody>
      </p:sp>
    </p:spTree>
    <p:extLst>
      <p:ext uri="{BB962C8B-B14F-4D97-AF65-F5344CB8AC3E}">
        <p14:creationId xmlns:p14="http://schemas.microsoft.com/office/powerpoint/2010/main" val="4116849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FC8725-4569-274E-BA42-85D46236C420}"/>
              </a:ext>
            </a:extLst>
          </p:cNvPr>
          <p:cNvSpPr/>
          <p:nvPr/>
        </p:nvSpPr>
        <p:spPr>
          <a:xfrm>
            <a:off x="131400" y="879103"/>
            <a:ext cx="8833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Exemplos de outros comandos no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2604203-124D-A640-8B27-057367ED0F8C}"/>
              </a:ext>
            </a:extLst>
          </p:cNvPr>
          <p:cNvSpPr/>
          <p:nvPr/>
        </p:nvSpPr>
        <p:spPr>
          <a:xfrm>
            <a:off x="539552" y="1412776"/>
            <a:ext cx="11521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EXPOSE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DF41C44-FBC1-9B45-951A-A11579E4D261}"/>
              </a:ext>
            </a:extLst>
          </p:cNvPr>
          <p:cNvSpPr/>
          <p:nvPr/>
        </p:nvSpPr>
        <p:spPr>
          <a:xfrm>
            <a:off x="627728" y="1996098"/>
            <a:ext cx="83529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É importante entender que a instrução EXPOSE atua apenas como uma plataforma de informações (como Documentação) entre o criador da imagem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e o indivíduo que executa o Container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Esse comando não faz a publicação da porta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005F8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8DFFC4E-8B92-BB48-8168-755DD06A2AEF}"/>
              </a:ext>
            </a:extLst>
          </p:cNvPr>
          <p:cNvSpPr/>
          <p:nvPr/>
        </p:nvSpPr>
        <p:spPr>
          <a:xfrm>
            <a:off x="179512" y="4014064"/>
            <a:ext cx="8674680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Podemos usar o protocolo TCP ou UDP para expor a porta (Padrão TCP)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endParaRPr kumimoji="0" lang="pt-BR" sz="7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Não mapeia portas na máquina Host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endParaRPr kumimoji="0" lang="pt-BR" sz="7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Pode ser substituído usando o sinalizador de publicação (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) ao iniciar um Container (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)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005F8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4E4E3F-ECFB-BDDA-06E4-57FC87415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</p:spTree>
    <p:extLst>
      <p:ext uri="{BB962C8B-B14F-4D97-AF65-F5344CB8AC3E}">
        <p14:creationId xmlns:p14="http://schemas.microsoft.com/office/powerpoint/2010/main" val="440625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FC8725-4569-274E-BA42-85D46236C420}"/>
              </a:ext>
            </a:extLst>
          </p:cNvPr>
          <p:cNvSpPr/>
          <p:nvPr/>
        </p:nvSpPr>
        <p:spPr>
          <a:xfrm>
            <a:off x="131400" y="879103"/>
            <a:ext cx="8833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Exemplos de outros comandos,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via DOCKER RUN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2604203-124D-A640-8B27-057367ED0F8C}"/>
              </a:ext>
            </a:extLst>
          </p:cNvPr>
          <p:cNvSpPr/>
          <p:nvPr/>
        </p:nvSpPr>
        <p:spPr>
          <a:xfrm>
            <a:off x="539552" y="1412776"/>
            <a:ext cx="11521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EXPOSE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7F1B9CC-084B-1F43-964F-5599D57F856D}"/>
              </a:ext>
            </a:extLst>
          </p:cNvPr>
          <p:cNvSpPr/>
          <p:nvPr/>
        </p:nvSpPr>
        <p:spPr>
          <a:xfrm>
            <a:off x="755576" y="1844824"/>
            <a:ext cx="75608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Exemplo com sinalizador de publicação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B9F490A-BE98-0B41-8836-FF5BCD3DE807}"/>
              </a:ext>
            </a:extLst>
          </p:cNvPr>
          <p:cNvSpPr/>
          <p:nvPr/>
        </p:nvSpPr>
        <p:spPr>
          <a:xfrm>
            <a:off x="1068428" y="2276872"/>
            <a:ext cx="7188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--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name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nginx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-server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80:80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nginx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BF96E72-D2C2-7741-9224-4A7EF1637954}"/>
              </a:ext>
            </a:extLst>
          </p:cNvPr>
          <p:cNvSpPr/>
          <p:nvPr/>
        </p:nvSpPr>
        <p:spPr>
          <a:xfrm>
            <a:off x="2519772" y="5589240"/>
            <a:ext cx="4104456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700" b="1" i="0" u="sng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Acesse seu Web Browser em -&gt; localhost:80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5BCE8F9-FABB-6F48-B54B-10505908C941}"/>
              </a:ext>
            </a:extLst>
          </p:cNvPr>
          <p:cNvSpPr/>
          <p:nvPr/>
        </p:nvSpPr>
        <p:spPr>
          <a:xfrm>
            <a:off x="131400" y="5978897"/>
            <a:ext cx="42322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stop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nginx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-server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8DA7D14-D356-2046-81A0-BDA760975945}"/>
              </a:ext>
            </a:extLst>
          </p:cNvPr>
          <p:cNvSpPr/>
          <p:nvPr/>
        </p:nvSpPr>
        <p:spPr>
          <a:xfrm>
            <a:off x="6778175" y="2660313"/>
            <a:ext cx="2310957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1" i="0" u="none" strike="noStrike" kern="1200" cap="none" spc="0" normalizeH="0" baseline="0" noProof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Direção: Host -&gt; Container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C3D37F5-370F-C24D-9E3E-255653F47851}"/>
              </a:ext>
            </a:extLst>
          </p:cNvPr>
          <p:cNvSpPr/>
          <p:nvPr/>
        </p:nvSpPr>
        <p:spPr>
          <a:xfrm>
            <a:off x="131400" y="6402162"/>
            <a:ext cx="405540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rm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nginx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-server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720EBA-6069-E152-60C6-E1584422C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cxnSp>
        <p:nvCxnSpPr>
          <p:cNvPr id="4" name="Conector em Curva 3">
            <a:extLst>
              <a:ext uri="{FF2B5EF4-FFF2-40B4-BE49-F238E27FC236}">
                <a16:creationId xmlns:a16="http://schemas.microsoft.com/office/drawing/2014/main" id="{6360C8FD-28A4-FA0B-C1A2-316F439F297A}"/>
              </a:ext>
            </a:extLst>
          </p:cNvPr>
          <p:cNvCxnSpPr>
            <a:cxnSpLocks/>
          </p:cNvCxnSpPr>
          <p:nvPr/>
        </p:nvCxnSpPr>
        <p:spPr bwMode="auto">
          <a:xfrm>
            <a:off x="6174147" y="2709855"/>
            <a:ext cx="630101" cy="96652"/>
          </a:xfrm>
          <a:prstGeom prst="curvedConnector3">
            <a:avLst>
              <a:gd name="adj1" fmla="val -1956"/>
            </a:avLst>
          </a:prstGeom>
          <a:solidFill>
            <a:schemeClr val="accent1"/>
          </a:solidFill>
          <a:ln w="444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4" name="Imagem 23">
            <a:extLst>
              <a:ext uri="{FF2B5EF4-FFF2-40B4-BE49-F238E27FC236}">
                <a16:creationId xmlns:a16="http://schemas.microsoft.com/office/drawing/2014/main" id="{1055FFF2-00F8-9600-983E-C926C2C43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269" y="2996952"/>
            <a:ext cx="7265462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1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FC8725-4569-274E-BA42-85D46236C420}"/>
              </a:ext>
            </a:extLst>
          </p:cNvPr>
          <p:cNvSpPr/>
          <p:nvPr/>
        </p:nvSpPr>
        <p:spPr>
          <a:xfrm>
            <a:off x="131400" y="879103"/>
            <a:ext cx="8833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Exemplos de outros comandos no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2604203-124D-A640-8B27-057367ED0F8C}"/>
              </a:ext>
            </a:extLst>
          </p:cNvPr>
          <p:cNvSpPr/>
          <p:nvPr/>
        </p:nvSpPr>
        <p:spPr>
          <a:xfrm>
            <a:off x="539552" y="1412776"/>
            <a:ext cx="1800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CMD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DF41C44-FBC1-9B45-951A-A11579E4D261}"/>
              </a:ext>
            </a:extLst>
          </p:cNvPr>
          <p:cNvSpPr/>
          <p:nvPr/>
        </p:nvSpPr>
        <p:spPr>
          <a:xfrm>
            <a:off x="683568" y="1844824"/>
            <a:ext cx="8352928" cy="1677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Usado para definir um comando padrão que é executado assim que você executa o Container, não no Build da Imagem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7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 caso de vários comandos CMD, apenas o último é executado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BF474-6C73-0BFD-064D-A987CD64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sp>
        <p:nvSpPr>
          <p:cNvPr id="9" name="Retângulo 3">
            <a:extLst>
              <a:ext uri="{FF2B5EF4-FFF2-40B4-BE49-F238E27FC236}">
                <a16:creationId xmlns:a16="http://schemas.microsoft.com/office/drawing/2014/main" id="{309CEDCB-4A52-4FCD-AEB7-57318C7F5088}"/>
              </a:ext>
            </a:extLst>
          </p:cNvPr>
          <p:cNvSpPr/>
          <p:nvPr/>
        </p:nvSpPr>
        <p:spPr>
          <a:xfrm>
            <a:off x="707813" y="3842610"/>
            <a:ext cx="309634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alpine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CMD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"echo"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Rodei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execução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F02E817-5FC3-342D-A7E7-898EDDD40C7D}"/>
              </a:ext>
            </a:extLst>
          </p:cNvPr>
          <p:cNvSpPr/>
          <p:nvPr/>
        </p:nvSpPr>
        <p:spPr>
          <a:xfrm>
            <a:off x="315549" y="5548010"/>
            <a:ext cx="490452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2AE4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--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2AE4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rm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testecmd</a:t>
            </a:r>
            <a:endParaRPr kumimoji="0" lang="pt-BR" sz="2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2822C0D-19B9-1BA1-1C78-194C25D4AAD4}"/>
              </a:ext>
            </a:extLst>
          </p:cNvPr>
          <p:cNvSpPr/>
          <p:nvPr/>
        </p:nvSpPr>
        <p:spPr>
          <a:xfrm>
            <a:off x="315549" y="5014337"/>
            <a:ext cx="375239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 -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testecmd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8B75FAC-A268-8C6F-6937-0F8CBB3C7C98}"/>
              </a:ext>
            </a:extLst>
          </p:cNvPr>
          <p:cNvSpPr txBox="1"/>
          <p:nvPr/>
        </p:nvSpPr>
        <p:spPr>
          <a:xfrm>
            <a:off x="3419872" y="6330339"/>
            <a:ext cx="479891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300">
                <a:solidFill>
                  <a:srgbClr val="FF0066"/>
                </a:solidFill>
              </a:rPr>
              <a:t>O Docker limpa automaticamente o Container e remova o sistema de arquivos quando for encerrado</a:t>
            </a:r>
            <a:endParaRPr lang="pt-BR" sz="1300">
              <a:solidFill>
                <a:srgbClr val="FF0066"/>
              </a:solidFill>
            </a:endParaRPr>
          </a:p>
        </p:txBody>
      </p:sp>
      <p:cxnSp>
        <p:nvCxnSpPr>
          <p:cNvPr id="7" name="Conector em Curva 6">
            <a:extLst>
              <a:ext uri="{FF2B5EF4-FFF2-40B4-BE49-F238E27FC236}">
                <a16:creationId xmlns:a16="http://schemas.microsoft.com/office/drawing/2014/main" id="{97736E79-AD4D-2F15-DE3C-93B803040E37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3188751" y="5993995"/>
            <a:ext cx="390235" cy="360040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444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001844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FC8725-4569-274E-BA42-85D46236C420}"/>
              </a:ext>
            </a:extLst>
          </p:cNvPr>
          <p:cNvSpPr/>
          <p:nvPr/>
        </p:nvSpPr>
        <p:spPr>
          <a:xfrm>
            <a:off x="131400" y="879103"/>
            <a:ext cx="8833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Exemplos de outros comandos no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2604203-124D-A640-8B27-057367ED0F8C}"/>
              </a:ext>
            </a:extLst>
          </p:cNvPr>
          <p:cNvSpPr/>
          <p:nvPr/>
        </p:nvSpPr>
        <p:spPr>
          <a:xfrm>
            <a:off x="539552" y="1412776"/>
            <a:ext cx="1800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CMD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BF474-6C73-0BFD-064D-A987CD64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D02E5C0-90A8-A8D2-679F-0432CCC617D9}"/>
              </a:ext>
            </a:extLst>
          </p:cNvPr>
          <p:cNvSpPr/>
          <p:nvPr/>
        </p:nvSpPr>
        <p:spPr>
          <a:xfrm>
            <a:off x="72696" y="3451406"/>
            <a:ext cx="896448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git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clone https://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github.com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profjoaomenk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/Docker-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NodeJs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HelloWorld.git</a:t>
            </a:r>
            <a:endParaRPr kumimoji="0" lang="pt-BR" sz="22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D80DD3C-6C1A-1984-8AEE-62ACD876CB50}"/>
              </a:ext>
            </a:extLst>
          </p:cNvPr>
          <p:cNvSpPr/>
          <p:nvPr/>
        </p:nvSpPr>
        <p:spPr>
          <a:xfrm>
            <a:off x="89756" y="4641213"/>
            <a:ext cx="391846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 -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nodehelloworld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52A2564-3CC0-2620-EC43-9ABA3D29614F}"/>
              </a:ext>
            </a:extLst>
          </p:cNvPr>
          <p:cNvSpPr/>
          <p:nvPr/>
        </p:nvSpPr>
        <p:spPr>
          <a:xfrm>
            <a:off x="85173" y="4042264"/>
            <a:ext cx="367240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cd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Docker-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NodeJs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HelloWorld</a:t>
            </a:r>
            <a:endParaRPr kumimoji="0" lang="pt-BR" sz="22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257E58D-DF74-CFAF-FCB0-FB06BBABD84F}"/>
              </a:ext>
            </a:extLst>
          </p:cNvPr>
          <p:cNvSpPr/>
          <p:nvPr/>
        </p:nvSpPr>
        <p:spPr>
          <a:xfrm>
            <a:off x="85173" y="5174886"/>
            <a:ext cx="84884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kumimoji="0" lang="pt-BR" sz="2400" b="1" i="0" u="none" strike="noStrike" kern="1200" cap="none" spc="0" normalizeH="0" baseline="0" noProof="0" err="1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3030:3030 --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name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apphello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nodehelloworld</a:t>
            </a:r>
            <a:endParaRPr kumimoji="0" lang="pt-BR" sz="22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398AB47-5326-F0FE-EAB7-5E000597CFDE}"/>
              </a:ext>
            </a:extLst>
          </p:cNvPr>
          <p:cNvSpPr/>
          <p:nvPr/>
        </p:nvSpPr>
        <p:spPr>
          <a:xfrm>
            <a:off x="85173" y="5708559"/>
            <a:ext cx="37860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stop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apphello</a:t>
            </a:r>
            <a:endParaRPr kumimoji="0" lang="pt-BR" sz="22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F362E87-DA2A-6622-4D04-302DF8E03386}"/>
              </a:ext>
            </a:extLst>
          </p:cNvPr>
          <p:cNvSpPr/>
          <p:nvPr/>
        </p:nvSpPr>
        <p:spPr>
          <a:xfrm>
            <a:off x="104816" y="6238473"/>
            <a:ext cx="393803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start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apphello</a:t>
            </a:r>
            <a:endParaRPr kumimoji="0" lang="pt-BR" sz="22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8A9082E-17B0-0D4E-837F-D1260CA32F55}"/>
              </a:ext>
            </a:extLst>
          </p:cNvPr>
          <p:cNvSpPr/>
          <p:nvPr/>
        </p:nvSpPr>
        <p:spPr>
          <a:xfrm>
            <a:off x="683568" y="1844824"/>
            <a:ext cx="4962060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Exemplo de App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Hello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Word com CMD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7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Clonar o Repositório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Entrar no diretório criado pelo </a:t>
            </a:r>
            <a:r>
              <a:rPr kumimoji="0" lang="pt-BR" sz="11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Git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Criar a Imagem do Docker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Rodar o Container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Parar e Iniciar novamente o Container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E767FCF-47BD-BDD2-B780-05A93FDC6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628" y="1643608"/>
            <a:ext cx="3316131" cy="165376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540CA547-9EDF-371D-80D4-FE6087DE571F}"/>
              </a:ext>
            </a:extLst>
          </p:cNvPr>
          <p:cNvSpPr txBox="1"/>
          <p:nvPr/>
        </p:nvSpPr>
        <p:spPr>
          <a:xfrm>
            <a:off x="3635896" y="6592996"/>
            <a:ext cx="550810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sz="1300">
                <a:solidFill>
                  <a:srgbClr val="FF0066"/>
                </a:solidFill>
              </a:rPr>
              <a:t>Não esqueça de voltar ao diretório anterior ao final desse exemplo</a:t>
            </a:r>
            <a:endParaRPr lang="pt-BR" sz="130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543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Arredondado 5">
            <a:extLst>
              <a:ext uri="{FF2B5EF4-FFF2-40B4-BE49-F238E27FC236}">
                <a16:creationId xmlns:a16="http://schemas.microsoft.com/office/drawing/2014/main" id="{18F1C829-45D7-CEF6-8FDF-13120A5037E5}"/>
              </a:ext>
            </a:extLst>
          </p:cNvPr>
          <p:cNvSpPr/>
          <p:nvPr/>
        </p:nvSpPr>
        <p:spPr bwMode="auto">
          <a:xfrm>
            <a:off x="1620747" y="3382531"/>
            <a:ext cx="2231173" cy="519601"/>
          </a:xfrm>
          <a:prstGeom prst="roundRect">
            <a:avLst/>
          </a:prstGeom>
          <a:solidFill>
            <a:srgbClr val="58D6B4">
              <a:alpha val="18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8" name="Retângulo Arredondado 17">
            <a:extLst>
              <a:ext uri="{FF2B5EF4-FFF2-40B4-BE49-F238E27FC236}">
                <a16:creationId xmlns:a16="http://schemas.microsoft.com/office/drawing/2014/main" id="{82B9BE06-3B81-68D5-7DCD-17F6EB08C2EC}"/>
              </a:ext>
            </a:extLst>
          </p:cNvPr>
          <p:cNvSpPr/>
          <p:nvPr/>
        </p:nvSpPr>
        <p:spPr bwMode="auto">
          <a:xfrm>
            <a:off x="4723144" y="3314457"/>
            <a:ext cx="2315984" cy="587676"/>
          </a:xfrm>
          <a:prstGeom prst="roundRect">
            <a:avLst/>
          </a:prstGeom>
          <a:solidFill>
            <a:srgbClr val="58D6B4">
              <a:alpha val="18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4FC8725-4569-274E-BA42-85D46236C420}"/>
              </a:ext>
            </a:extLst>
          </p:cNvPr>
          <p:cNvSpPr/>
          <p:nvPr/>
        </p:nvSpPr>
        <p:spPr>
          <a:xfrm>
            <a:off x="131400" y="879103"/>
            <a:ext cx="8833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Exemplos de outros comandos no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2604203-124D-A640-8B27-057367ED0F8C}"/>
              </a:ext>
            </a:extLst>
          </p:cNvPr>
          <p:cNvSpPr/>
          <p:nvPr/>
        </p:nvSpPr>
        <p:spPr>
          <a:xfrm>
            <a:off x="539552" y="1412776"/>
            <a:ext cx="1800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ENTRYPOINT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DF41C44-FBC1-9B45-951A-A11579E4D261}"/>
              </a:ext>
            </a:extLst>
          </p:cNvPr>
          <p:cNvSpPr/>
          <p:nvPr/>
        </p:nvSpPr>
        <p:spPr>
          <a:xfrm>
            <a:off x="683568" y="1844824"/>
            <a:ext cx="83529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É um ponto de entrada para seu Container, o que ele irá fazer ao iniciar. Permite que você configure um Container que será executado como um executável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BF474-6C73-0BFD-064D-A987CD64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1F6E252-8B8F-5426-DB1C-CDA7CE370BC8}"/>
              </a:ext>
            </a:extLst>
          </p:cNvPr>
          <p:cNvSpPr/>
          <p:nvPr/>
        </p:nvSpPr>
        <p:spPr>
          <a:xfrm>
            <a:off x="1602958" y="3390676"/>
            <a:ext cx="2231173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alpine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ENTRYPOINT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exec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top -b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17F72D4-B059-43B2-A323-0E60879F8B17}"/>
              </a:ext>
            </a:extLst>
          </p:cNvPr>
          <p:cNvSpPr/>
          <p:nvPr/>
        </p:nvSpPr>
        <p:spPr>
          <a:xfrm>
            <a:off x="317081" y="5212359"/>
            <a:ext cx="45429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de-DE" alt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--</a:t>
            </a:r>
            <a:r>
              <a:rPr kumimoji="0" lang="de-DE" alt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kumimoji="0" lang="de-DE" alt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ptoentrada</a:t>
            </a:r>
            <a:endParaRPr kumimoji="0" lang="pt-BR" sz="22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556F3E-79D8-4678-B994-85D9B4AF93B1}"/>
              </a:ext>
            </a:extLst>
          </p:cNvPr>
          <p:cNvSpPr txBox="1"/>
          <p:nvPr/>
        </p:nvSpPr>
        <p:spPr>
          <a:xfrm>
            <a:off x="1538726" y="3049589"/>
            <a:ext cx="996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Shell form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E4E99-DB7D-4316-BA2B-6B699DCF066B}"/>
              </a:ext>
            </a:extLst>
          </p:cNvPr>
          <p:cNvSpPr txBox="1"/>
          <p:nvPr/>
        </p:nvSpPr>
        <p:spPr>
          <a:xfrm>
            <a:off x="4692495" y="3019404"/>
            <a:ext cx="996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Exec form</a:t>
            </a:r>
          </a:p>
        </p:txBody>
      </p:sp>
      <p:sp>
        <p:nvSpPr>
          <p:cNvPr id="14" name="Retângulo 3">
            <a:extLst>
              <a:ext uri="{FF2B5EF4-FFF2-40B4-BE49-F238E27FC236}">
                <a16:creationId xmlns:a16="http://schemas.microsoft.com/office/drawing/2014/main" id="{B578CB49-D240-4F3F-870D-67FDA7356DE1}"/>
              </a:ext>
            </a:extLst>
          </p:cNvPr>
          <p:cNvSpPr/>
          <p:nvPr/>
        </p:nvSpPr>
        <p:spPr>
          <a:xfrm>
            <a:off x="4692495" y="3341977"/>
            <a:ext cx="231598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alpine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ENTRYPOINT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[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"top"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"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-</a:t>
            </a:r>
            <a:r>
              <a:rPr kumimoji="0" lang="pt-BR" sz="1100" b="0" i="0" u="none" strike="noStrike" kern="1200" cap="none" spc="0" normalizeH="0" baseline="0" noProof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b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"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]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7ACCE55-0CCA-0462-4EC4-477EDFF0F792}"/>
              </a:ext>
            </a:extLst>
          </p:cNvPr>
          <p:cNvSpPr/>
          <p:nvPr/>
        </p:nvSpPr>
        <p:spPr>
          <a:xfrm>
            <a:off x="317081" y="4245285"/>
            <a:ext cx="343997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 -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ptoentrada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139763A-A4D4-F06A-7574-C6AACBEDC36B}"/>
              </a:ext>
            </a:extLst>
          </p:cNvPr>
          <p:cNvSpPr/>
          <p:nvPr/>
        </p:nvSpPr>
        <p:spPr>
          <a:xfrm>
            <a:off x="5179747" y="4045087"/>
            <a:ext cx="338437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Também podemos utilizar ambas as formas no comando CMD e RUN</a:t>
            </a:r>
          </a:p>
        </p:txBody>
      </p:sp>
      <p:pic>
        <p:nvPicPr>
          <p:cNvPr id="16" name="Picture 2" descr="HashTags…Que são? Para que servem? |">
            <a:extLst>
              <a:ext uri="{FF2B5EF4-FFF2-40B4-BE49-F238E27FC236}">
                <a16:creationId xmlns:a16="http://schemas.microsoft.com/office/drawing/2014/main" id="{4E4970E7-99CB-3247-EC64-B915BA11C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929" y="4005245"/>
            <a:ext cx="280444" cy="28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0">
            <a:extLst>
              <a:ext uri="{FF2B5EF4-FFF2-40B4-BE49-F238E27FC236}">
                <a16:creationId xmlns:a16="http://schemas.microsoft.com/office/drawing/2014/main" id="{8C3BD83C-73DD-8745-0FAC-52E1501435B7}"/>
              </a:ext>
            </a:extLst>
          </p:cNvPr>
          <p:cNvSpPr txBox="1"/>
          <p:nvPr/>
        </p:nvSpPr>
        <p:spPr>
          <a:xfrm>
            <a:off x="331027" y="5017222"/>
            <a:ext cx="996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Shell form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844D6D2-453F-D443-782B-C882A9558331}"/>
              </a:ext>
            </a:extLst>
          </p:cNvPr>
          <p:cNvSpPr/>
          <p:nvPr/>
        </p:nvSpPr>
        <p:spPr>
          <a:xfrm>
            <a:off x="339941" y="6000865"/>
            <a:ext cx="51950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de-DE" alt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--</a:t>
            </a:r>
            <a:r>
              <a:rPr kumimoji="0" lang="de-DE" alt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kumimoji="0" lang="de-DE" alt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ptoentrada</a:t>
            </a:r>
            <a:endParaRPr kumimoji="0" lang="pt-BR" sz="22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839AC3E8-F5CC-8C57-6F2F-D12ED9D7619C}"/>
              </a:ext>
            </a:extLst>
          </p:cNvPr>
          <p:cNvSpPr txBox="1"/>
          <p:nvPr/>
        </p:nvSpPr>
        <p:spPr>
          <a:xfrm>
            <a:off x="331027" y="5800619"/>
            <a:ext cx="996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Exec form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05C36E9-1498-1DDE-5E43-B0FDD656A975}"/>
              </a:ext>
            </a:extLst>
          </p:cNvPr>
          <p:cNvSpPr/>
          <p:nvPr/>
        </p:nvSpPr>
        <p:spPr>
          <a:xfrm>
            <a:off x="331027" y="6356749"/>
            <a:ext cx="546510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de-DE" alt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--</a:t>
            </a:r>
            <a:r>
              <a:rPr kumimoji="0" lang="de-DE" alt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kumimoji="0" lang="de-DE" alt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ptoentrada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</a:t>
            </a:r>
            <a:r>
              <a:rPr lang="pt-BR" sz="220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F801AB0-BAD6-29A8-F330-CD036D344197}"/>
              </a:ext>
            </a:extLst>
          </p:cNvPr>
          <p:cNvSpPr txBox="1"/>
          <p:nvPr/>
        </p:nvSpPr>
        <p:spPr>
          <a:xfrm>
            <a:off x="5902398" y="5852617"/>
            <a:ext cx="2414018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pt-BR" sz="1100">
                <a:solidFill>
                  <a:srgbClr val="FF0066"/>
                </a:solidFill>
                <a:latin typeface="Calibri"/>
                <a:cs typeface="Calibri"/>
              </a:rPr>
              <a:t>Envia parâmetros e adiciona, ao invés de executar -b, executa -b -n 3</a:t>
            </a:r>
            <a:endParaRPr lang="pt-BR"/>
          </a:p>
        </p:txBody>
      </p:sp>
      <p:cxnSp>
        <p:nvCxnSpPr>
          <p:cNvPr id="26" name="Conector em Curva 25">
            <a:extLst>
              <a:ext uri="{FF2B5EF4-FFF2-40B4-BE49-F238E27FC236}">
                <a16:creationId xmlns:a16="http://schemas.microsoft.com/office/drawing/2014/main" id="{BA4EE419-E9C3-B69F-46B8-9FA0A9BF2E48}"/>
              </a:ext>
            </a:extLst>
          </p:cNvPr>
          <p:cNvCxnSpPr>
            <a:cxnSpLocks/>
          </p:cNvCxnSpPr>
          <p:nvPr/>
        </p:nvCxnSpPr>
        <p:spPr bwMode="auto">
          <a:xfrm flipV="1">
            <a:off x="5326334" y="6003845"/>
            <a:ext cx="610311" cy="593295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444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39663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FC8725-4569-274E-BA42-85D46236C420}"/>
              </a:ext>
            </a:extLst>
          </p:cNvPr>
          <p:cNvSpPr/>
          <p:nvPr/>
        </p:nvSpPr>
        <p:spPr>
          <a:xfrm>
            <a:off x="131400" y="879103"/>
            <a:ext cx="8833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Exemplos de outros comandos no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2604203-124D-A640-8B27-057367ED0F8C}"/>
              </a:ext>
            </a:extLst>
          </p:cNvPr>
          <p:cNvSpPr/>
          <p:nvPr/>
        </p:nvSpPr>
        <p:spPr>
          <a:xfrm>
            <a:off x="539552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ENTRYPOINT e CMD - Juntos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BF474-6C73-0BFD-064D-A987CD64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B755F7E-B5A5-BE30-8A76-ABE3DBD85A2F}"/>
              </a:ext>
            </a:extLst>
          </p:cNvPr>
          <p:cNvSpPr/>
          <p:nvPr/>
        </p:nvSpPr>
        <p:spPr>
          <a:xfrm>
            <a:off x="683568" y="1844824"/>
            <a:ext cx="83529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ENTRYPOINT deve ser definido ao usar o Container como um executável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 CMD deve ser usado como uma forma de definir argumentos padrão para um comando ENTRYPOINT ou para executar um comando ad hoc em um Container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pt-BR" sz="2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 CMD será substituído ao executar o Container com argumentos alternativos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6C4AF61-0044-8616-4440-7AAD5946AD72}"/>
              </a:ext>
            </a:extLst>
          </p:cNvPr>
          <p:cNvSpPr txBox="1"/>
          <p:nvPr/>
        </p:nvSpPr>
        <p:spPr>
          <a:xfrm>
            <a:off x="2231740" y="4707146"/>
            <a:ext cx="5256584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ENTRYPOINT ["</a:t>
            </a:r>
            <a:r>
              <a:rPr kumimoji="0" lang="pt-BR" sz="1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dotnet</a:t>
            </a:r>
            <a:r>
              <a:rPr kumimoji="0" lang="pt-BR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", "</a:t>
            </a:r>
            <a:r>
              <a:rPr kumimoji="0" lang="pt-BR" sz="1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seuapp.dll</a:t>
            </a:r>
            <a:r>
              <a:rPr kumimoji="0" lang="pt-BR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CMD ["</a:t>
            </a:r>
            <a:r>
              <a:rPr kumimoji="0" lang="pt-BR" sz="1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meuparam</a:t>
            </a:r>
            <a:r>
              <a:rPr kumimoji="0" lang="pt-BR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 resultado na execução é: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dotnet</a:t>
            </a:r>
            <a:r>
              <a:rPr kumimoji="0" lang="pt-BR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pt-BR" sz="1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seuapp.dll</a:t>
            </a:r>
            <a:r>
              <a:rPr kumimoji="0" lang="pt-BR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pt-BR" sz="1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meuparam</a:t>
            </a:r>
            <a:endParaRPr kumimoji="0" lang="pt-BR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976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FC8725-4569-274E-BA42-85D46236C420}"/>
              </a:ext>
            </a:extLst>
          </p:cNvPr>
          <p:cNvSpPr/>
          <p:nvPr/>
        </p:nvSpPr>
        <p:spPr>
          <a:xfrm>
            <a:off x="131400" y="879103"/>
            <a:ext cx="8833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Exemplos de outros comandos no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2604203-124D-A640-8B27-057367ED0F8C}"/>
              </a:ext>
            </a:extLst>
          </p:cNvPr>
          <p:cNvSpPr/>
          <p:nvPr/>
        </p:nvSpPr>
        <p:spPr>
          <a:xfrm>
            <a:off x="539552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ENTRYPOINT e CMD - Juntos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BF474-6C73-0BFD-064D-A987CD64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sp>
        <p:nvSpPr>
          <p:cNvPr id="9" name="Retângulo 3">
            <a:extLst>
              <a:ext uri="{FF2B5EF4-FFF2-40B4-BE49-F238E27FC236}">
                <a16:creationId xmlns:a16="http://schemas.microsoft.com/office/drawing/2014/main" id="{3813B8E7-3B92-4B4B-B09C-030D673BC518}"/>
              </a:ext>
            </a:extLst>
          </p:cNvPr>
          <p:cNvSpPr/>
          <p:nvPr/>
        </p:nvSpPr>
        <p:spPr>
          <a:xfrm>
            <a:off x="755576" y="1941366"/>
            <a:ext cx="2880320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alpine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ENTRYPOINT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"echo"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300" b="0" i="0" u="none" strike="noStrike" kern="1200" cap="none" spc="0" normalizeH="0" baseline="0" noProof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Helo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,"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CMD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"World"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8F17636-0439-55EF-39B6-C9261CE62ADA}"/>
              </a:ext>
            </a:extLst>
          </p:cNvPr>
          <p:cNvSpPr/>
          <p:nvPr/>
        </p:nvSpPr>
        <p:spPr>
          <a:xfrm>
            <a:off x="301007" y="3068960"/>
            <a:ext cx="266429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 -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teste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FA8DAE9-EE64-23D5-F178-35D2FF10CF9F}"/>
              </a:ext>
            </a:extLst>
          </p:cNvPr>
          <p:cNvSpPr/>
          <p:nvPr/>
        </p:nvSpPr>
        <p:spPr>
          <a:xfrm>
            <a:off x="301007" y="3573016"/>
            <a:ext cx="590067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de-DE" alt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--name </a:t>
            </a:r>
            <a:r>
              <a:rPr kumimoji="0" lang="de-DE" alt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appentryecmd</a:t>
            </a:r>
            <a:r>
              <a:rPr kumimoji="0" lang="de-DE" alt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8860677-D148-70A3-71E6-6A17EBA6AE50}"/>
              </a:ext>
            </a:extLst>
          </p:cNvPr>
          <p:cNvSpPr/>
          <p:nvPr/>
        </p:nvSpPr>
        <p:spPr>
          <a:xfrm>
            <a:off x="320616" y="4869160"/>
            <a:ext cx="431669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rm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de-DE" alt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appentryecmd</a:t>
            </a:r>
            <a:endParaRPr kumimoji="0" lang="pt-BR" sz="22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AB10F6D-1813-69DA-018F-9D16FFF31EA2}"/>
              </a:ext>
            </a:extLst>
          </p:cNvPr>
          <p:cNvSpPr/>
          <p:nvPr/>
        </p:nvSpPr>
        <p:spPr>
          <a:xfrm>
            <a:off x="301007" y="5359824"/>
            <a:ext cx="776957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de-DE" alt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--name </a:t>
            </a:r>
            <a:r>
              <a:rPr kumimoji="0" lang="de-DE" altLang="pt-BR" sz="2200" b="1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appentryecmd</a:t>
            </a:r>
            <a:r>
              <a:rPr kumimoji="0" lang="de-DE" altLang="pt-BR" sz="22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teste </a:t>
            </a:r>
            <a:r>
              <a:rPr kumimoji="0" lang="pt-BR" sz="2200" b="1" i="0" u="none" strike="noStrike" kern="1200" cap="none" spc="0" normalizeH="0" baseline="0" noProof="0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"João"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811AF52-A3B9-7A1F-132B-E9618943D7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4005064"/>
            <a:ext cx="5571730" cy="79253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6D1993B-6E8D-E376-64AA-054D199AA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77272"/>
            <a:ext cx="5519096" cy="68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5852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FC8725-4569-274E-BA42-85D46236C420}"/>
              </a:ext>
            </a:extLst>
          </p:cNvPr>
          <p:cNvSpPr/>
          <p:nvPr/>
        </p:nvSpPr>
        <p:spPr>
          <a:xfrm>
            <a:off x="131400" y="879103"/>
            <a:ext cx="8833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Exemplos de outros comandos no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2604203-124D-A640-8B27-057367ED0F8C}"/>
              </a:ext>
            </a:extLst>
          </p:cNvPr>
          <p:cNvSpPr/>
          <p:nvPr/>
        </p:nvSpPr>
        <p:spPr>
          <a:xfrm>
            <a:off x="539552" y="1412776"/>
            <a:ext cx="1800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 e ENV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DF41C44-FBC1-9B45-951A-A11579E4D261}"/>
              </a:ext>
            </a:extLst>
          </p:cNvPr>
          <p:cNvSpPr/>
          <p:nvPr/>
        </p:nvSpPr>
        <p:spPr>
          <a:xfrm>
            <a:off x="611560" y="1844824"/>
            <a:ext cx="8424936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 instrução 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</a:t>
            </a: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define uma variável que os usuários podem passar em tempo de compilação para o construtor da Imagem (comando 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</a:t>
            </a: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)</a:t>
            </a: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usando o sinalizador: 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--build-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</a:t>
            </a: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&lt;</a:t>
            </a:r>
            <a:r>
              <a:rPr kumimoji="0" lang="pt-BR" sz="2000" b="0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varname</a:t>
            </a: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&gt;=&lt;</a:t>
            </a:r>
            <a:r>
              <a:rPr kumimoji="0" lang="pt-BR" sz="2000" b="0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value</a:t>
            </a: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&gt;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7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</a:t>
            </a: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é a única instrução que pode preceder FROM no </a:t>
            </a:r>
            <a:r>
              <a:rPr kumimoji="0" lang="pt-BR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endParaRPr kumimoji="0" lang="pt-BR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7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As variáveis ​​de ambiente definidas usando a instrução 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ENV</a:t>
            </a: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sempre substituem uma instrução 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</a:t>
            </a: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com o mesmo nome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endParaRPr kumimoji="0" lang="pt-BR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Ao contrário do 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</a:t>
            </a: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</a:t>
            </a:r>
            <a:r>
              <a:rPr kumimoji="0" lang="pt-BR" sz="20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as variáveis </a:t>
            </a:r>
            <a:r>
              <a:rPr kumimoji="0" lang="pt-BR" sz="20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ENV</a:t>
            </a:r>
            <a:r>
              <a:rPr kumimoji="0" lang="pt-BR" sz="20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também são acessíveis ao executar os Containers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endParaRPr kumimoji="0" lang="pt-BR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Os valores 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ENV</a:t>
            </a: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também podem ser substituídos ao iniciar um Container (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-e 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ou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--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env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-file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)</a:t>
            </a:r>
            <a:endParaRPr kumimoji="0" lang="pt-BR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BF474-6C73-0BFD-064D-A987CD64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C0D1274-20E0-E53D-423A-683C069C07C4}"/>
              </a:ext>
            </a:extLst>
          </p:cNvPr>
          <p:cNvSpPr/>
          <p:nvPr/>
        </p:nvSpPr>
        <p:spPr>
          <a:xfrm>
            <a:off x="127786" y="6178371"/>
            <a:ext cx="293204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NÃO PASSE VALORES DE SEGREDOS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Variáveis em tempo de compilação são visíveis através do comando </a:t>
            </a:r>
            <a:r>
              <a:rPr kumimoji="0" lang="pt-BR" sz="9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9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history</a:t>
            </a:r>
            <a:endParaRPr kumimoji="0" lang="pt-BR" sz="9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5" name="Picture 2" descr="HashTags…Que são? Para que servem? |">
            <a:extLst>
              <a:ext uri="{FF2B5EF4-FFF2-40B4-BE49-F238E27FC236}">
                <a16:creationId xmlns:a16="http://schemas.microsoft.com/office/drawing/2014/main" id="{652EBBB0-1F78-525D-B0E9-520BDBD92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61" y="5733256"/>
            <a:ext cx="429499" cy="42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3DB00E9-F0D2-FEAE-B988-82C628A5E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424" y="5046331"/>
            <a:ext cx="2019295" cy="1803348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1C82137-C3B7-953C-A8EA-34F02B197C32}"/>
              </a:ext>
            </a:extLst>
          </p:cNvPr>
          <p:cNvSpPr txBox="1"/>
          <p:nvPr/>
        </p:nvSpPr>
        <p:spPr>
          <a:xfrm>
            <a:off x="5364088" y="5439858"/>
            <a:ext cx="38037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ARG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nome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         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2AE4F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# O ARG espera um valor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ARG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nome=João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    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2AE4F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# O ARG recebe um valor padrão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ENV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estado=PB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    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2AE4F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# O ENV recebe um valor padrão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ENV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nome2=$nome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  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2AE4F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# O ENV recebe um valor padrão de um ARG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ENV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nome2=${nome}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2AE4F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# O ENV recebe um valor padrão de um ARG</a:t>
            </a:r>
          </a:p>
        </p:txBody>
      </p:sp>
    </p:spTree>
    <p:extLst>
      <p:ext uri="{BB962C8B-B14F-4D97-AF65-F5344CB8AC3E}">
        <p14:creationId xmlns:p14="http://schemas.microsoft.com/office/powerpoint/2010/main" val="36181026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FC8725-4569-274E-BA42-85D46236C420}"/>
              </a:ext>
            </a:extLst>
          </p:cNvPr>
          <p:cNvSpPr/>
          <p:nvPr/>
        </p:nvSpPr>
        <p:spPr>
          <a:xfrm>
            <a:off x="131400" y="879103"/>
            <a:ext cx="8833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Exemplos de outros comandos no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2604203-124D-A640-8B27-057367ED0F8C}"/>
              </a:ext>
            </a:extLst>
          </p:cNvPr>
          <p:cNvSpPr/>
          <p:nvPr/>
        </p:nvSpPr>
        <p:spPr>
          <a:xfrm>
            <a:off x="539552" y="1412776"/>
            <a:ext cx="1800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BF474-6C73-0BFD-064D-A987CD64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sp>
        <p:nvSpPr>
          <p:cNvPr id="12" name="Retângulo 3">
            <a:extLst>
              <a:ext uri="{FF2B5EF4-FFF2-40B4-BE49-F238E27FC236}">
                <a16:creationId xmlns:a16="http://schemas.microsoft.com/office/drawing/2014/main" id="{56765615-64DB-4703-9990-2E9555D54C01}"/>
              </a:ext>
            </a:extLst>
          </p:cNvPr>
          <p:cNvSpPr/>
          <p:nvPr/>
        </p:nvSpPr>
        <p:spPr>
          <a:xfrm>
            <a:off x="676186" y="1973572"/>
            <a:ext cx="4220465" cy="1492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alpine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4EC9B0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1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ARG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nome=João</a:t>
            </a:r>
            <a:endParaRPr kumimoji="0" lang="pt-BR" sz="1300" b="1" i="0" u="none" strike="noStrike" kern="1200" cap="none" spc="0" normalizeH="0" baseline="0" noProof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RUN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300" b="0" i="0" u="none" strike="noStrike" kern="1200" cap="none" spc="0" normalizeH="0" baseline="0" noProof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echo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"Olá! </a:t>
            </a:r>
            <a:r>
              <a:rPr kumimoji="0" lang="pt-BR" sz="1100" b="0" i="0" u="none" strike="noStrike" kern="1200" cap="none" spc="0" normalizeH="0" baseline="0" noProof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Bem-vinde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$nome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"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&gt; bem-</a:t>
            </a:r>
            <a:r>
              <a:rPr kumimoji="0" lang="pt-BR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vinde.txt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ENTRYPOINT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cat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bem-</a:t>
            </a:r>
            <a:r>
              <a:rPr kumimoji="0" lang="pt-BR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vinde.txt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47D826-AE1B-46A4-A03C-C54FA380B292}"/>
              </a:ext>
            </a:extLst>
          </p:cNvPr>
          <p:cNvSpPr txBox="1"/>
          <p:nvPr/>
        </p:nvSpPr>
        <p:spPr>
          <a:xfrm>
            <a:off x="339258" y="5479039"/>
            <a:ext cx="27198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3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Substituindo</a:t>
            </a: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o valor </a:t>
            </a:r>
            <a:r>
              <a:rPr kumimoji="0" lang="en-US" sz="1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padrão</a:t>
            </a:r>
            <a:endParaRPr kumimoji="0" 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6D24691-9466-71CC-A715-9DF5472CBA38}"/>
              </a:ext>
            </a:extLst>
          </p:cNvPr>
          <p:cNvSpPr/>
          <p:nvPr/>
        </p:nvSpPr>
        <p:spPr>
          <a:xfrm>
            <a:off x="339258" y="3726613"/>
            <a:ext cx="32331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 -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-demo 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68C0AC1-4FDF-B9C7-24AA-2EAF175AE63B}"/>
              </a:ext>
            </a:extLst>
          </p:cNvPr>
          <p:cNvSpPr/>
          <p:nvPr/>
        </p:nvSpPr>
        <p:spPr>
          <a:xfrm>
            <a:off x="339258" y="4331396"/>
            <a:ext cx="43904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de-DE" alt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--</a:t>
            </a:r>
            <a:r>
              <a:rPr kumimoji="0" lang="de-DE" alt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kumimoji="0" lang="de-DE" alt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-demo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9231574-22B6-DD9B-0763-F5CC732FCCF7}"/>
              </a:ext>
            </a:extLst>
          </p:cNvPr>
          <p:cNvSpPr/>
          <p:nvPr/>
        </p:nvSpPr>
        <p:spPr>
          <a:xfrm>
            <a:off x="339941" y="5832982"/>
            <a:ext cx="61762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 -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-demo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--build-</a:t>
            </a: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nome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=Maria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.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364CE3D7-C3BC-D5FA-8E6A-7CF76A8E7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826" y="3501008"/>
            <a:ext cx="4751678" cy="230620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3CE1E56-C071-07B2-27C1-5DF0F7A982D7}"/>
              </a:ext>
            </a:extLst>
          </p:cNvPr>
          <p:cNvSpPr/>
          <p:nvPr/>
        </p:nvSpPr>
        <p:spPr>
          <a:xfrm>
            <a:off x="339258" y="6341258"/>
            <a:ext cx="43904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de-DE" alt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--</a:t>
            </a:r>
            <a:r>
              <a:rPr kumimoji="0" lang="de-DE" alt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kumimoji="0" lang="de-DE" alt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-demo</a:t>
            </a:r>
          </a:p>
        </p:txBody>
      </p:sp>
    </p:spTree>
    <p:extLst>
      <p:ext uri="{BB962C8B-B14F-4D97-AF65-F5344CB8AC3E}">
        <p14:creationId xmlns:p14="http://schemas.microsoft.com/office/powerpoint/2010/main" val="39526368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FC8725-4569-274E-BA42-85D46236C420}"/>
              </a:ext>
            </a:extLst>
          </p:cNvPr>
          <p:cNvSpPr/>
          <p:nvPr/>
        </p:nvSpPr>
        <p:spPr>
          <a:xfrm>
            <a:off x="131400" y="879103"/>
            <a:ext cx="8833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Exemplos de outros comandos no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2604203-124D-A640-8B27-057367ED0F8C}"/>
              </a:ext>
            </a:extLst>
          </p:cNvPr>
          <p:cNvSpPr/>
          <p:nvPr/>
        </p:nvSpPr>
        <p:spPr>
          <a:xfrm>
            <a:off x="539552" y="1412776"/>
            <a:ext cx="1800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DF41C44-FBC1-9B45-951A-A11579E4D261}"/>
              </a:ext>
            </a:extLst>
          </p:cNvPr>
          <p:cNvSpPr/>
          <p:nvPr/>
        </p:nvSpPr>
        <p:spPr>
          <a:xfrm>
            <a:off x="683568" y="1844824"/>
            <a:ext cx="83529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Mais um exemplo de utilização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BF474-6C73-0BFD-064D-A987CD64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sp>
        <p:nvSpPr>
          <p:cNvPr id="20" name="Retângulo 3">
            <a:extLst>
              <a:ext uri="{FF2B5EF4-FFF2-40B4-BE49-F238E27FC236}">
                <a16:creationId xmlns:a16="http://schemas.microsoft.com/office/drawing/2014/main" id="{6E039825-F38C-4EE9-9301-DE6BCEADAE03}"/>
              </a:ext>
            </a:extLst>
          </p:cNvPr>
          <p:cNvSpPr/>
          <p:nvPr/>
        </p:nvSpPr>
        <p:spPr>
          <a:xfrm>
            <a:off x="539552" y="2348880"/>
            <a:ext cx="5051266" cy="1400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ubuntu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ARG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PYTHON_VERSION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RUN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apt-get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update -</a:t>
            </a:r>
            <a:r>
              <a:rPr kumimoji="0" lang="pt-BR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y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RUN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apt-get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install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python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${PYTHON_VERSION} -</a:t>
            </a:r>
            <a:r>
              <a:rPr kumimoji="0" lang="pt-BR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y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D7E87BB-43E3-EBD4-B563-697E688C9BA2}"/>
              </a:ext>
            </a:extLst>
          </p:cNvPr>
          <p:cNvSpPr/>
          <p:nvPr/>
        </p:nvSpPr>
        <p:spPr>
          <a:xfrm>
            <a:off x="251520" y="4005064"/>
            <a:ext cx="5760638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7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17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 -</a:t>
            </a:r>
            <a:r>
              <a:rPr kumimoji="0" lang="pt-BR" sz="17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</a:t>
            </a:r>
            <a:r>
              <a:rPr kumimoji="0" lang="pt-BR" sz="17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17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arg-version</a:t>
            </a:r>
            <a:r>
              <a:rPr kumimoji="0" lang="pt-BR" sz="17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--build-</a:t>
            </a:r>
            <a:r>
              <a:rPr kumimoji="0" lang="en-US" sz="1700" b="1" i="0" u="none" strike="noStrike" kern="1200" cap="none" spc="0" normalizeH="0" baseline="0" noProof="0" err="1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</a:t>
            </a: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PYTHON_VERSION="2"</a:t>
            </a:r>
            <a:r>
              <a:rPr kumimoji="0" lang="pt-BR" sz="1700" b="1" i="0" u="none" strike="noStrike" kern="1200" cap="none" spc="0" normalizeH="0" baseline="0" noProof="0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17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BE4713E-DF30-0C69-0230-8BE0633B8078}"/>
              </a:ext>
            </a:extLst>
          </p:cNvPr>
          <p:cNvSpPr/>
          <p:nvPr/>
        </p:nvSpPr>
        <p:spPr>
          <a:xfrm>
            <a:off x="251520" y="4370382"/>
            <a:ext cx="6392299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7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17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17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17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--</a:t>
            </a:r>
            <a:r>
              <a:rPr kumimoji="0" lang="de-DE" altLang="pt-BR" sz="17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kumimoji="0" lang="de-DE" altLang="pt-BR" sz="17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 -</a:t>
            </a:r>
            <a:r>
              <a:rPr kumimoji="0" lang="de-DE" altLang="pt-BR" sz="17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it</a:t>
            </a:r>
            <a:r>
              <a:rPr kumimoji="0" lang="de-DE" altLang="pt-BR" sz="17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  </a:t>
            </a:r>
            <a:r>
              <a:rPr kumimoji="0" lang="pt-BR" sz="17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arg-version</a:t>
            </a:r>
            <a:r>
              <a:rPr kumimoji="0" lang="pt-BR" sz="17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1700" b="0" i="0" u="none" strike="noStrike" kern="1200" cap="none" spc="0" normalizeH="0" baseline="0" noProof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bash</a:t>
            </a:r>
            <a:endParaRPr kumimoji="0" lang="pt-BR" sz="17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6BFEBDC-DDE3-0237-3930-3E127EE44A8D}"/>
              </a:ext>
            </a:extLst>
          </p:cNvPr>
          <p:cNvSpPr/>
          <p:nvPr/>
        </p:nvSpPr>
        <p:spPr>
          <a:xfrm>
            <a:off x="251520" y="4735700"/>
            <a:ext cx="6392299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python2 -V</a:t>
            </a:r>
            <a:endParaRPr kumimoji="0" lang="pt-BR" sz="17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1379C97-DB48-2414-A000-D2B6AB4D4D3E}"/>
              </a:ext>
            </a:extLst>
          </p:cNvPr>
          <p:cNvSpPr/>
          <p:nvPr/>
        </p:nvSpPr>
        <p:spPr>
          <a:xfrm>
            <a:off x="251520" y="5256970"/>
            <a:ext cx="5760638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7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17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 -</a:t>
            </a:r>
            <a:r>
              <a:rPr kumimoji="0" lang="pt-BR" sz="17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</a:t>
            </a:r>
            <a:r>
              <a:rPr kumimoji="0" lang="pt-BR" sz="17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17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arg-version</a:t>
            </a:r>
            <a:r>
              <a:rPr kumimoji="0" lang="pt-BR" sz="17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--build-</a:t>
            </a:r>
            <a:r>
              <a:rPr kumimoji="0" lang="en-US" sz="1700" b="1" i="0" u="none" strike="noStrike" kern="1200" cap="none" spc="0" normalizeH="0" baseline="0" noProof="0" err="1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</a:t>
            </a: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PYTHON_VERSION="3"</a:t>
            </a:r>
            <a:r>
              <a:rPr kumimoji="0" lang="pt-BR" sz="1700" b="1" i="0" u="none" strike="noStrike" kern="1200" cap="none" spc="0" normalizeH="0" baseline="0" noProof="0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17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57EA4E1-16DA-E5B3-33C0-61478920EB81}"/>
              </a:ext>
            </a:extLst>
          </p:cNvPr>
          <p:cNvSpPr/>
          <p:nvPr/>
        </p:nvSpPr>
        <p:spPr>
          <a:xfrm>
            <a:off x="251521" y="5629853"/>
            <a:ext cx="4320479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7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17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17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17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--</a:t>
            </a:r>
            <a:r>
              <a:rPr kumimoji="0" lang="de-DE" altLang="pt-BR" sz="17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kumimoji="0" lang="de-DE" altLang="pt-BR" sz="17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 -</a:t>
            </a:r>
            <a:r>
              <a:rPr kumimoji="0" lang="de-DE" altLang="pt-BR" sz="17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it</a:t>
            </a:r>
            <a:r>
              <a:rPr kumimoji="0" lang="de-DE" altLang="pt-BR" sz="17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  </a:t>
            </a:r>
            <a:r>
              <a:rPr kumimoji="0" lang="pt-BR" sz="1700" b="1" i="0" u="none" strike="noStrike" kern="1200" cap="none" spc="0" normalizeH="0" baseline="0" noProof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arg-version</a:t>
            </a:r>
            <a:r>
              <a:rPr kumimoji="0" lang="pt-BR" sz="17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1700" b="0" i="0" u="none" strike="noStrike" kern="1200" cap="none" spc="0" normalizeH="0" baseline="0" noProof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bash</a:t>
            </a:r>
            <a:endParaRPr kumimoji="0" lang="pt-BR" sz="17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FC30803-142F-5ABF-3C19-C53D049837E3}"/>
              </a:ext>
            </a:extLst>
          </p:cNvPr>
          <p:cNvSpPr/>
          <p:nvPr/>
        </p:nvSpPr>
        <p:spPr>
          <a:xfrm>
            <a:off x="251520" y="5977050"/>
            <a:ext cx="1224135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python2 -V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python3 -V</a:t>
            </a:r>
            <a:endParaRPr kumimoji="0" lang="pt-BR" sz="17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5221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FC8725-4569-274E-BA42-85D46236C420}"/>
              </a:ext>
            </a:extLst>
          </p:cNvPr>
          <p:cNvSpPr/>
          <p:nvPr/>
        </p:nvSpPr>
        <p:spPr>
          <a:xfrm>
            <a:off x="131400" y="879103"/>
            <a:ext cx="8833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Exemplos de outros comandos no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2604203-124D-A640-8B27-057367ED0F8C}"/>
              </a:ext>
            </a:extLst>
          </p:cNvPr>
          <p:cNvSpPr/>
          <p:nvPr/>
        </p:nvSpPr>
        <p:spPr>
          <a:xfrm>
            <a:off x="539552" y="1412776"/>
            <a:ext cx="1800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ENV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BF474-6C73-0BFD-064D-A987CD64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 dirty="0">
                <a:solidFill>
                  <a:schemeClr val="tx1"/>
                </a:solidFill>
              </a:rPr>
              <a:t>DOCKER FILE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ECD4B7C-E457-09A5-A001-0F584291B52A}"/>
              </a:ext>
            </a:extLst>
          </p:cNvPr>
          <p:cNvSpPr/>
          <p:nvPr/>
        </p:nvSpPr>
        <p:spPr>
          <a:xfrm>
            <a:off x="683568" y="1844824"/>
            <a:ext cx="83529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Exemplo de utilização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Retângulo 3">
            <a:extLst>
              <a:ext uri="{FF2B5EF4-FFF2-40B4-BE49-F238E27FC236}">
                <a16:creationId xmlns:a16="http://schemas.microsoft.com/office/drawing/2014/main" id="{8E2F7785-95B6-3FBC-4FA5-8B4605AD9CF0}"/>
              </a:ext>
            </a:extLst>
          </p:cNvPr>
          <p:cNvSpPr/>
          <p:nvPr/>
        </p:nvSpPr>
        <p:spPr>
          <a:xfrm>
            <a:off x="741701" y="2489115"/>
            <a:ext cx="491041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ubuntu</a:t>
            </a:r>
            <a:endParaRPr kumimoji="0" lang="pt-BR" sz="13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700" b="0" i="0" u="none" strike="noStrike" kern="120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ENV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hey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=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"Olá"</a:t>
            </a:r>
            <a:endParaRPr kumimoji="0" lang="pt-BR" sz="13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ENV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dir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=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"/"</a:t>
            </a:r>
            <a:endParaRPr kumimoji="0" lang="pt-BR" sz="13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700" b="0" i="0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# O ENV também pode ser utilizado na construção</a:t>
            </a:r>
            <a:endParaRPr kumimoji="0" lang="pt-BR" sz="1300" b="0" i="0" u="none" strike="noStrike" kern="120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 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./</a:t>
            </a: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Dockerfile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${</a:t>
            </a: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dir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700" b="0" i="0" u="none" strike="noStrike" kern="120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CMD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echo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$</a:t>
            </a: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hey</a:t>
            </a:r>
            <a:endParaRPr kumimoji="0" lang="pt-BR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68092B4-4F1A-3539-49A9-CBC2A1A94306}"/>
              </a:ext>
            </a:extLst>
          </p:cNvPr>
          <p:cNvSpPr/>
          <p:nvPr/>
        </p:nvSpPr>
        <p:spPr>
          <a:xfrm>
            <a:off x="339941" y="4375844"/>
            <a:ext cx="300792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 -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env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-demo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FDDA346-4281-34F1-BA4C-66FA4E8EDB1E}"/>
              </a:ext>
            </a:extLst>
          </p:cNvPr>
          <p:cNvSpPr/>
          <p:nvPr/>
        </p:nvSpPr>
        <p:spPr>
          <a:xfrm>
            <a:off x="339941" y="6125234"/>
            <a:ext cx="48477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--</a:t>
            </a:r>
            <a:r>
              <a:rPr kumimoji="0" lang="de-DE" alt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kumimoji="0" lang="de-DE" alt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kumimoji="0" lang="de-DE" altLang="pt-BR" sz="2000" b="1" i="0" u="none" strike="noStrike" kern="1200" cap="none" spc="0" normalizeH="0" baseline="0" noProof="0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-</a:t>
            </a:r>
            <a:r>
              <a:rPr kumimoji="0" lang="de-DE" alt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it</a:t>
            </a:r>
            <a:r>
              <a:rPr kumimoji="0" lang="de-DE" alt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env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-demo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000" b="0" i="0" u="none" strike="noStrike" kern="1200" cap="none" spc="0" normalizeH="0" baseline="0" noProof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bash</a:t>
            </a:r>
            <a:endParaRPr kumimoji="0" lang="pt-BR" sz="20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471543C-28BD-C101-BCF3-8295F3C6A047}"/>
              </a:ext>
            </a:extLst>
          </p:cNvPr>
          <p:cNvSpPr/>
          <p:nvPr/>
        </p:nvSpPr>
        <p:spPr>
          <a:xfrm>
            <a:off x="336645" y="5073245"/>
            <a:ext cx="40873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--</a:t>
            </a:r>
            <a:r>
              <a:rPr kumimoji="0" lang="de-DE" alt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kumimoji="0" lang="de-DE" alt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env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-demo</a:t>
            </a:r>
            <a:endParaRPr kumimoji="0" lang="pt-BR" sz="20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41C259D-2A4F-30C3-A4A7-6A1E7CF7798F}"/>
              </a:ext>
            </a:extLst>
          </p:cNvPr>
          <p:cNvSpPr/>
          <p:nvPr/>
        </p:nvSpPr>
        <p:spPr>
          <a:xfrm>
            <a:off x="336645" y="5505293"/>
            <a:ext cx="56715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--</a:t>
            </a:r>
            <a:r>
              <a:rPr kumimoji="0" lang="de-DE" alt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kumimoji="0" lang="de-DE" alt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kumimoji="0" lang="de-DE" altLang="pt-BR" sz="2000" b="1" i="0" u="none" strike="noStrike" kern="1200" cap="none" spc="0" normalizeH="0" baseline="0" noProof="0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-</a:t>
            </a:r>
            <a:r>
              <a:rPr kumimoji="0" lang="de-DE" alt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AF43C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e</a:t>
            </a:r>
            <a:r>
              <a:rPr kumimoji="0" lang="de-DE" alt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 hey="Salve" 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env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-demo</a:t>
            </a:r>
            <a:endParaRPr kumimoji="0" lang="pt-BR" sz="20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520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FC8725-4569-274E-BA42-85D46236C420}"/>
              </a:ext>
            </a:extLst>
          </p:cNvPr>
          <p:cNvSpPr/>
          <p:nvPr/>
        </p:nvSpPr>
        <p:spPr>
          <a:xfrm>
            <a:off x="131400" y="879103"/>
            <a:ext cx="8833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Exemplos de outros comandos no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2604203-124D-A640-8B27-057367ED0F8C}"/>
              </a:ext>
            </a:extLst>
          </p:cNvPr>
          <p:cNvSpPr/>
          <p:nvPr/>
        </p:nvSpPr>
        <p:spPr>
          <a:xfrm>
            <a:off x="539552" y="1412776"/>
            <a:ext cx="1800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USER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DF41C44-FBC1-9B45-951A-A11579E4D261}"/>
              </a:ext>
            </a:extLst>
          </p:cNvPr>
          <p:cNvSpPr/>
          <p:nvPr/>
        </p:nvSpPr>
        <p:spPr>
          <a:xfrm>
            <a:off x="683568" y="1844824"/>
            <a:ext cx="83529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Altera o usuário que irá executar os comandos</a:t>
            </a: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BF474-6C73-0BFD-064D-A987CD64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sp>
        <p:nvSpPr>
          <p:cNvPr id="9" name="Retângulo 3">
            <a:extLst>
              <a:ext uri="{FF2B5EF4-FFF2-40B4-BE49-F238E27FC236}">
                <a16:creationId xmlns:a16="http://schemas.microsoft.com/office/drawing/2014/main" id="{1664162A-8E70-4A95-8D7C-F08932DA3E6D}"/>
              </a:ext>
            </a:extLst>
          </p:cNvPr>
          <p:cNvSpPr/>
          <p:nvPr/>
        </p:nvSpPr>
        <p:spPr>
          <a:xfrm>
            <a:off x="739727" y="2491132"/>
            <a:ext cx="4264322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node</a:t>
            </a:r>
            <a:r>
              <a:rPr kumimoji="0" lang="pt-B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:</a:t>
            </a:r>
            <a:r>
              <a:rPr kumimoji="0" lang="pt-B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alpine</a:t>
            </a:r>
            <a:endParaRPr kumimoji="0" lang="pt-BR" sz="11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RUN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adduser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-</a:t>
            </a:r>
            <a:r>
              <a:rPr kumimoji="0" lang="pt-B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h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/home/</a:t>
            </a:r>
            <a:r>
              <a:rPr kumimoji="0" lang="pt-B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menk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-</a:t>
            </a:r>
            <a:r>
              <a:rPr kumimoji="0" lang="pt-B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/bin/</a:t>
            </a:r>
            <a:r>
              <a:rPr kumimoji="0" lang="pt-B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bash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-</a:t>
            </a:r>
            <a:r>
              <a:rPr kumimoji="0" lang="pt-B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D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menk</a:t>
            </a:r>
            <a:endParaRPr kumimoji="0" lang="pt-B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USER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lang="pt-BR" sz="1100" b="0" dirty="0" err="1">
                <a:solidFill>
                  <a:srgbClr val="000000"/>
                </a:solidFill>
                <a:latin typeface="Menlo" panose="020B0609030804020204" pitchFamily="49" charset="0"/>
              </a:rPr>
              <a:t>menk</a:t>
            </a:r>
            <a:endParaRPr kumimoji="0" lang="pt-B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RUN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whoami</a:t>
            </a:r>
            <a:endParaRPr kumimoji="0" lang="pt-BR" sz="1300" b="0" i="0" u="none" strike="noStrike" kern="1200" cap="none" spc="0" normalizeH="0" baseline="0" noProof="0" dirty="0">
              <a:ln>
                <a:noFill/>
              </a:ln>
              <a:solidFill>
                <a:srgbClr val="CE9178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RUN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touch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/home/</a:t>
            </a:r>
            <a:r>
              <a:rPr kumimoji="0" lang="pt-B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menk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/</a:t>
            </a:r>
            <a:r>
              <a:rPr kumimoji="0" lang="pt-B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teste.txt</a:t>
            </a:r>
            <a:endParaRPr kumimoji="0" lang="pt-B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USER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node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RUN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whoami</a:t>
            </a:r>
            <a:endParaRPr kumimoji="0" lang="pt-BR" sz="1300" b="0" i="0" u="none" strike="noStrike" kern="1200" cap="none" spc="0" normalizeH="0" baseline="0" noProof="0" dirty="0">
              <a:ln>
                <a:noFill/>
              </a:ln>
              <a:solidFill>
                <a:srgbClr val="CE9178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RUN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touch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/home/node/</a:t>
            </a:r>
            <a:r>
              <a:rPr kumimoji="0" lang="pt-B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teste.txt</a:t>
            </a:r>
            <a:endParaRPr kumimoji="0" lang="pt-B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#Executar mais de um comando com a instrução CMD</a:t>
            </a:r>
            <a:endParaRPr kumimoji="0" lang="pt-BR" sz="11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CMD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ls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-l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/home/</a:t>
            </a:r>
            <a:r>
              <a:rPr kumimoji="0" lang="pt-B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menk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;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ls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-l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/home/node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C419FB5-B792-ACD3-2878-5938A7EA1B27}"/>
              </a:ext>
            </a:extLst>
          </p:cNvPr>
          <p:cNvSpPr/>
          <p:nvPr/>
        </p:nvSpPr>
        <p:spPr>
          <a:xfrm>
            <a:off x="339941" y="5503229"/>
            <a:ext cx="31987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build -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user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-demo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F154BD9-5986-1EF4-70F9-7C1B5C04941D}"/>
              </a:ext>
            </a:extLst>
          </p:cNvPr>
          <p:cNvSpPr/>
          <p:nvPr/>
        </p:nvSpPr>
        <p:spPr>
          <a:xfrm>
            <a:off x="339941" y="5994595"/>
            <a:ext cx="40849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container </a:t>
            </a:r>
            <a:r>
              <a:rPr kumimoji="0" 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--</a:t>
            </a:r>
            <a:r>
              <a:rPr kumimoji="0" lang="de-DE" alt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rm</a:t>
            </a:r>
            <a:r>
              <a:rPr kumimoji="0" lang="de-DE" altLang="pt-BR" sz="2000" b="1" i="0" u="none" strike="noStrike" kern="1200" cap="none" spc="0" normalizeH="0" baseline="0" noProof="0">
                <a:ln>
                  <a:noFill/>
                </a:ln>
                <a:solidFill>
                  <a:srgbClr val="005F8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 </a:t>
            </a:r>
            <a:r>
              <a:rPr kumimoji="0" lang="pt-BR" altLang="pt-BR" sz="2000" b="1" i="0" u="none" strike="noStrike" kern="1200" cap="none" spc="0" normalizeH="0" baseline="0" noProof="0" err="1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 panose="020B0604020202020204" pitchFamily="34" charset="0"/>
              </a:rPr>
              <a:t>user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-demo</a:t>
            </a:r>
            <a:endParaRPr kumimoji="0" lang="pt-BR" sz="20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A5EDA82-3FB0-97B4-9F85-A5EE8EC5728E}"/>
              </a:ext>
            </a:extLst>
          </p:cNvPr>
          <p:cNvSpPr/>
          <p:nvPr/>
        </p:nvSpPr>
        <p:spPr>
          <a:xfrm>
            <a:off x="5076056" y="2877934"/>
            <a:ext cx="2448273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Criação de um novo usuário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38BA63E9-D470-0BF6-9351-B5166C00F21A}"/>
              </a:ext>
            </a:extLst>
          </p:cNvPr>
          <p:cNvCxnSpPr>
            <a:cxnSpLocks/>
          </p:cNvCxnSpPr>
          <p:nvPr/>
        </p:nvCxnSpPr>
        <p:spPr bwMode="auto">
          <a:xfrm>
            <a:off x="4788024" y="3031078"/>
            <a:ext cx="360040" cy="0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F7C6D39F-20A1-20ED-1908-6483F44FC364}"/>
              </a:ext>
            </a:extLst>
          </p:cNvPr>
          <p:cNvSpPr/>
          <p:nvPr/>
        </p:nvSpPr>
        <p:spPr>
          <a:xfrm>
            <a:off x="5099502" y="3221119"/>
            <a:ext cx="3112194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Utilização de um usuário já existente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39C5486C-58C6-C472-E7FB-D4B9FFAEAA95}"/>
              </a:ext>
            </a:extLst>
          </p:cNvPr>
          <p:cNvCxnSpPr>
            <a:cxnSpLocks/>
          </p:cNvCxnSpPr>
          <p:nvPr/>
        </p:nvCxnSpPr>
        <p:spPr bwMode="auto">
          <a:xfrm>
            <a:off x="1763688" y="3384827"/>
            <a:ext cx="3384376" cy="0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E04D6EE9-1735-5E16-4883-75AB24AE5119}"/>
              </a:ext>
            </a:extLst>
          </p:cNvPr>
          <p:cNvSpPr/>
          <p:nvPr/>
        </p:nvSpPr>
        <p:spPr>
          <a:xfrm>
            <a:off x="5099502" y="4002886"/>
            <a:ext cx="3112194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Utilização de um usuário já existente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1D8827F7-E0AD-E036-8E09-5279EAE04BC5}"/>
              </a:ext>
            </a:extLst>
          </p:cNvPr>
          <p:cNvCxnSpPr>
            <a:cxnSpLocks/>
          </p:cNvCxnSpPr>
          <p:nvPr/>
        </p:nvCxnSpPr>
        <p:spPr bwMode="auto">
          <a:xfrm>
            <a:off x="1763688" y="4149080"/>
            <a:ext cx="3384376" cy="0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633900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1E7352-4E94-47F9-A1DD-4D554B1F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6BF0F00-B6F6-525C-10D3-B9AA5FE1E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75" y="-1115"/>
            <a:ext cx="9139533" cy="651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799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070598F-297E-024F-A419-E1F654956226}"/>
              </a:ext>
            </a:extLst>
          </p:cNvPr>
          <p:cNvSpPr/>
          <p:nvPr/>
        </p:nvSpPr>
        <p:spPr>
          <a:xfrm>
            <a:off x="395536" y="260648"/>
            <a:ext cx="63367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LIMPAR O LABORATÓRIO DO DOCKER FILE</a:t>
            </a:r>
            <a:endParaRPr lang="pt-B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AF9D861-B98D-746A-1CBA-9A52CBD08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699" y="2492896"/>
            <a:ext cx="5400601" cy="36004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55D9FAD-1C02-45D9-604B-5570403E9FFA}"/>
              </a:ext>
            </a:extLst>
          </p:cNvPr>
          <p:cNvSpPr/>
          <p:nvPr/>
        </p:nvSpPr>
        <p:spPr>
          <a:xfrm>
            <a:off x="2087723" y="1556792"/>
            <a:ext cx="4968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dirty="0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system </a:t>
            </a:r>
            <a:r>
              <a:rPr lang="pt-BR" dirty="0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prune</a:t>
            </a:r>
            <a:r>
              <a:rPr lang="pt-BR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b="1" i="0" dirty="0">
                <a:solidFill>
                  <a:srgbClr val="FF3399"/>
                </a:solidFill>
                <a:effectLst/>
                <a:latin typeface="Trebuchet MS" panose="020B0703020202090204" pitchFamily="34" charset="0"/>
              </a:rPr>
              <a:t>-a</a:t>
            </a:r>
            <a:r>
              <a:rPr lang="pt-BR" b="1" i="0" dirty="0">
                <a:solidFill>
                  <a:srgbClr val="800080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pt-BR" b="1" i="0" dirty="0">
                <a:solidFill>
                  <a:srgbClr val="FF0066"/>
                </a:solidFill>
                <a:effectLst/>
                <a:latin typeface="Trebuchet MS" panose="020B0703020202090204" pitchFamily="34" charset="0"/>
              </a:rPr>
              <a:t>-</a:t>
            </a:r>
            <a:r>
              <a:rPr lang="pt-BR" b="1" i="0" dirty="0" err="1">
                <a:solidFill>
                  <a:srgbClr val="FF0066"/>
                </a:solidFill>
                <a:effectLst/>
                <a:latin typeface="Trebuchet MS" panose="020B0703020202090204" pitchFamily="34" charset="0"/>
              </a:rPr>
              <a:t>f</a:t>
            </a:r>
            <a:r>
              <a:rPr lang="pt-BR" b="1" i="0" dirty="0">
                <a:solidFill>
                  <a:srgbClr val="800080"/>
                </a:solidFill>
                <a:effectLst/>
                <a:latin typeface="Trebuchet MS" panose="020B0703020202090204" pitchFamily="34" charset="0"/>
              </a:rPr>
              <a:t> --volumes</a:t>
            </a:r>
            <a:endParaRPr lang="pt-BR" dirty="0">
              <a:solidFill>
                <a:srgbClr val="5E948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2408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1E7352-4E94-47F9-A1DD-4D554B1F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COMPOSE</a:t>
            </a:r>
          </a:p>
        </p:txBody>
      </p:sp>
      <p:pic>
        <p:nvPicPr>
          <p:cNvPr id="1026" name="Picture 2" descr="Everything You Need to Know about Docker Compose">
            <a:extLst>
              <a:ext uri="{FF2B5EF4-FFF2-40B4-BE49-F238E27FC236}">
                <a16:creationId xmlns:a16="http://schemas.microsoft.com/office/drawing/2014/main" id="{47983135-EDB1-621A-5DDA-8536F4AE4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33488"/>
            <a:ext cx="9144000" cy="439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4012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1E7352-4E94-47F9-A1DD-4D554B1F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Conhecendo o Docker </a:t>
            </a:r>
            <a:r>
              <a:rPr lang="pt-BR" sz="2000" err="1">
                <a:solidFill>
                  <a:schemeClr val="tx1"/>
                </a:solidFill>
              </a:rPr>
              <a:t>Compose</a:t>
            </a:r>
            <a:endParaRPr lang="pt-BR" sz="2000">
              <a:solidFill>
                <a:schemeClr val="tx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150866F-2B49-2672-74FE-232162149BBF}"/>
              </a:ext>
            </a:extLst>
          </p:cNvPr>
          <p:cNvSpPr txBox="1"/>
          <p:nvPr/>
        </p:nvSpPr>
        <p:spPr>
          <a:xfrm>
            <a:off x="107504" y="836712"/>
            <a:ext cx="8928992" cy="54938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Wingdings" pitchFamily="2" charset="2"/>
              <a:buChar char="ü"/>
            </a:pPr>
            <a:r>
              <a:rPr lang="pt-BR" b="0" dirty="0">
                <a:latin typeface="Calibri"/>
                <a:cs typeface="Calibri"/>
              </a:rPr>
              <a:t>O Docker </a:t>
            </a:r>
            <a:r>
              <a:rPr lang="pt-BR" b="0" dirty="0" err="1">
                <a:latin typeface="Calibri"/>
                <a:cs typeface="Calibri"/>
              </a:rPr>
              <a:t>Compose</a:t>
            </a:r>
            <a:r>
              <a:rPr lang="pt-BR" b="0" dirty="0">
                <a:latin typeface="Calibri"/>
                <a:cs typeface="Calibri"/>
              </a:rPr>
              <a:t> é uma ferramenta para definir e gerenciar aplicações </a:t>
            </a:r>
            <a:r>
              <a:rPr lang="pt-BR" b="0" dirty="0" err="1">
                <a:latin typeface="Calibri"/>
                <a:cs typeface="Calibri"/>
              </a:rPr>
              <a:t>docker</a:t>
            </a:r>
            <a:r>
              <a:rPr lang="pt-BR" b="0" dirty="0">
                <a:latin typeface="Calibri"/>
                <a:cs typeface="Calibri"/>
              </a:rPr>
              <a:t> com múltiplos containers de maneira mais fácil. Com o Docker </a:t>
            </a:r>
            <a:r>
              <a:rPr lang="pt-BR" b="0" dirty="0" err="1">
                <a:latin typeface="Calibri"/>
                <a:cs typeface="Calibri"/>
              </a:rPr>
              <a:t>Compose</a:t>
            </a:r>
            <a:r>
              <a:rPr lang="pt-BR" b="0" dirty="0">
                <a:latin typeface="Calibri"/>
                <a:cs typeface="Calibri"/>
              </a:rPr>
              <a:t>, você pode criar, configurar e gerenciar vários contêineres Docker como um aplicativo. Neste contexto os containers são chamados de serviços</a:t>
            </a:r>
          </a:p>
          <a:p>
            <a:pPr marL="342900" indent="-342900" algn="just">
              <a:buFont typeface="Wingdings" pitchFamily="2" charset="2"/>
              <a:buChar char="ü"/>
            </a:pPr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Wingdings" pitchFamily="2" charset="2"/>
              <a:buChar char="ü"/>
            </a:pPr>
            <a:r>
              <a:rPr lang="pt-BR" b="0" dirty="0">
                <a:latin typeface="Calibri"/>
                <a:cs typeface="Calibri"/>
              </a:rPr>
              <a:t>E uma Ferramenta de Coordenação </a:t>
            </a:r>
            <a:r>
              <a:rPr lang="pt-BR" b="0" dirty="0">
                <a:solidFill>
                  <a:srgbClr val="FF3399"/>
                </a:solidFill>
                <a:latin typeface="Calibri"/>
                <a:cs typeface="Calibri"/>
              </a:rPr>
              <a:t>(não orquestração)</a:t>
            </a:r>
            <a:r>
              <a:rPr lang="pt-BR" b="0" dirty="0">
                <a:latin typeface="Calibri"/>
                <a:cs typeface="Calibri"/>
              </a:rPr>
              <a:t> de Containers</a:t>
            </a:r>
          </a:p>
          <a:p>
            <a:pPr marL="1257300" lvl="2" indent="-342900" algn="just">
              <a:buFont typeface="Wingdings" pitchFamily="2" charset="2"/>
              <a:buChar char="ü"/>
            </a:pPr>
            <a:r>
              <a:rPr lang="pt-BR" b="0" dirty="0">
                <a:latin typeface="Calibri"/>
                <a:cs typeface="Calibri"/>
              </a:rPr>
              <a:t>Auxiliar a executar e compor diversos containers com diversos arquivos</a:t>
            </a:r>
          </a:p>
          <a:p>
            <a:pPr marL="1257300" lvl="2" indent="-342900" algn="just">
              <a:buFont typeface="Wingdings" pitchFamily="2" charset="2"/>
              <a:buChar char="ü"/>
            </a:pPr>
            <a:r>
              <a:rPr lang="pt-BR" b="0" dirty="0">
                <a:latin typeface="Calibri"/>
                <a:cs typeface="Calibri"/>
              </a:rPr>
              <a:t>Trabalha com múltiplos Containers</a:t>
            </a: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Wingdings" pitchFamily="2" charset="2"/>
              <a:buChar char="ü"/>
            </a:pPr>
            <a:r>
              <a:rPr lang="pt-BR" b="0" dirty="0">
                <a:latin typeface="Calibri"/>
                <a:cs typeface="Calibri"/>
              </a:rPr>
              <a:t>O Docker </a:t>
            </a:r>
            <a:r>
              <a:rPr lang="pt-BR" b="0" dirty="0" err="1">
                <a:latin typeface="Calibri"/>
                <a:cs typeface="Calibri"/>
              </a:rPr>
              <a:t>Compose</a:t>
            </a:r>
            <a:r>
              <a:rPr lang="pt-BR" b="0" dirty="0">
                <a:latin typeface="Calibri"/>
                <a:cs typeface="Calibri"/>
              </a:rPr>
              <a:t> já vem instalado por padrão quando instalamos o Docker no Windows ou no Mac, porém no Linux, precisamos realizar sua instalação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5B76714-B5D8-EE69-6864-86904CEC4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429" y="5757781"/>
            <a:ext cx="3330510" cy="110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340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1E7352-4E94-47F9-A1DD-4D554B1F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Arquitetura do Docker </a:t>
            </a:r>
            <a:r>
              <a:rPr lang="pt-BR" sz="2000" err="1">
                <a:solidFill>
                  <a:schemeClr val="tx1"/>
                </a:solidFill>
              </a:rPr>
              <a:t>Compose</a:t>
            </a:r>
            <a:endParaRPr lang="pt-BR" sz="2000">
              <a:solidFill>
                <a:schemeClr val="tx1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835D1F0-BA3C-8A6D-8ADD-6F5523C70CD2}"/>
              </a:ext>
            </a:extLst>
          </p:cNvPr>
          <p:cNvSpPr txBox="1"/>
          <p:nvPr/>
        </p:nvSpPr>
        <p:spPr>
          <a:xfrm>
            <a:off x="3995936" y="1052736"/>
            <a:ext cx="511256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900" b="0"/>
              <a:t>- A arquitetura do Docker </a:t>
            </a:r>
            <a:r>
              <a:rPr lang="pt-BR" sz="1900" b="0" err="1"/>
              <a:t>Compose</a:t>
            </a:r>
            <a:r>
              <a:rPr lang="pt-BR" sz="1900" b="0"/>
              <a:t> é baseada em um arquivo YAML (</a:t>
            </a:r>
            <a:r>
              <a:rPr lang="pt-BR" sz="1900" b="0" err="1"/>
              <a:t>Yet</a:t>
            </a:r>
            <a:r>
              <a:rPr lang="pt-BR" sz="1900" b="0"/>
              <a:t> </a:t>
            </a:r>
            <a:r>
              <a:rPr lang="pt-BR" sz="1900" b="0" err="1"/>
              <a:t>Another</a:t>
            </a:r>
            <a:r>
              <a:rPr lang="pt-BR" sz="1900" b="0"/>
              <a:t> Markup </a:t>
            </a:r>
            <a:r>
              <a:rPr lang="pt-BR" sz="1900" b="0" err="1"/>
              <a:t>Language</a:t>
            </a:r>
            <a:r>
              <a:rPr lang="pt-BR" sz="1900" b="0"/>
              <a:t>), que contém a definição do aplicativo e sua configuração. O arquivo YAML é usado para criar e gerenciar um ou mais containers de aplicativos</a:t>
            </a:r>
          </a:p>
          <a:p>
            <a:pPr algn="just"/>
            <a:endParaRPr lang="pt-BR" sz="1300" b="0"/>
          </a:p>
          <a:p>
            <a:pPr algn="just"/>
            <a:r>
              <a:rPr lang="pt-BR" sz="1900" b="0"/>
              <a:t>- Esse arquivo é composto de várias seções, cada uma delas correspondendo a um serviço, que pode ser um container ou um conjunto de containers que trabalham juntos para oferecer um serviço completo</a:t>
            </a:r>
          </a:p>
          <a:p>
            <a:pPr algn="just"/>
            <a:endParaRPr lang="pt-BR" sz="1300" b="0"/>
          </a:p>
          <a:p>
            <a:pPr algn="just"/>
            <a:r>
              <a:rPr lang="pt-BR" sz="1900" b="0"/>
              <a:t>- Cada serviço é definido por um conjunto de configurações, incluindo a imagem do Container, a porta em que o Container está exposto, as variáveis de ambiente, o volume e a rede a que o Container está conectado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3212D64-F9C0-995C-691D-3719A6F804C7}"/>
              </a:ext>
            </a:extLst>
          </p:cNvPr>
          <p:cNvSpPr txBox="1"/>
          <p:nvPr/>
        </p:nvSpPr>
        <p:spPr>
          <a:xfrm>
            <a:off x="971598" y="6287618"/>
            <a:ext cx="2178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docker-compose.yml</a:t>
            </a:r>
            <a:endParaRPr lang="pt-BR" sz="1800">
              <a:solidFill>
                <a:srgbClr val="FF0066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8D46317-2A4C-F815-874E-A58BEC18A7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80" y="1267004"/>
            <a:ext cx="3686644" cy="5612376"/>
          </a:xfrm>
          <a:prstGeom prst="rect">
            <a:avLst/>
          </a:prstGeom>
        </p:spPr>
      </p:pic>
      <p:sp>
        <p:nvSpPr>
          <p:cNvPr id="8" name="Retângulo Arredondado 7">
            <a:extLst>
              <a:ext uri="{FF2B5EF4-FFF2-40B4-BE49-F238E27FC236}">
                <a16:creationId xmlns:a16="http://schemas.microsoft.com/office/drawing/2014/main" id="{C2C3476F-DA68-D764-3F98-05C51F821A34}"/>
              </a:ext>
            </a:extLst>
          </p:cNvPr>
          <p:cNvSpPr/>
          <p:nvPr/>
        </p:nvSpPr>
        <p:spPr bwMode="auto">
          <a:xfrm>
            <a:off x="282260" y="1268760"/>
            <a:ext cx="57682" cy="4248472"/>
          </a:xfrm>
          <a:prstGeom prst="roundRect">
            <a:avLst/>
          </a:prstGeom>
          <a:solidFill>
            <a:srgbClr val="FF0066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CABD19E7-F090-8779-B8DD-8088C0A47AB1}"/>
              </a:ext>
            </a:extLst>
          </p:cNvPr>
          <p:cNvSpPr/>
          <p:nvPr/>
        </p:nvSpPr>
        <p:spPr bwMode="auto">
          <a:xfrm>
            <a:off x="494521" y="1855675"/>
            <a:ext cx="62745" cy="648072"/>
          </a:xfrm>
          <a:prstGeom prst="roundRect">
            <a:avLst/>
          </a:prstGeom>
          <a:solidFill>
            <a:srgbClr val="FF0066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11" name="Retângulo Arredondado 10">
            <a:extLst>
              <a:ext uri="{FF2B5EF4-FFF2-40B4-BE49-F238E27FC236}">
                <a16:creationId xmlns:a16="http://schemas.microsoft.com/office/drawing/2014/main" id="{F27550C8-0E26-E654-1E5B-ACF10CA44F8E}"/>
              </a:ext>
            </a:extLst>
          </p:cNvPr>
          <p:cNvSpPr/>
          <p:nvPr/>
        </p:nvSpPr>
        <p:spPr bwMode="auto">
          <a:xfrm>
            <a:off x="504242" y="3789040"/>
            <a:ext cx="57683" cy="216024"/>
          </a:xfrm>
          <a:prstGeom prst="roundRect">
            <a:avLst/>
          </a:prstGeom>
          <a:solidFill>
            <a:srgbClr val="FF0066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60E7ABA-5829-B95C-C416-2C9571BDF151}"/>
              </a:ext>
            </a:extLst>
          </p:cNvPr>
          <p:cNvSpPr txBox="1"/>
          <p:nvPr/>
        </p:nvSpPr>
        <p:spPr>
          <a:xfrm>
            <a:off x="5076056" y="6421748"/>
            <a:ext cx="2376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Cuidado na </a:t>
            </a:r>
            <a:r>
              <a:rPr lang="pt-BR" sz="1800" err="1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indentação</a:t>
            </a:r>
            <a:endParaRPr lang="pt-BR" sz="180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1243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1E7352-4E94-47F9-A1DD-4D554B1F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Arquitetura do Docker </a:t>
            </a:r>
            <a:r>
              <a:rPr lang="pt-BR" sz="2000" err="1">
                <a:solidFill>
                  <a:schemeClr val="tx1"/>
                </a:solidFill>
              </a:rPr>
              <a:t>Compose</a:t>
            </a:r>
            <a:endParaRPr lang="pt-BR" sz="2000">
              <a:solidFill>
                <a:schemeClr val="tx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15359B2-29FD-8BC1-C664-16ECB6457BD7}"/>
              </a:ext>
            </a:extLst>
          </p:cNvPr>
          <p:cNvSpPr txBox="1"/>
          <p:nvPr/>
        </p:nvSpPr>
        <p:spPr>
          <a:xfrm>
            <a:off x="107504" y="1124744"/>
            <a:ext cx="892899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Quando o Docker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Compose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é executado, ele lê o arquivo YAML e cria e gerencia os containers de aplicativos conforme especificado no arquivo. Ele usa as configurações definidas no arquivo YAML para criar os containers, atribuir os recursos necessários, conectá-los e configurar as variáveis de ambiente</a:t>
            </a:r>
          </a:p>
          <a:p>
            <a:pPr algn="just"/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Os Containers criados pelo Docker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Compose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podem ser executados em um único Host ou em vários Hosts, e o Docker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Compose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é capaz de gerencia-los de forma centralizada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8C73095-0C28-C224-AF78-1C6880692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893" y="4541064"/>
            <a:ext cx="4750214" cy="231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0380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A58086A-8C6E-5EB2-63ED-F5BD0433E1B9}"/>
              </a:ext>
            </a:extLst>
          </p:cNvPr>
          <p:cNvSpPr txBox="1"/>
          <p:nvPr/>
        </p:nvSpPr>
        <p:spPr>
          <a:xfrm>
            <a:off x="107504" y="1052736"/>
            <a:ext cx="8928992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DimDim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precisa de uma aplicação para gerenciar as solicitações de produtos e que emitam um alarme de baixo estoque. Para isso, você foi designado para desenvolver uma API que permita realizar operações de CRUD em uma tabela chamada OUT_STOCK, com os campos código, nome e data da solicitação</a:t>
            </a: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Para o desenvolvimento da aplicação, você optou por utilizar Python como o App e MySQL como o Banco de Dados. Além disso, para facilitar a implantação e o gerenciamento dos componentes da aplicação, você decidiu usar o Docker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Compose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para criar os Containers e o Serviço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D59D0B3-DA34-2202-B0DE-F7F423D7A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03016">
            <a:off x="4880001" y="5192717"/>
            <a:ext cx="3062735" cy="122509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68A3D86-FF57-8325-65CD-ABC001E4F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410" y="5041290"/>
            <a:ext cx="1816709" cy="1816709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74956F6-F71C-A45A-BD5A-86466E63D13C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9796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58086A-8C6E-5EB2-63ED-F5BD0433E1B9}"/>
              </a:ext>
            </a:extLst>
          </p:cNvPr>
          <p:cNvSpPr txBox="1"/>
          <p:nvPr/>
        </p:nvSpPr>
        <p:spPr>
          <a:xfrm>
            <a:off x="107504" y="1052736"/>
            <a:ext cx="89289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Para começar, precisamos criar um Docker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Compose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que gerencie dois containers: uma API em Python e um Banco de Dados MySQL. A aplicação em Python é responsável por gerenciar os produtos que irão emitir um alarme de baixo estoque, enquanto o banco de dados armazena as informações dessas transações</a:t>
            </a:r>
          </a:p>
          <a:p>
            <a:pPr algn="just"/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Nos próximos passos, vamos ver como a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DimDim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pode criar um Docker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Compose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para gerenciar esses dois Containers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D59D0B3-DA34-2202-B0DE-F7F423D7A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03016">
            <a:off x="4880001" y="5192717"/>
            <a:ext cx="3062735" cy="122509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68A3D86-FF57-8325-65CD-ABC001E4F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410" y="5041290"/>
            <a:ext cx="1816709" cy="181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6631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74956F6-F71C-A45A-BD5A-86466E63D13C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ubo 3">
            <a:extLst>
              <a:ext uri="{FF2B5EF4-FFF2-40B4-BE49-F238E27FC236}">
                <a16:creationId xmlns:a16="http://schemas.microsoft.com/office/drawing/2014/main" id="{A6A00137-8571-E39A-9397-8919A227C0EB}"/>
              </a:ext>
            </a:extLst>
          </p:cNvPr>
          <p:cNvSpPr/>
          <p:nvPr/>
        </p:nvSpPr>
        <p:spPr bwMode="auto">
          <a:xfrm>
            <a:off x="1619672" y="2776621"/>
            <a:ext cx="2160240" cy="792088"/>
          </a:xfrm>
          <a:prstGeom prst="cube">
            <a:avLst/>
          </a:prstGeom>
          <a:solidFill>
            <a:srgbClr val="005F8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1" i="0" u="none" strike="noStrike" cap="none" normalizeH="0" baseline="0" err="1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Api</a:t>
            </a:r>
            <a:r>
              <a:rPr kumimoji="0" lang="pt-BR" sz="24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 Python</a:t>
            </a:r>
          </a:p>
        </p:txBody>
      </p:sp>
      <p:sp>
        <p:nvSpPr>
          <p:cNvPr id="6" name="Cubo 5">
            <a:extLst>
              <a:ext uri="{FF2B5EF4-FFF2-40B4-BE49-F238E27FC236}">
                <a16:creationId xmlns:a16="http://schemas.microsoft.com/office/drawing/2014/main" id="{793F071C-4AB3-BFCC-4621-E0E6DB99DEFA}"/>
              </a:ext>
            </a:extLst>
          </p:cNvPr>
          <p:cNvSpPr/>
          <p:nvPr/>
        </p:nvSpPr>
        <p:spPr bwMode="auto">
          <a:xfrm>
            <a:off x="4427984" y="2776621"/>
            <a:ext cx="2304256" cy="792088"/>
          </a:xfrm>
          <a:prstGeom prst="cube">
            <a:avLst/>
          </a:prstGeom>
          <a:solidFill>
            <a:srgbClr val="005F8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Banco </a:t>
            </a:r>
            <a:r>
              <a:rPr kumimoji="0" lang="pt-BR" sz="2400" b="1" i="0" u="none" strike="noStrike" cap="none" normalizeH="0" baseline="0" err="1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Mysql</a:t>
            </a: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7" name="Retângulo Arredondado 6">
            <a:extLst>
              <a:ext uri="{FF2B5EF4-FFF2-40B4-BE49-F238E27FC236}">
                <a16:creationId xmlns:a16="http://schemas.microsoft.com/office/drawing/2014/main" id="{84224CD2-49C9-8FAB-D1EC-7BB2783FD383}"/>
              </a:ext>
            </a:extLst>
          </p:cNvPr>
          <p:cNvSpPr/>
          <p:nvPr/>
        </p:nvSpPr>
        <p:spPr bwMode="auto">
          <a:xfrm>
            <a:off x="1475656" y="2528958"/>
            <a:ext cx="5472608" cy="2296288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F5BC7B9-3A04-6EE1-A7AF-90D35C3F5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3909727"/>
            <a:ext cx="792088" cy="792088"/>
          </a:xfrm>
          <a:prstGeom prst="rect">
            <a:avLst/>
          </a:prstGeom>
        </p:spPr>
      </p:pic>
      <p:pic>
        <p:nvPicPr>
          <p:cNvPr id="1028" name="Picture 4" descr="MySQL logo PNG transparent image download, size: 256x256px">
            <a:extLst>
              <a:ext uri="{FF2B5EF4-FFF2-40B4-BE49-F238E27FC236}">
                <a16:creationId xmlns:a16="http://schemas.microsoft.com/office/drawing/2014/main" id="{9E8B3585-1771-4F11-08E4-80AE616D0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909727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eta para a Esquerda e para a Direita 11">
            <a:extLst>
              <a:ext uri="{FF2B5EF4-FFF2-40B4-BE49-F238E27FC236}">
                <a16:creationId xmlns:a16="http://schemas.microsoft.com/office/drawing/2014/main" id="{B3AE49C3-9911-7C14-4CDD-849AE9DFC9BC}"/>
              </a:ext>
            </a:extLst>
          </p:cNvPr>
          <p:cNvSpPr/>
          <p:nvPr/>
        </p:nvSpPr>
        <p:spPr bwMode="auto">
          <a:xfrm>
            <a:off x="3383868" y="4182705"/>
            <a:ext cx="1296144" cy="360040"/>
          </a:xfrm>
          <a:prstGeom prst="leftRightArrow">
            <a:avLst/>
          </a:prstGeom>
          <a:solidFill>
            <a:srgbClr val="005F8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pic>
        <p:nvPicPr>
          <p:cNvPr id="1030" name="Picture 6" descr="Docker ] Docker hub 를 이용해 Portainer 이미지 다운받기">
            <a:extLst>
              <a:ext uri="{FF2B5EF4-FFF2-40B4-BE49-F238E27FC236}">
                <a16:creationId xmlns:a16="http://schemas.microsoft.com/office/drawing/2014/main" id="{78A69594-91D0-0FE9-85E8-C637DD787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1188374"/>
            <a:ext cx="1296144" cy="103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AC0B7B1-D6FA-FBFC-57F3-B373816A7D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4043" y="1109203"/>
            <a:ext cx="1225749" cy="103286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9D88569-D245-B6B1-FA2A-430A5F76FD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6256" y="2664146"/>
            <a:ext cx="1809126" cy="1809126"/>
          </a:xfrm>
          <a:prstGeom prst="rect">
            <a:avLst/>
          </a:prstGeom>
        </p:spPr>
      </p:pic>
      <p:cxnSp>
        <p:nvCxnSpPr>
          <p:cNvPr id="16" name="Conector em Curva 15">
            <a:extLst>
              <a:ext uri="{FF2B5EF4-FFF2-40B4-BE49-F238E27FC236}">
                <a16:creationId xmlns:a16="http://schemas.microsoft.com/office/drawing/2014/main" id="{87497587-201E-CA68-437E-ED3DB67D2421}"/>
              </a:ext>
            </a:extLst>
          </p:cNvPr>
          <p:cNvCxnSpPr>
            <a:cxnSpLocks/>
            <a:endCxn id="13" idx="2"/>
          </p:cNvCxnSpPr>
          <p:nvPr/>
        </p:nvCxnSpPr>
        <p:spPr bwMode="auto">
          <a:xfrm rot="16200000" flipV="1">
            <a:off x="1866283" y="2362703"/>
            <a:ext cx="688322" cy="247051"/>
          </a:xfrm>
          <a:prstGeom prst="curvedConnector3">
            <a:avLst/>
          </a:prstGeom>
          <a:solidFill>
            <a:schemeClr val="accent1"/>
          </a:solidFill>
          <a:ln w="38100" cap="flat" cmpd="sng" algn="ctr">
            <a:solidFill>
              <a:srgbClr val="005F8E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Conector em Curva 18">
            <a:extLst>
              <a:ext uri="{FF2B5EF4-FFF2-40B4-BE49-F238E27FC236}">
                <a16:creationId xmlns:a16="http://schemas.microsoft.com/office/drawing/2014/main" id="{E3D37576-E795-CFA2-CCFC-96B254948916}"/>
              </a:ext>
            </a:extLst>
          </p:cNvPr>
          <p:cNvCxnSpPr>
            <a:cxnSpLocks/>
          </p:cNvCxnSpPr>
          <p:nvPr/>
        </p:nvCxnSpPr>
        <p:spPr bwMode="auto">
          <a:xfrm rot="5400000" flipH="1" flipV="1">
            <a:off x="5782412" y="2258841"/>
            <a:ext cx="634554" cy="401006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38100" cap="flat" cmpd="sng" algn="ctr">
            <a:solidFill>
              <a:srgbClr val="005F8E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5" name="Imagem 24">
            <a:extLst>
              <a:ext uri="{FF2B5EF4-FFF2-40B4-BE49-F238E27FC236}">
                <a16:creationId xmlns:a16="http://schemas.microsoft.com/office/drawing/2014/main" id="{069599BB-E4B7-C795-8195-6A16A63B91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2254" y="5106351"/>
            <a:ext cx="1691736" cy="1691736"/>
          </a:xfrm>
          <a:prstGeom prst="rect">
            <a:avLst/>
          </a:prstGeom>
        </p:spPr>
      </p:pic>
      <p:cxnSp>
        <p:nvCxnSpPr>
          <p:cNvPr id="26" name="Conector em Curva 25">
            <a:extLst>
              <a:ext uri="{FF2B5EF4-FFF2-40B4-BE49-F238E27FC236}">
                <a16:creationId xmlns:a16="http://schemas.microsoft.com/office/drawing/2014/main" id="{31112A93-EEFD-A620-12D8-5773B3F39E55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5285696" y="4902491"/>
            <a:ext cx="768852" cy="396043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38100" cap="flat" cmpd="sng" algn="ctr">
            <a:solidFill>
              <a:srgbClr val="005F8E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14C4DB6C-4EB8-077A-B1B9-B2A5C186694A}"/>
              </a:ext>
            </a:extLst>
          </p:cNvPr>
          <p:cNvSpPr txBox="1"/>
          <p:nvPr/>
        </p:nvSpPr>
        <p:spPr>
          <a:xfrm>
            <a:off x="1992652" y="5607886"/>
            <a:ext cx="36594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0">
                <a:latin typeface="Calibri" panose="020F0502020204030204" pitchFamily="34" charset="0"/>
                <a:cs typeface="Calibri" panose="020F0502020204030204" pitchFamily="34" charset="0"/>
              </a:rPr>
              <a:t>Os dados gerados serão consumidos por outra aplicação feita em </a:t>
            </a:r>
            <a:r>
              <a:rPr lang="pt-BR" sz="1800" b="0" err="1">
                <a:latin typeface="Calibri" panose="020F0502020204030204" pitchFamily="34" charset="0"/>
                <a:cs typeface="Calibri" panose="020F0502020204030204" pitchFamily="34" charset="0"/>
              </a:rPr>
              <a:t>React</a:t>
            </a:r>
            <a:endParaRPr lang="pt-BR" sz="18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sz="1800" b="0">
                <a:latin typeface="Calibri" panose="020F0502020204030204" pitchFamily="34" charset="0"/>
                <a:cs typeface="Calibri" panose="020F0502020204030204" pitchFamily="34" charset="0"/>
              </a:rPr>
              <a:t>(fora do nosso escopo)</a:t>
            </a: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9CB5ABAB-1881-2933-1168-F82FAC225D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114" y="3443407"/>
            <a:ext cx="555207" cy="555207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0FD4316D-BD19-E81A-8BE4-DBACD388A8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03" y="4093145"/>
            <a:ext cx="924818" cy="367990"/>
          </a:xfrm>
          <a:prstGeom prst="rect">
            <a:avLst/>
          </a:prstGeom>
        </p:spPr>
      </p:pic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E21468AD-D273-522D-C797-61AFBCD5A67A}"/>
              </a:ext>
            </a:extLst>
          </p:cNvPr>
          <p:cNvCxnSpPr/>
          <p:nvPr/>
        </p:nvCxnSpPr>
        <p:spPr bwMode="auto">
          <a:xfrm>
            <a:off x="1331640" y="4293096"/>
            <a:ext cx="755278" cy="0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rgbClr val="005F8E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37" name="Imagem 36">
            <a:extLst>
              <a:ext uri="{FF2B5EF4-FFF2-40B4-BE49-F238E27FC236}">
                <a16:creationId xmlns:a16="http://schemas.microsoft.com/office/drawing/2014/main" id="{C1C52E90-67EC-B977-5734-9419AD8E11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1627" y="4555666"/>
            <a:ext cx="555208" cy="555208"/>
          </a:xfrm>
          <a:prstGeom prst="rect">
            <a:avLst/>
          </a:prstGeom>
        </p:spPr>
      </p:pic>
      <p:sp>
        <p:nvSpPr>
          <p:cNvPr id="38" name="Retângulo Arredondado 37">
            <a:extLst>
              <a:ext uri="{FF2B5EF4-FFF2-40B4-BE49-F238E27FC236}">
                <a16:creationId xmlns:a16="http://schemas.microsoft.com/office/drawing/2014/main" id="{CD4FF567-74DD-5C95-3DD8-6F1258387358}"/>
              </a:ext>
            </a:extLst>
          </p:cNvPr>
          <p:cNvSpPr/>
          <p:nvPr/>
        </p:nvSpPr>
        <p:spPr bwMode="auto">
          <a:xfrm>
            <a:off x="230502" y="3385242"/>
            <a:ext cx="1101137" cy="1771949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8693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A58086A-8C6E-5EB2-63ED-F5BD0433E1B9}"/>
              </a:ext>
            </a:extLst>
          </p:cNvPr>
          <p:cNvSpPr txBox="1"/>
          <p:nvPr/>
        </p:nvSpPr>
        <p:spPr>
          <a:xfrm>
            <a:off x="215008" y="908720"/>
            <a:ext cx="8928992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Seu objetivo é criar um ambiente de desenvolvimento local que inclua dois containers: um container para a API e outro container para o Banco de Dados. Esses containers devem se comunicar na mesma rede e os dados do Banco devem ser persistidos</a:t>
            </a: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O Desenvolvimento do código da API,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Dockerfile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e o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docker-compose.yml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já foram feitos para esse exercício assistido</a:t>
            </a:r>
          </a:p>
          <a:p>
            <a:pPr algn="just"/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1. Clonar o Repositório do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Hub</a:t>
            </a: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2. Revisar os códigos fontes (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app.py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requirements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), o arquivo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Dockerfile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e o arquivo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docker-compose.yml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4A89FB5-A965-7C93-EA4C-6B810934A1F6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1301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A58086A-8C6E-5EB2-63ED-F5BD0433E1B9}"/>
              </a:ext>
            </a:extLst>
          </p:cNvPr>
          <p:cNvSpPr txBox="1"/>
          <p:nvPr/>
        </p:nvSpPr>
        <p:spPr>
          <a:xfrm>
            <a:off x="215008" y="1259175"/>
            <a:ext cx="8928992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3. Subir o Docker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Compose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4. Verificar o ambiente do Banco (Banco, Tabela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5. Verificar as informações sobre Logs, Rede, Volume</a:t>
            </a: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6. Realizar os testes do Serviço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B6C5F73-6241-14CE-4C66-6D2DE98C05C5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7459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58086A-8C6E-5EB2-63ED-F5BD0433E1B9}"/>
              </a:ext>
            </a:extLst>
          </p:cNvPr>
          <p:cNvSpPr txBox="1"/>
          <p:nvPr/>
        </p:nvSpPr>
        <p:spPr>
          <a:xfrm>
            <a:off x="107504" y="1052736"/>
            <a:ext cx="89289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Primeiramente vamos verificar se o Docker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Compose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está instalado e qual sua versão através do comando abaixo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EF760C7-1AE6-8AD0-B6B6-7B33C791ADCF}"/>
              </a:ext>
            </a:extLst>
          </p:cNvPr>
          <p:cNvSpPr txBox="1"/>
          <p:nvPr/>
        </p:nvSpPr>
        <p:spPr>
          <a:xfrm>
            <a:off x="2267744" y="2060848"/>
            <a:ext cx="3528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docker-compose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--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</a:t>
            </a:r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5254B84-F037-8205-3D72-DF240D021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3140968"/>
            <a:ext cx="54737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7273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58086A-8C6E-5EB2-63ED-F5BD0433E1B9}"/>
              </a:ext>
            </a:extLst>
          </p:cNvPr>
          <p:cNvSpPr txBox="1"/>
          <p:nvPr/>
        </p:nvSpPr>
        <p:spPr>
          <a:xfrm>
            <a:off x="107504" y="1121039"/>
            <a:ext cx="89289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Vamos começar a tarefa clonando o fonte do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Hub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B3AE018-0AA7-31C1-B714-22FA01FCDF53}"/>
              </a:ext>
            </a:extLst>
          </p:cNvPr>
          <p:cNvSpPr/>
          <p:nvPr/>
        </p:nvSpPr>
        <p:spPr>
          <a:xfrm>
            <a:off x="132292" y="1678181"/>
            <a:ext cx="8727074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900" err="1">
                <a:solidFill>
                  <a:srgbClr val="005F8E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BR" sz="1900">
                <a:solidFill>
                  <a:srgbClr val="005F8E"/>
                </a:solidFill>
                <a:latin typeface="Calibri"/>
                <a:ea typeface="Calibri"/>
                <a:cs typeface="Calibri"/>
                <a:sym typeface="Calibri"/>
              </a:rPr>
              <a:t> clone 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https://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github.com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profjoaomenk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out_stock.git</a:t>
            </a:r>
            <a:endParaRPr lang="pt-BR" sz="1900">
              <a:solidFill>
                <a:srgbClr val="005F8E"/>
              </a:solidFill>
              <a:latin typeface="Calibri"/>
              <a:cs typeface="Calibri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8680197-7E5E-941D-7C22-A9754BBA4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560069"/>
            <a:ext cx="7042313" cy="274925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247199C-2FCD-68D9-B237-E496BB83390A}"/>
              </a:ext>
            </a:extLst>
          </p:cNvPr>
          <p:cNvSpPr txBox="1"/>
          <p:nvPr/>
        </p:nvSpPr>
        <p:spPr>
          <a:xfrm>
            <a:off x="191762" y="2340554"/>
            <a:ext cx="89289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Agora entre no diretório do Projeto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F543DFC-82AD-78A3-30D5-A84C9310A284}"/>
              </a:ext>
            </a:extLst>
          </p:cNvPr>
          <p:cNvSpPr/>
          <p:nvPr/>
        </p:nvSpPr>
        <p:spPr>
          <a:xfrm>
            <a:off x="191762" y="2887510"/>
            <a:ext cx="8727074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900" err="1">
                <a:solidFill>
                  <a:srgbClr val="005F8E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r>
              <a:rPr lang="pt-BR" sz="1900">
                <a:solidFill>
                  <a:srgbClr val="005F8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900" err="1">
                <a:solidFill>
                  <a:srgbClr val="005F8E"/>
                </a:solidFill>
                <a:latin typeface="Calibri"/>
                <a:ea typeface="Calibri"/>
                <a:cs typeface="Calibri"/>
                <a:sym typeface="Calibri"/>
              </a:rPr>
              <a:t>out_stock</a:t>
            </a:r>
            <a:endParaRPr lang="pt-BR" sz="1900">
              <a:solidFill>
                <a:srgbClr val="005F8E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16181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1D7BF4-FBC6-D55F-7EDE-EE1366E78989}"/>
              </a:ext>
            </a:extLst>
          </p:cNvPr>
          <p:cNvSpPr txBox="1"/>
          <p:nvPr/>
        </p:nvSpPr>
        <p:spPr>
          <a:xfrm>
            <a:off x="107504" y="1121039"/>
            <a:ext cx="8928992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Inicie o Visual Studio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e abra a pasta referente ao projeto</a:t>
            </a:r>
          </a:p>
          <a:p>
            <a:pPr algn="just"/>
            <a:endParaRPr lang="pt-BR" sz="7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Vamos fazer o passo 2 agora:</a:t>
            </a:r>
          </a:p>
          <a:p>
            <a:pPr algn="just"/>
            <a:endParaRPr lang="pt-BR" sz="7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Revisar os códigos fontes (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app.py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requirements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), o arquivo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Dockerfile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e o arquivo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docker-compose.yml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(descrição no próximo Slide)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9161C8C-7B54-CE67-6A24-D2C244750D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684" y="3140968"/>
            <a:ext cx="5688632" cy="360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0525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5376D70E-4E60-DA27-8055-DF5D555AF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0" y="1149337"/>
            <a:ext cx="3324388" cy="490589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96999EF-EA62-5C57-F51E-CA108EEB1322}"/>
              </a:ext>
            </a:extLst>
          </p:cNvPr>
          <p:cNvSpPr txBox="1"/>
          <p:nvPr/>
        </p:nvSpPr>
        <p:spPr>
          <a:xfrm>
            <a:off x="3433554" y="980728"/>
            <a:ext cx="56029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100" b="0">
                <a:solidFill>
                  <a:srgbClr val="FF006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Bloco de configuração denominado </a:t>
            </a:r>
            <a:r>
              <a:rPr lang="pt-BR" sz="1100" err="1">
                <a:solidFill>
                  <a:srgbClr val="FF006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services</a:t>
            </a:r>
            <a:r>
              <a:rPr lang="pt-BR" sz="1100" b="0">
                <a:solidFill>
                  <a:srgbClr val="FF006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  O Docker </a:t>
            </a:r>
            <a:r>
              <a:rPr lang="pt-BR" sz="1100" b="0" err="1">
                <a:solidFill>
                  <a:srgbClr val="FF006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Compose</a:t>
            </a:r>
            <a:r>
              <a:rPr lang="pt-BR" sz="1100" b="0">
                <a:solidFill>
                  <a:srgbClr val="FF006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trata todos os Containers que desejamos executar como serviços</a:t>
            </a:r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39C6AAD9-C757-9F39-8746-3EB0C83A7FF1}"/>
              </a:ext>
            </a:extLst>
          </p:cNvPr>
          <p:cNvSpPr/>
          <p:nvPr/>
        </p:nvSpPr>
        <p:spPr bwMode="auto">
          <a:xfrm>
            <a:off x="150161" y="1270992"/>
            <a:ext cx="451248" cy="160024"/>
          </a:xfrm>
          <a:prstGeom prst="roundRect">
            <a:avLst/>
          </a:prstGeom>
          <a:solidFill>
            <a:srgbClr val="FF0066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10" name="Retângulo Arredondado 9">
            <a:extLst>
              <a:ext uri="{FF2B5EF4-FFF2-40B4-BE49-F238E27FC236}">
                <a16:creationId xmlns:a16="http://schemas.microsoft.com/office/drawing/2014/main" id="{D87794F1-ED1D-2358-1BF4-1685536F7D00}"/>
              </a:ext>
            </a:extLst>
          </p:cNvPr>
          <p:cNvSpPr/>
          <p:nvPr/>
        </p:nvSpPr>
        <p:spPr bwMode="auto">
          <a:xfrm>
            <a:off x="170790" y="1512967"/>
            <a:ext cx="273016" cy="136479"/>
          </a:xfrm>
          <a:prstGeom prst="roundRect">
            <a:avLst/>
          </a:prstGeom>
          <a:solidFill>
            <a:srgbClr val="FF0066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11" name="Retângulo Arredondado 10">
            <a:extLst>
              <a:ext uri="{FF2B5EF4-FFF2-40B4-BE49-F238E27FC236}">
                <a16:creationId xmlns:a16="http://schemas.microsoft.com/office/drawing/2014/main" id="{0EE68067-948E-F469-6CBD-CDB424DD3C4C}"/>
              </a:ext>
            </a:extLst>
          </p:cNvPr>
          <p:cNvSpPr/>
          <p:nvPr/>
        </p:nvSpPr>
        <p:spPr bwMode="auto">
          <a:xfrm>
            <a:off x="194529" y="3340984"/>
            <a:ext cx="296754" cy="119053"/>
          </a:xfrm>
          <a:prstGeom prst="roundRect">
            <a:avLst/>
          </a:prstGeom>
          <a:solidFill>
            <a:srgbClr val="FF0066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41B45CE-BCF7-A074-3FA1-606CAEC291AE}"/>
              </a:ext>
            </a:extLst>
          </p:cNvPr>
          <p:cNvSpPr txBox="1"/>
          <p:nvPr/>
        </p:nvSpPr>
        <p:spPr>
          <a:xfrm>
            <a:off x="3451616" y="1519596"/>
            <a:ext cx="5602943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100" b="0">
                <a:solidFill>
                  <a:srgbClr val="4AB39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Opção </a:t>
            </a:r>
            <a:r>
              <a:rPr lang="pt-BR" sz="1100" err="1">
                <a:solidFill>
                  <a:srgbClr val="4AB39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image</a:t>
            </a:r>
            <a:r>
              <a:rPr lang="pt-BR" sz="1100" b="0">
                <a:solidFill>
                  <a:srgbClr val="4AB39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e </a:t>
            </a:r>
            <a:r>
              <a:rPr lang="pt-BR" sz="1100">
                <a:solidFill>
                  <a:srgbClr val="4AB39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build</a:t>
            </a:r>
            <a:r>
              <a:rPr lang="pt-BR" sz="1100" b="0">
                <a:solidFill>
                  <a:srgbClr val="4AB39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 Essa opção deve ser utilizada para cada serviço que declararmos dentro do arquivo, pois é com o valor desta opção que o Docker entenderá qual imagem de Container deve ser utilizada para a construção. A opção build é onde informaremos o contexto e o arquivo (</a:t>
            </a:r>
            <a:r>
              <a:rPr lang="pt-BR" sz="1100" b="0" err="1">
                <a:solidFill>
                  <a:srgbClr val="4AB39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Dockerfile</a:t>
            </a:r>
            <a:r>
              <a:rPr lang="pt-BR" sz="1100" b="0">
                <a:solidFill>
                  <a:srgbClr val="4AB39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) que possui as instruções para realizar o build de uma imagem personalizada a ser utilizada</a:t>
            </a:r>
          </a:p>
        </p:txBody>
      </p:sp>
      <p:sp>
        <p:nvSpPr>
          <p:cNvPr id="13" name="Retângulo Arredondado 12">
            <a:extLst>
              <a:ext uri="{FF2B5EF4-FFF2-40B4-BE49-F238E27FC236}">
                <a16:creationId xmlns:a16="http://schemas.microsoft.com/office/drawing/2014/main" id="{D0999E13-9368-F1FD-B4FC-98A34A55B668}"/>
              </a:ext>
            </a:extLst>
          </p:cNvPr>
          <p:cNvSpPr/>
          <p:nvPr/>
        </p:nvSpPr>
        <p:spPr bwMode="auto">
          <a:xfrm>
            <a:off x="301961" y="1769224"/>
            <a:ext cx="669640" cy="133691"/>
          </a:xfrm>
          <a:prstGeom prst="roundRect">
            <a:avLst/>
          </a:prstGeom>
          <a:solidFill>
            <a:srgbClr val="4AB396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14" name="Retângulo Arredondado 13">
            <a:extLst>
              <a:ext uri="{FF2B5EF4-FFF2-40B4-BE49-F238E27FC236}">
                <a16:creationId xmlns:a16="http://schemas.microsoft.com/office/drawing/2014/main" id="{E819FF1F-B824-2A1C-D4C1-949C0979D959}"/>
              </a:ext>
            </a:extLst>
          </p:cNvPr>
          <p:cNvSpPr/>
          <p:nvPr/>
        </p:nvSpPr>
        <p:spPr bwMode="auto">
          <a:xfrm>
            <a:off x="315883" y="3589200"/>
            <a:ext cx="431671" cy="140292"/>
          </a:xfrm>
          <a:prstGeom prst="roundRect">
            <a:avLst/>
          </a:prstGeom>
          <a:solidFill>
            <a:srgbClr val="4AB396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B0A7FE8-BF81-7DDA-DA4E-14488062F9DD}"/>
              </a:ext>
            </a:extLst>
          </p:cNvPr>
          <p:cNvSpPr txBox="1"/>
          <p:nvPr/>
        </p:nvSpPr>
        <p:spPr>
          <a:xfrm>
            <a:off x="3465114" y="2566296"/>
            <a:ext cx="560294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100" b="0">
                <a:solidFill>
                  <a:srgbClr val="AF43C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 opção </a:t>
            </a:r>
            <a:r>
              <a:rPr lang="pt-BR" sz="1100" err="1">
                <a:solidFill>
                  <a:srgbClr val="AF43C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ports</a:t>
            </a:r>
            <a:r>
              <a:rPr lang="pt-BR" sz="1100" b="0">
                <a:solidFill>
                  <a:srgbClr val="AF43C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faz referência às portas que serão utilizadas para acessar os serviços providos dentro do Container, onde é utilizada para informar a(</a:t>
            </a:r>
            <a:r>
              <a:rPr lang="pt-BR" sz="1100" b="0" err="1">
                <a:solidFill>
                  <a:srgbClr val="AF43C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</a:t>
            </a:r>
            <a:r>
              <a:rPr lang="pt-BR" sz="1100" b="0">
                <a:solidFill>
                  <a:srgbClr val="AF43C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) porta(</a:t>
            </a:r>
            <a:r>
              <a:rPr lang="pt-BR" sz="1100" b="0" err="1">
                <a:solidFill>
                  <a:srgbClr val="AF43C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</a:t>
            </a:r>
            <a:r>
              <a:rPr lang="pt-BR" sz="1100" b="0">
                <a:solidFill>
                  <a:srgbClr val="AF43C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) do sistema hospedeiro que receberá as requisições e para qual porta deve encaminhar estas requisições para dentro do Container. Existe a possibilidade de utilizar a opção </a:t>
            </a:r>
            <a:r>
              <a:rPr lang="pt-BR" sz="1100" err="1">
                <a:solidFill>
                  <a:srgbClr val="AF43C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expose</a:t>
            </a:r>
            <a:r>
              <a:rPr lang="pt-BR" sz="1100" b="0">
                <a:solidFill>
                  <a:srgbClr val="AF43C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ao invés de </a:t>
            </a:r>
            <a:r>
              <a:rPr lang="pt-BR" sz="1100" b="0" err="1">
                <a:solidFill>
                  <a:srgbClr val="AF43C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ports</a:t>
            </a:r>
            <a:r>
              <a:rPr lang="pt-BR" sz="1100" b="0">
                <a:solidFill>
                  <a:srgbClr val="AF43C6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aonde as requisições são tratadas apenas nas redes a qual este Container faz parte (serviços se comuniquem entre si)</a:t>
            </a:r>
          </a:p>
        </p:txBody>
      </p:sp>
      <p:sp>
        <p:nvSpPr>
          <p:cNvPr id="16" name="Retângulo Arredondado 15">
            <a:extLst>
              <a:ext uri="{FF2B5EF4-FFF2-40B4-BE49-F238E27FC236}">
                <a16:creationId xmlns:a16="http://schemas.microsoft.com/office/drawing/2014/main" id="{AF75672B-24EA-A61C-DA3F-F416FDA74FB3}"/>
              </a:ext>
            </a:extLst>
          </p:cNvPr>
          <p:cNvSpPr/>
          <p:nvPr/>
        </p:nvSpPr>
        <p:spPr bwMode="auto">
          <a:xfrm>
            <a:off x="315882" y="2653525"/>
            <a:ext cx="799733" cy="199047"/>
          </a:xfrm>
          <a:prstGeom prst="roundRect">
            <a:avLst/>
          </a:prstGeom>
          <a:solidFill>
            <a:srgbClr val="AF43C6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7E8E362-75AD-C260-E2CE-6FD707577CCC}"/>
              </a:ext>
            </a:extLst>
          </p:cNvPr>
          <p:cNvSpPr txBox="1"/>
          <p:nvPr/>
        </p:nvSpPr>
        <p:spPr>
          <a:xfrm>
            <a:off x="3465114" y="3729492"/>
            <a:ext cx="56029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100" b="0">
                <a:solidFill>
                  <a:srgbClr val="FFC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Podemos informar com a opção </a:t>
            </a:r>
            <a:r>
              <a:rPr lang="pt-BR" sz="1100" err="1">
                <a:solidFill>
                  <a:srgbClr val="FFC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depends_on</a:t>
            </a:r>
            <a:r>
              <a:rPr lang="pt-BR" sz="1100" b="0">
                <a:solidFill>
                  <a:srgbClr val="FFC00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que, para que um serviço seja iniciado, ele depende que outro seja iniciado primeiro, criando uma dependência</a:t>
            </a:r>
          </a:p>
        </p:txBody>
      </p:sp>
      <p:sp>
        <p:nvSpPr>
          <p:cNvPr id="18" name="Retângulo Arredondado 17">
            <a:extLst>
              <a:ext uri="{FF2B5EF4-FFF2-40B4-BE49-F238E27FC236}">
                <a16:creationId xmlns:a16="http://schemas.microsoft.com/office/drawing/2014/main" id="{C599EF89-75F3-F377-306B-0F681F0A9777}"/>
              </a:ext>
            </a:extLst>
          </p:cNvPr>
          <p:cNvSpPr/>
          <p:nvPr/>
        </p:nvSpPr>
        <p:spPr bwMode="auto">
          <a:xfrm>
            <a:off x="323528" y="4822191"/>
            <a:ext cx="576064" cy="224903"/>
          </a:xfrm>
          <a:prstGeom prst="roundRect">
            <a:avLst/>
          </a:prstGeom>
          <a:solidFill>
            <a:srgbClr val="FFC000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EDCD5E4-7C11-8418-E442-A424B580A13A}"/>
              </a:ext>
            </a:extLst>
          </p:cNvPr>
          <p:cNvSpPr txBox="1"/>
          <p:nvPr/>
        </p:nvSpPr>
        <p:spPr>
          <a:xfrm>
            <a:off x="3465113" y="4294886"/>
            <a:ext cx="56029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100" b="0">
                <a:solidFill>
                  <a:srgbClr val="00206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Com a opção </a:t>
            </a:r>
            <a:r>
              <a:rPr lang="pt-BR" sz="1100" err="1">
                <a:solidFill>
                  <a:srgbClr val="00206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environment</a:t>
            </a:r>
            <a:r>
              <a:rPr lang="pt-BR" sz="1100" b="0">
                <a:solidFill>
                  <a:srgbClr val="002060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conseguimos definir variáveis de ambientes para utilizar dentro de nossos Containers</a:t>
            </a:r>
          </a:p>
        </p:txBody>
      </p:sp>
      <p:sp>
        <p:nvSpPr>
          <p:cNvPr id="20" name="Retângulo Arredondado 19">
            <a:extLst>
              <a:ext uri="{FF2B5EF4-FFF2-40B4-BE49-F238E27FC236}">
                <a16:creationId xmlns:a16="http://schemas.microsoft.com/office/drawing/2014/main" id="{AB789464-549C-77EA-7E2B-8D1B6DCAD6F5}"/>
              </a:ext>
            </a:extLst>
          </p:cNvPr>
          <p:cNvSpPr/>
          <p:nvPr/>
        </p:nvSpPr>
        <p:spPr bwMode="auto">
          <a:xfrm>
            <a:off x="301960" y="3951396"/>
            <a:ext cx="1821767" cy="870795"/>
          </a:xfrm>
          <a:prstGeom prst="roundRect">
            <a:avLst/>
          </a:prstGeom>
          <a:solidFill>
            <a:srgbClr val="002060">
              <a:alpha val="62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AF8E50F-2689-307E-4324-36B01E5EA907}"/>
              </a:ext>
            </a:extLst>
          </p:cNvPr>
          <p:cNvSpPr txBox="1"/>
          <p:nvPr/>
        </p:nvSpPr>
        <p:spPr>
          <a:xfrm>
            <a:off x="3471862" y="4780973"/>
            <a:ext cx="5602943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100" b="0">
                <a:solidFill>
                  <a:srgbClr val="F8B49D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Na opção </a:t>
            </a:r>
            <a:r>
              <a:rPr lang="pt-BR" sz="1100">
                <a:solidFill>
                  <a:srgbClr val="F8B49D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networks</a:t>
            </a:r>
            <a:r>
              <a:rPr lang="pt-BR" sz="1100" b="0">
                <a:solidFill>
                  <a:srgbClr val="F8B49D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é onde podemos definir as redes que deverão ser criadas para que os serviços dela façam parte. Para que uma rede seja criada é necessário </a:t>
            </a:r>
            <a:r>
              <a:rPr lang="pt-BR" sz="1100">
                <a:solidFill>
                  <a:srgbClr val="F8B49D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realizar sua declaração</a:t>
            </a:r>
            <a:r>
              <a:rPr lang="pt-BR" sz="1100" b="0">
                <a:solidFill>
                  <a:srgbClr val="F8B49D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onde passamos o nome da rede a ser criada, podemos passar o tipo da rede e driver e até mesmo a </a:t>
            </a:r>
            <a:r>
              <a:rPr lang="pt-BR" sz="1100" b="0" err="1">
                <a:solidFill>
                  <a:srgbClr val="F8B49D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Subnet</a:t>
            </a:r>
            <a:r>
              <a:rPr lang="pt-BR" sz="1100" b="0">
                <a:solidFill>
                  <a:srgbClr val="F8B49D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 Feita a declaração é necessário </a:t>
            </a:r>
            <a:r>
              <a:rPr lang="pt-BR" sz="1100">
                <a:solidFill>
                  <a:srgbClr val="F8B49D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referenciar a rede na configuração do serviço</a:t>
            </a:r>
            <a:r>
              <a:rPr lang="pt-BR" sz="1100" b="0">
                <a:solidFill>
                  <a:srgbClr val="F8B49D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para que este faça uso da rede criada</a:t>
            </a:r>
          </a:p>
        </p:txBody>
      </p:sp>
      <p:sp>
        <p:nvSpPr>
          <p:cNvPr id="22" name="Retângulo Arredondado 21">
            <a:extLst>
              <a:ext uri="{FF2B5EF4-FFF2-40B4-BE49-F238E27FC236}">
                <a16:creationId xmlns:a16="http://schemas.microsoft.com/office/drawing/2014/main" id="{9477CB1C-75C0-991B-A98E-3A3058153FB2}"/>
              </a:ext>
            </a:extLst>
          </p:cNvPr>
          <p:cNvSpPr/>
          <p:nvPr/>
        </p:nvSpPr>
        <p:spPr bwMode="auto">
          <a:xfrm>
            <a:off x="150161" y="5397326"/>
            <a:ext cx="985929" cy="260180"/>
          </a:xfrm>
          <a:prstGeom prst="roundRect">
            <a:avLst/>
          </a:prstGeom>
          <a:solidFill>
            <a:srgbClr val="F8B49D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23" name="Retângulo Arredondado 22">
            <a:extLst>
              <a:ext uri="{FF2B5EF4-FFF2-40B4-BE49-F238E27FC236}">
                <a16:creationId xmlns:a16="http://schemas.microsoft.com/office/drawing/2014/main" id="{6808CFF4-5D63-97D2-F826-C0E7559595E3}"/>
              </a:ext>
            </a:extLst>
          </p:cNvPr>
          <p:cNvSpPr/>
          <p:nvPr/>
        </p:nvSpPr>
        <p:spPr bwMode="auto">
          <a:xfrm>
            <a:off x="301961" y="2856381"/>
            <a:ext cx="1101688" cy="259700"/>
          </a:xfrm>
          <a:prstGeom prst="roundRect">
            <a:avLst/>
          </a:prstGeom>
          <a:solidFill>
            <a:srgbClr val="F8B49D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24" name="Retângulo Arredondado 23">
            <a:extLst>
              <a:ext uri="{FF2B5EF4-FFF2-40B4-BE49-F238E27FC236}">
                <a16:creationId xmlns:a16="http://schemas.microsoft.com/office/drawing/2014/main" id="{890323E8-9205-F1B5-EE1C-1C8FCDFD43EA}"/>
              </a:ext>
            </a:extLst>
          </p:cNvPr>
          <p:cNvSpPr/>
          <p:nvPr/>
        </p:nvSpPr>
        <p:spPr bwMode="auto">
          <a:xfrm>
            <a:off x="327484" y="5058193"/>
            <a:ext cx="1056936" cy="222430"/>
          </a:xfrm>
          <a:prstGeom prst="roundRect">
            <a:avLst/>
          </a:prstGeom>
          <a:solidFill>
            <a:srgbClr val="F8B49D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166BF4F-01A6-1EE2-42CD-4E76590BB6D1}"/>
              </a:ext>
            </a:extLst>
          </p:cNvPr>
          <p:cNvSpPr/>
          <p:nvPr/>
        </p:nvSpPr>
        <p:spPr bwMode="auto">
          <a:xfrm>
            <a:off x="82565" y="5236120"/>
            <a:ext cx="144016" cy="161206"/>
          </a:xfrm>
          <a:prstGeom prst="ellipse">
            <a:avLst/>
          </a:prstGeom>
          <a:solidFill>
            <a:srgbClr val="F8B49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1</a:t>
            </a: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BCE035D-7A0A-9FDA-9495-DB9EACB61D9F}"/>
              </a:ext>
            </a:extLst>
          </p:cNvPr>
          <p:cNvSpPr/>
          <p:nvPr/>
        </p:nvSpPr>
        <p:spPr bwMode="auto">
          <a:xfrm>
            <a:off x="190022" y="5000118"/>
            <a:ext cx="144016" cy="161206"/>
          </a:xfrm>
          <a:prstGeom prst="ellipse">
            <a:avLst/>
          </a:prstGeom>
          <a:solidFill>
            <a:srgbClr val="F8B49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>
                <a:latin typeface="Arial" charset="0"/>
              </a:rPr>
              <a:t>2</a:t>
            </a: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28" name="Retângulo Arredondado 27">
            <a:extLst>
              <a:ext uri="{FF2B5EF4-FFF2-40B4-BE49-F238E27FC236}">
                <a16:creationId xmlns:a16="http://schemas.microsoft.com/office/drawing/2014/main" id="{67FE69EA-CACD-1505-28B9-64AC8947136C}"/>
              </a:ext>
            </a:extLst>
          </p:cNvPr>
          <p:cNvSpPr/>
          <p:nvPr/>
        </p:nvSpPr>
        <p:spPr bwMode="auto">
          <a:xfrm>
            <a:off x="301961" y="1917641"/>
            <a:ext cx="3114797" cy="703780"/>
          </a:xfrm>
          <a:prstGeom prst="roundRect">
            <a:avLst/>
          </a:prstGeom>
          <a:solidFill>
            <a:srgbClr val="002060">
              <a:alpha val="62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9D2A91F-42ED-BF83-14B1-B1E1F495E103}"/>
              </a:ext>
            </a:extLst>
          </p:cNvPr>
          <p:cNvSpPr txBox="1"/>
          <p:nvPr/>
        </p:nvSpPr>
        <p:spPr>
          <a:xfrm>
            <a:off x="3471862" y="5821963"/>
            <a:ext cx="56029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100" b="0">
                <a:solidFill>
                  <a:srgbClr val="1EAFAD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Assim como na opção networks, aqui em </a:t>
            </a:r>
            <a:r>
              <a:rPr lang="pt-BR" sz="1100">
                <a:solidFill>
                  <a:srgbClr val="1EAFAD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volumes</a:t>
            </a:r>
            <a:r>
              <a:rPr lang="pt-BR" sz="1100" b="0">
                <a:solidFill>
                  <a:srgbClr val="1EAFAD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nós devemos fazer a declaração dos volumes que desejamos criar e referenciar depois dentro de cada serviço que irá utilizá-lo</a:t>
            </a:r>
          </a:p>
        </p:txBody>
      </p:sp>
      <p:sp>
        <p:nvSpPr>
          <p:cNvPr id="31" name="Retângulo Arredondado 30">
            <a:extLst>
              <a:ext uri="{FF2B5EF4-FFF2-40B4-BE49-F238E27FC236}">
                <a16:creationId xmlns:a16="http://schemas.microsoft.com/office/drawing/2014/main" id="{54B91AEE-80A2-4298-472B-1E8ACFF04CD5}"/>
              </a:ext>
            </a:extLst>
          </p:cNvPr>
          <p:cNvSpPr/>
          <p:nvPr/>
        </p:nvSpPr>
        <p:spPr bwMode="auto">
          <a:xfrm>
            <a:off x="148543" y="5745698"/>
            <a:ext cx="985929" cy="270333"/>
          </a:xfrm>
          <a:prstGeom prst="roundRect">
            <a:avLst/>
          </a:prstGeom>
          <a:solidFill>
            <a:srgbClr val="1EAFAD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32" name="Retângulo Arredondado 31">
            <a:extLst>
              <a:ext uri="{FF2B5EF4-FFF2-40B4-BE49-F238E27FC236}">
                <a16:creationId xmlns:a16="http://schemas.microsoft.com/office/drawing/2014/main" id="{12732D6D-FD1E-8C41-E6F0-F54C1DBD2F36}"/>
              </a:ext>
            </a:extLst>
          </p:cNvPr>
          <p:cNvSpPr/>
          <p:nvPr/>
        </p:nvSpPr>
        <p:spPr bwMode="auto">
          <a:xfrm>
            <a:off x="293870" y="3112637"/>
            <a:ext cx="1325802" cy="227598"/>
          </a:xfrm>
          <a:prstGeom prst="roundRect">
            <a:avLst/>
          </a:prstGeom>
          <a:solidFill>
            <a:srgbClr val="1EAFAD">
              <a:alpha val="2078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88B7F6C-E454-A0D3-B81F-8D521C115CEF}"/>
              </a:ext>
            </a:extLst>
          </p:cNvPr>
          <p:cNvSpPr/>
          <p:nvPr/>
        </p:nvSpPr>
        <p:spPr bwMode="auto">
          <a:xfrm>
            <a:off x="44014" y="5625896"/>
            <a:ext cx="144016" cy="161206"/>
          </a:xfrm>
          <a:prstGeom prst="ellipse">
            <a:avLst/>
          </a:prstGeom>
          <a:solidFill>
            <a:srgbClr val="1EAFA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1</a:t>
            </a: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FA77C2C-7494-040A-8E56-6D7AB5B06AE6}"/>
              </a:ext>
            </a:extLst>
          </p:cNvPr>
          <p:cNvSpPr/>
          <p:nvPr/>
        </p:nvSpPr>
        <p:spPr bwMode="auto">
          <a:xfrm>
            <a:off x="157944" y="3039691"/>
            <a:ext cx="144016" cy="161206"/>
          </a:xfrm>
          <a:prstGeom prst="ellipse">
            <a:avLst/>
          </a:prstGeom>
          <a:solidFill>
            <a:srgbClr val="1EAFA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>
                <a:latin typeface="Arial" charset="0"/>
              </a:rPr>
              <a:t>2</a:t>
            </a: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6F40225-338D-3BB5-E342-1A086380E592}"/>
              </a:ext>
            </a:extLst>
          </p:cNvPr>
          <p:cNvSpPr/>
          <p:nvPr/>
        </p:nvSpPr>
        <p:spPr bwMode="auto">
          <a:xfrm>
            <a:off x="155070" y="2784475"/>
            <a:ext cx="144016" cy="161206"/>
          </a:xfrm>
          <a:prstGeom prst="ellipse">
            <a:avLst/>
          </a:prstGeom>
          <a:solidFill>
            <a:srgbClr val="F8B49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>
                <a:latin typeface="Arial" charset="0"/>
              </a:rPr>
              <a:t>2</a:t>
            </a: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FA887F8-162D-50A2-C710-AC440832EF5C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tângulo Arredondado 34">
            <a:extLst>
              <a:ext uri="{FF2B5EF4-FFF2-40B4-BE49-F238E27FC236}">
                <a16:creationId xmlns:a16="http://schemas.microsoft.com/office/drawing/2014/main" id="{61BB471D-E043-FEF3-CCCB-68DB1BEC4678}"/>
              </a:ext>
            </a:extLst>
          </p:cNvPr>
          <p:cNvSpPr/>
          <p:nvPr/>
        </p:nvSpPr>
        <p:spPr bwMode="auto">
          <a:xfrm>
            <a:off x="301961" y="3751600"/>
            <a:ext cx="799733" cy="199047"/>
          </a:xfrm>
          <a:prstGeom prst="roundRect">
            <a:avLst/>
          </a:prstGeom>
          <a:solidFill>
            <a:srgbClr val="AF43C6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D4BFF42-1E4E-22D2-32D4-79D3367526B8}"/>
              </a:ext>
            </a:extLst>
          </p:cNvPr>
          <p:cNvSpPr/>
          <p:nvPr/>
        </p:nvSpPr>
        <p:spPr bwMode="auto">
          <a:xfrm>
            <a:off x="8975881" y="4948717"/>
            <a:ext cx="144016" cy="161206"/>
          </a:xfrm>
          <a:prstGeom prst="ellipse">
            <a:avLst/>
          </a:prstGeom>
          <a:solidFill>
            <a:srgbClr val="F8B49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1</a:t>
            </a: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8DD35FA-3DB0-C048-6FA8-2F770A117006}"/>
              </a:ext>
            </a:extLst>
          </p:cNvPr>
          <p:cNvSpPr/>
          <p:nvPr/>
        </p:nvSpPr>
        <p:spPr bwMode="auto">
          <a:xfrm>
            <a:off x="8975881" y="5292829"/>
            <a:ext cx="144016" cy="161206"/>
          </a:xfrm>
          <a:prstGeom prst="ellipse">
            <a:avLst/>
          </a:prstGeom>
          <a:solidFill>
            <a:srgbClr val="F8B49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>
                <a:latin typeface="Arial" charset="0"/>
              </a:rPr>
              <a:t>2</a:t>
            </a: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D2C57386-CB02-D319-94B2-CA1A7B909824}"/>
              </a:ext>
            </a:extLst>
          </p:cNvPr>
          <p:cNvSpPr txBox="1"/>
          <p:nvPr/>
        </p:nvSpPr>
        <p:spPr>
          <a:xfrm>
            <a:off x="3471863" y="6355121"/>
            <a:ext cx="21082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100" b="0">
                <a:solidFill>
                  <a:srgbClr val="9E4607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Podemos nomear cada Container</a:t>
            </a:r>
          </a:p>
        </p:txBody>
      </p:sp>
      <p:sp>
        <p:nvSpPr>
          <p:cNvPr id="40" name="Retângulo Arredondado 39">
            <a:extLst>
              <a:ext uri="{FF2B5EF4-FFF2-40B4-BE49-F238E27FC236}">
                <a16:creationId xmlns:a16="http://schemas.microsoft.com/office/drawing/2014/main" id="{886B1EEE-44FD-4ADD-22DD-4E82B7AD827E}"/>
              </a:ext>
            </a:extLst>
          </p:cNvPr>
          <p:cNvSpPr/>
          <p:nvPr/>
        </p:nvSpPr>
        <p:spPr bwMode="auto">
          <a:xfrm>
            <a:off x="315834" y="3452628"/>
            <a:ext cx="1231829" cy="135823"/>
          </a:xfrm>
          <a:prstGeom prst="roundRect">
            <a:avLst/>
          </a:prstGeom>
          <a:solidFill>
            <a:srgbClr val="9E4607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41" name="Retângulo Arredondado 40">
            <a:extLst>
              <a:ext uri="{FF2B5EF4-FFF2-40B4-BE49-F238E27FC236}">
                <a16:creationId xmlns:a16="http://schemas.microsoft.com/office/drawing/2014/main" id="{58B1DBCA-D4DA-EA56-0C72-F62ADB923104}"/>
              </a:ext>
            </a:extLst>
          </p:cNvPr>
          <p:cNvSpPr/>
          <p:nvPr/>
        </p:nvSpPr>
        <p:spPr bwMode="auto">
          <a:xfrm>
            <a:off x="293870" y="1635962"/>
            <a:ext cx="965762" cy="153572"/>
          </a:xfrm>
          <a:prstGeom prst="roundRect">
            <a:avLst/>
          </a:prstGeom>
          <a:solidFill>
            <a:srgbClr val="9E4607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04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0" grpId="0" animBg="1"/>
      <p:bldP spid="11" grpId="0" animBg="1"/>
      <p:bldP spid="12" grpId="0"/>
      <p:bldP spid="13" grpId="0" animBg="1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/>
      <p:bldP spid="31" grpId="0" animBg="1"/>
      <p:bldP spid="32" grpId="0" animBg="1"/>
      <p:bldP spid="33" grpId="0" animBg="1"/>
      <p:bldP spid="36" grpId="0" animBg="1"/>
      <p:bldP spid="27" grpId="0" animBg="1"/>
      <p:bldP spid="35" grpId="0" animBg="1"/>
      <p:bldP spid="37" grpId="0" animBg="1"/>
      <p:bldP spid="38" grpId="0" animBg="1"/>
      <p:bldP spid="39" grpId="0"/>
      <p:bldP spid="40" grpId="0" animBg="1"/>
      <p:bldP spid="4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1D7BF4-FBC6-D55F-7EDE-EE1366E78989}"/>
              </a:ext>
            </a:extLst>
          </p:cNvPr>
          <p:cNvSpPr txBox="1"/>
          <p:nvPr/>
        </p:nvSpPr>
        <p:spPr>
          <a:xfrm>
            <a:off x="22368" y="1121039"/>
            <a:ext cx="9121632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Agora, como descrito no passo 3, iremos subir o Docker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Compose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1) Abra um Terminal no VSC ou utilize um desacoplado (CMD/Terminal)</a:t>
            </a: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2) Certifique-se de estar no diretório Home do Projeto</a:t>
            </a: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3) Com o comando abaixo nos iremos subir o Serviço em Segundo Plano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D0D5DE1-EDB4-3C1E-BD49-8597160D1341}"/>
              </a:ext>
            </a:extLst>
          </p:cNvPr>
          <p:cNvSpPr/>
          <p:nvPr/>
        </p:nvSpPr>
        <p:spPr>
          <a:xfrm>
            <a:off x="348747" y="3463344"/>
            <a:ext cx="37154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err="1">
                <a:solidFill>
                  <a:srgbClr val="005F8E"/>
                </a:solidFill>
                <a:effectLst/>
                <a:latin typeface="Andale Mono" panose="020B0509000000000004" pitchFamily="49" charset="0"/>
              </a:rPr>
              <a:t>docker-compose</a:t>
            </a:r>
            <a:r>
              <a:rPr lang="pt-BR" sz="1600">
                <a:solidFill>
                  <a:srgbClr val="005F8E"/>
                </a:solidFill>
                <a:effectLst/>
                <a:latin typeface="Andale Mono" panose="020B0509000000000004" pitchFamily="49" charset="0"/>
              </a:rPr>
              <a:t> </a:t>
            </a:r>
            <a:r>
              <a:rPr lang="pt-BR" sz="1600" err="1">
                <a:solidFill>
                  <a:srgbClr val="005F8E"/>
                </a:solidFill>
                <a:effectLst/>
                <a:latin typeface="Andale Mono" panose="020B0509000000000004" pitchFamily="49" charset="0"/>
              </a:rPr>
              <a:t>up</a:t>
            </a:r>
            <a:r>
              <a:rPr lang="pt-BR" sz="1600">
                <a:solidFill>
                  <a:srgbClr val="005F8E"/>
                </a:solidFill>
                <a:effectLst/>
                <a:latin typeface="Andale Mono" panose="020B0509000000000004" pitchFamily="49" charset="0"/>
              </a:rPr>
              <a:t> -</a:t>
            </a:r>
            <a:r>
              <a:rPr lang="pt-BR" sz="1600" err="1">
                <a:solidFill>
                  <a:srgbClr val="005F8E"/>
                </a:solidFill>
                <a:effectLst/>
                <a:latin typeface="Andale Mono" panose="020B0509000000000004" pitchFamily="49" charset="0"/>
              </a:rPr>
              <a:t>d</a:t>
            </a:r>
            <a:r>
              <a:rPr lang="pt-BR" sz="1600">
                <a:solidFill>
                  <a:srgbClr val="005F8E"/>
                </a:solidFill>
                <a:effectLst/>
                <a:latin typeface="Andale Mono" panose="020B0509000000000004" pitchFamily="49" charset="0"/>
              </a:rPr>
              <a:t> --build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678C0BE-8FDD-A0F5-A1EF-29C9A69037BF}"/>
              </a:ext>
            </a:extLst>
          </p:cNvPr>
          <p:cNvSpPr/>
          <p:nvPr/>
        </p:nvSpPr>
        <p:spPr>
          <a:xfrm>
            <a:off x="4644008" y="3488369"/>
            <a:ext cx="170791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 opção </a:t>
            </a:r>
            <a:r>
              <a:rPr kumimoji="0" lang="pt-BR" sz="90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--build 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refaz as imagens </a:t>
            </a:r>
          </a:p>
        </p:txBody>
      </p:sp>
      <p:pic>
        <p:nvPicPr>
          <p:cNvPr id="5" name="Picture 2" descr="HashTags…Que são? Para que servem? |">
            <a:extLst>
              <a:ext uri="{FF2B5EF4-FFF2-40B4-BE49-F238E27FC236}">
                <a16:creationId xmlns:a16="http://schemas.microsoft.com/office/drawing/2014/main" id="{B9D9ABB3-7A7C-0995-4A74-AC139AD24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454" y="3407827"/>
            <a:ext cx="338554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9B71ED0-C51A-56D7-7E01-23458B14AA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47" y="4077072"/>
            <a:ext cx="7772400" cy="235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495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1D7BF4-FBC6-D55F-7EDE-EE1366E78989}"/>
              </a:ext>
            </a:extLst>
          </p:cNvPr>
          <p:cNvSpPr txBox="1"/>
          <p:nvPr/>
        </p:nvSpPr>
        <p:spPr>
          <a:xfrm>
            <a:off x="22368" y="1121039"/>
            <a:ext cx="91216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Com o passo 4 vamos verificar o ambiente de Banco no Docker Desktop, expanda nosso Serviço e clique  no Container </a:t>
            </a:r>
            <a:r>
              <a:rPr lang="pt-BR" err="1">
                <a:latin typeface="Calibri" panose="020F0502020204030204" pitchFamily="34" charset="0"/>
                <a:cs typeface="Calibri" panose="020F0502020204030204" pitchFamily="34" charset="0"/>
              </a:rPr>
              <a:t>db</a:t>
            </a:r>
            <a:endParaRPr lang="pt-B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990D8DF-8B60-2411-397E-50603C960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106281"/>
            <a:ext cx="6264696" cy="4563079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E1D3B798-A34E-3903-CD22-A63D93832074}"/>
              </a:ext>
            </a:extLst>
          </p:cNvPr>
          <p:cNvSpPr/>
          <p:nvPr/>
        </p:nvSpPr>
        <p:spPr>
          <a:xfrm>
            <a:off x="2195736" y="4633971"/>
            <a:ext cx="4752528" cy="360040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51525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1D7BF4-FBC6-D55F-7EDE-EE1366E78989}"/>
              </a:ext>
            </a:extLst>
          </p:cNvPr>
          <p:cNvSpPr txBox="1"/>
          <p:nvPr/>
        </p:nvSpPr>
        <p:spPr>
          <a:xfrm>
            <a:off x="22368" y="1121039"/>
            <a:ext cx="9121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Verifique o Log do MySQL, certificando que foi iniciado</a:t>
            </a:r>
            <a:endParaRPr lang="pt-B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436AE53-F0AB-F17C-9103-6B745E059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844824"/>
            <a:ext cx="7772400" cy="4428066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D87AAF1-CBF2-28ED-A48F-B0A236A695DB}"/>
              </a:ext>
            </a:extLst>
          </p:cNvPr>
          <p:cNvSpPr/>
          <p:nvPr/>
        </p:nvSpPr>
        <p:spPr>
          <a:xfrm>
            <a:off x="490200" y="5229200"/>
            <a:ext cx="7749743" cy="288032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54292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1D7BF4-FBC6-D55F-7EDE-EE1366E78989}"/>
              </a:ext>
            </a:extLst>
          </p:cNvPr>
          <p:cNvSpPr txBox="1"/>
          <p:nvPr/>
        </p:nvSpPr>
        <p:spPr>
          <a:xfrm>
            <a:off x="22368" y="1121039"/>
            <a:ext cx="91216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Pode acontecer do Container da API não estar em Running, pois o banco ainda não subiu completamente, aguarde a subida completa do Serviço e clique em iniciar no Container do App (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outstock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pt-B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B114248-F121-9D46-FD8E-228C8B0C9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573016"/>
            <a:ext cx="7772400" cy="1556279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2D87333F-26CA-BE2A-8725-950AC204A7B5}"/>
              </a:ext>
            </a:extLst>
          </p:cNvPr>
          <p:cNvSpPr/>
          <p:nvPr/>
        </p:nvSpPr>
        <p:spPr>
          <a:xfrm>
            <a:off x="7092280" y="4653136"/>
            <a:ext cx="216024" cy="360040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6B116B1-A68C-D56D-803F-FFBB5F655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192" y="2140767"/>
            <a:ext cx="2230016" cy="1240446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DFECD216-A97B-AA4A-FEA8-48EA0ADA5B2A}"/>
              </a:ext>
            </a:extLst>
          </p:cNvPr>
          <p:cNvSpPr/>
          <p:nvPr/>
        </p:nvSpPr>
        <p:spPr>
          <a:xfrm>
            <a:off x="1187624" y="4653136"/>
            <a:ext cx="1512168" cy="404151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eta para Cima 12">
            <a:extLst>
              <a:ext uri="{FF2B5EF4-FFF2-40B4-BE49-F238E27FC236}">
                <a16:creationId xmlns:a16="http://schemas.microsoft.com/office/drawing/2014/main" id="{BE4AF143-2F74-E1DB-0BE9-8FFF5B407020}"/>
              </a:ext>
            </a:extLst>
          </p:cNvPr>
          <p:cNvSpPr/>
          <p:nvPr/>
        </p:nvSpPr>
        <p:spPr bwMode="auto">
          <a:xfrm>
            <a:off x="6912260" y="5126762"/>
            <a:ext cx="576064" cy="678502"/>
          </a:xfrm>
          <a:prstGeom prst="upArrow">
            <a:avLst/>
          </a:prstGeom>
          <a:solidFill>
            <a:srgbClr val="005F8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3374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1D7BF4-FBC6-D55F-7EDE-EE1366E78989}"/>
              </a:ext>
            </a:extLst>
          </p:cNvPr>
          <p:cNvSpPr txBox="1"/>
          <p:nvPr/>
        </p:nvSpPr>
        <p:spPr>
          <a:xfrm>
            <a:off x="22368" y="1121039"/>
            <a:ext cx="91216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Continuando nossa exploração no Serviço do Banco, clique na aba Terminal e se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logue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no Banco</a:t>
            </a:r>
            <a:endParaRPr lang="pt-B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AF7E71A-354E-7594-A0F7-1C5AF101DB86}"/>
              </a:ext>
            </a:extLst>
          </p:cNvPr>
          <p:cNvSpPr/>
          <p:nvPr/>
        </p:nvSpPr>
        <p:spPr>
          <a:xfrm>
            <a:off x="208463" y="2060848"/>
            <a:ext cx="8727074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mysql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-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u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admdimdim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-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p</a:t>
            </a:r>
            <a:endParaRPr lang="pt-BR" sz="1900">
              <a:solidFill>
                <a:srgbClr val="005F8E"/>
              </a:solidFill>
              <a:latin typeface="Calibri"/>
              <a:cs typeface="Calibri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9290262-5118-A258-540F-F1F789C31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62" y="2900806"/>
            <a:ext cx="8359475" cy="3023252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351E398E-5294-1098-F0DB-30E5773EE1E0}"/>
              </a:ext>
            </a:extLst>
          </p:cNvPr>
          <p:cNvSpPr/>
          <p:nvPr/>
        </p:nvSpPr>
        <p:spPr>
          <a:xfrm>
            <a:off x="2206920" y="3501008"/>
            <a:ext cx="1068936" cy="360040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95824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1D7BF4-FBC6-D55F-7EDE-EE1366E78989}"/>
              </a:ext>
            </a:extLst>
          </p:cNvPr>
          <p:cNvSpPr txBox="1"/>
          <p:nvPr/>
        </p:nvSpPr>
        <p:spPr>
          <a:xfrm>
            <a:off x="22368" y="1121039"/>
            <a:ext cx="9121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Verifique algumas informações sobre o Banco, Tabelas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endParaRPr lang="pt-B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26FE193-D3E0-34AA-CFA4-652838D2E30F}"/>
              </a:ext>
            </a:extLst>
          </p:cNvPr>
          <p:cNvSpPr/>
          <p:nvPr/>
        </p:nvSpPr>
        <p:spPr>
          <a:xfrm>
            <a:off x="219647" y="1846851"/>
            <a:ext cx="8727074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show 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databases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;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7BDB67E-EF14-0C89-D689-D98D6B36213E}"/>
              </a:ext>
            </a:extLst>
          </p:cNvPr>
          <p:cNvSpPr/>
          <p:nvPr/>
        </p:nvSpPr>
        <p:spPr>
          <a:xfrm>
            <a:off x="219647" y="2839175"/>
            <a:ext cx="8727074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SELECT * FROM 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;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DD24521-D468-FAEC-D2C6-55527E2C8B96}"/>
              </a:ext>
            </a:extLst>
          </p:cNvPr>
          <p:cNvSpPr/>
          <p:nvPr/>
        </p:nvSpPr>
        <p:spPr>
          <a:xfrm>
            <a:off x="219647" y="2327757"/>
            <a:ext cx="8727074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use 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;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4FCBD31-92C3-634A-916E-21578832F9AE}"/>
              </a:ext>
            </a:extLst>
          </p:cNvPr>
          <p:cNvSpPr/>
          <p:nvPr/>
        </p:nvSpPr>
        <p:spPr>
          <a:xfrm>
            <a:off x="219647" y="3350593"/>
            <a:ext cx="8727074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DESCRIBE 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;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709736C-34A8-219E-411B-EAAB302DB5F8}"/>
              </a:ext>
            </a:extLst>
          </p:cNvPr>
          <p:cNvSpPr/>
          <p:nvPr/>
        </p:nvSpPr>
        <p:spPr>
          <a:xfrm>
            <a:off x="252209" y="3861973"/>
            <a:ext cx="8727074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SHOW TABLES;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1B03126-775F-16C9-06BA-24BF7B6EAB6B}"/>
              </a:ext>
            </a:extLst>
          </p:cNvPr>
          <p:cNvSpPr/>
          <p:nvPr/>
        </p:nvSpPr>
        <p:spPr>
          <a:xfrm>
            <a:off x="252209" y="4373429"/>
            <a:ext cx="8727074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SHOW GRANTS FOR 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admdimdim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;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4081D2F-B949-DD7C-A828-325B3BB47397}"/>
              </a:ext>
            </a:extLst>
          </p:cNvPr>
          <p:cNvSpPr/>
          <p:nvPr/>
        </p:nvSpPr>
        <p:spPr>
          <a:xfrm>
            <a:off x="266365" y="4884771"/>
            <a:ext cx="8727074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exit</a:t>
            </a:r>
            <a:endParaRPr lang="pt-BR" sz="1900">
              <a:solidFill>
                <a:srgbClr val="005F8E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31969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1D7BF4-FBC6-D55F-7EDE-EE1366E78989}"/>
              </a:ext>
            </a:extLst>
          </p:cNvPr>
          <p:cNvSpPr txBox="1"/>
          <p:nvPr/>
        </p:nvSpPr>
        <p:spPr>
          <a:xfrm>
            <a:off x="22368" y="1121039"/>
            <a:ext cx="9121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Teste a execução da API pelo Browser no seguinte endereço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A51B379-533D-7407-8E7D-4995C8507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060848"/>
            <a:ext cx="737709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1603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1D7BF4-FBC6-D55F-7EDE-EE1366E78989}"/>
              </a:ext>
            </a:extLst>
          </p:cNvPr>
          <p:cNvSpPr txBox="1"/>
          <p:nvPr/>
        </p:nvSpPr>
        <p:spPr>
          <a:xfrm>
            <a:off x="22368" y="1121039"/>
            <a:ext cx="9121632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O Passo 5 pede para verificar as informações sobre Logs, Rede, Volume</a:t>
            </a: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Vamos realizar esses procedimentos agora pelo Terminal</a:t>
            </a:r>
            <a:endParaRPr lang="pt-B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DC2F6E8-EBB2-4DC5-3451-468FC4563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336" y="1507942"/>
            <a:ext cx="1080120" cy="108012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CD87B749-C7F0-C056-8C45-FE09EE374B03}"/>
              </a:ext>
            </a:extLst>
          </p:cNvPr>
          <p:cNvSpPr/>
          <p:nvPr/>
        </p:nvSpPr>
        <p:spPr>
          <a:xfrm>
            <a:off x="76120" y="2636912"/>
            <a:ext cx="901412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900" b="0">
                <a:solidFill>
                  <a:srgbClr val="005F8E"/>
                </a:solidFill>
                <a:latin typeface="Calibri"/>
                <a:cs typeface="Calibri"/>
              </a:rPr>
              <a:t>Similar ao </a:t>
            </a:r>
            <a:r>
              <a:rPr lang="pt-BR" sz="1900" b="0" err="1">
                <a:solidFill>
                  <a:srgbClr val="005F8E"/>
                </a:solidFill>
                <a:latin typeface="Calibri"/>
                <a:cs typeface="Calibri"/>
              </a:rPr>
              <a:t>docker</a:t>
            </a:r>
            <a:r>
              <a:rPr lang="pt-BR" sz="1900" b="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900" b="0" err="1">
                <a:solidFill>
                  <a:srgbClr val="005F8E"/>
                </a:solidFill>
                <a:latin typeface="Calibri"/>
                <a:cs typeface="Calibri"/>
              </a:rPr>
              <a:t>ps</a:t>
            </a:r>
            <a:r>
              <a:rPr lang="pt-BR" sz="1900" b="0">
                <a:solidFill>
                  <a:srgbClr val="005F8E"/>
                </a:solidFill>
                <a:latin typeface="Calibri"/>
                <a:cs typeface="Calibri"/>
              </a:rPr>
              <a:t>, mas se limitando aos serviços indicados no </a:t>
            </a:r>
            <a:r>
              <a:rPr lang="pt-BR" sz="1900" b="0" err="1">
                <a:solidFill>
                  <a:srgbClr val="005F8E"/>
                </a:solidFill>
                <a:latin typeface="Calibri"/>
                <a:cs typeface="Calibri"/>
              </a:rPr>
              <a:t>docker-compose.yml</a:t>
            </a:r>
            <a:endParaRPr lang="pt-BR" sz="1900" b="0">
              <a:solidFill>
                <a:srgbClr val="005F8E"/>
              </a:solidFill>
              <a:latin typeface="Calibri"/>
              <a:cs typeface="Calibri"/>
            </a:endParaRPr>
          </a:p>
          <a:p>
            <a:endParaRPr lang="pt-BR" sz="700">
              <a:solidFill>
                <a:srgbClr val="005F8E"/>
              </a:solidFill>
              <a:latin typeface="Calibri"/>
              <a:cs typeface="Calibri"/>
            </a:endParaRPr>
          </a:p>
          <a:p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docker-compose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ps</a:t>
            </a:r>
            <a:endParaRPr lang="pt-BR" sz="1900">
              <a:solidFill>
                <a:srgbClr val="005F8E"/>
              </a:solidFill>
              <a:latin typeface="Calibri"/>
              <a:cs typeface="Calibri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1CEA2F0-6092-C042-88BF-FE9856725B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48" y="3573016"/>
            <a:ext cx="7772400" cy="1043516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E576E698-0B36-1B30-1452-EE1CCEB784F2}"/>
              </a:ext>
            </a:extLst>
          </p:cNvPr>
          <p:cNvSpPr/>
          <p:nvPr/>
        </p:nvSpPr>
        <p:spPr>
          <a:xfrm>
            <a:off x="129872" y="4927380"/>
            <a:ext cx="901412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900" b="0">
                <a:solidFill>
                  <a:srgbClr val="005F8E"/>
                </a:solidFill>
                <a:latin typeface="Calibri"/>
                <a:cs typeface="Calibri"/>
              </a:rPr>
              <a:t>Visualiza os logs dos Containers</a:t>
            </a:r>
          </a:p>
          <a:p>
            <a:endParaRPr lang="pt-BR" sz="700">
              <a:solidFill>
                <a:srgbClr val="005F8E"/>
              </a:solidFill>
              <a:latin typeface="Calibri"/>
              <a:cs typeface="Calibri"/>
            </a:endParaRPr>
          </a:p>
          <a:p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docker-compose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logs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A0210618-8E53-2265-EFA5-9EA2A78921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49" y="5736962"/>
            <a:ext cx="3716582" cy="938964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7FFFEDE-97A4-2132-A896-B46D574553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767" y="5746804"/>
            <a:ext cx="3716582" cy="943440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68A2F4C2-8F80-A15B-68D4-BF0A681238DA}"/>
              </a:ext>
            </a:extLst>
          </p:cNvPr>
          <p:cNvSpPr/>
          <p:nvPr/>
        </p:nvSpPr>
        <p:spPr>
          <a:xfrm>
            <a:off x="427948" y="5846404"/>
            <a:ext cx="327628" cy="829522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2813A92-1F4F-EA19-0717-2C13DBDFCEF6}"/>
              </a:ext>
            </a:extLst>
          </p:cNvPr>
          <p:cNvSpPr/>
          <p:nvPr/>
        </p:nvSpPr>
        <p:spPr>
          <a:xfrm>
            <a:off x="4483767" y="5846404"/>
            <a:ext cx="160241" cy="829522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83505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>
            <a:extLst>
              <a:ext uri="{FF2B5EF4-FFF2-40B4-BE49-F238E27FC236}">
                <a16:creationId xmlns:a16="http://schemas.microsoft.com/office/drawing/2014/main" id="{2B4342E7-C8C9-4D5D-4B18-C981AB517E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077072"/>
            <a:ext cx="7150967" cy="239440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D87B749-C7F0-C056-8C45-FE09EE374B03}"/>
              </a:ext>
            </a:extLst>
          </p:cNvPr>
          <p:cNvSpPr/>
          <p:nvPr/>
        </p:nvSpPr>
        <p:spPr>
          <a:xfrm>
            <a:off x="125760" y="1066524"/>
            <a:ext cx="901412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900" b="0">
                <a:solidFill>
                  <a:srgbClr val="005F8E"/>
                </a:solidFill>
                <a:latin typeface="Calibri"/>
                <a:cs typeface="Calibri"/>
              </a:rPr>
              <a:t>Verificar as 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Redes</a:t>
            </a:r>
          </a:p>
          <a:p>
            <a:endParaRPr lang="pt-BR" sz="700">
              <a:solidFill>
                <a:srgbClr val="005F8E"/>
              </a:solidFill>
              <a:latin typeface="Calibri"/>
              <a:cs typeface="Calibri"/>
            </a:endParaRPr>
          </a:p>
          <a:p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docker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network 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ls</a:t>
            </a:r>
            <a:endParaRPr lang="pt-BR" sz="1900">
              <a:solidFill>
                <a:srgbClr val="005F8E"/>
              </a:solidFill>
              <a:latin typeface="Calibri"/>
              <a:cs typeface="Calibri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2ABB609-6D56-081C-C83D-48FE31C728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001844"/>
            <a:ext cx="4954711" cy="141445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6A9A78F7-27E2-430C-CDD1-20B10C4550FC}"/>
              </a:ext>
            </a:extLst>
          </p:cNvPr>
          <p:cNvSpPr/>
          <p:nvPr/>
        </p:nvSpPr>
        <p:spPr>
          <a:xfrm>
            <a:off x="125760" y="3566784"/>
            <a:ext cx="9014128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docker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network 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inspect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900" err="1">
                <a:solidFill>
                  <a:srgbClr val="FF3399"/>
                </a:solidFill>
                <a:latin typeface="Calibri"/>
                <a:cs typeface="Calibri"/>
              </a:rPr>
              <a:t>out_stock_outstock_network</a:t>
            </a:r>
            <a:endParaRPr lang="pt-BR" sz="1900">
              <a:solidFill>
                <a:srgbClr val="FF3399"/>
              </a:solidFill>
              <a:latin typeface="Calibri"/>
              <a:cs typeface="Calibri"/>
            </a:endParaRPr>
          </a:p>
        </p:txBody>
      </p:sp>
      <p:cxnSp>
        <p:nvCxnSpPr>
          <p:cNvPr id="9" name="Conector em Curva 8">
            <a:extLst>
              <a:ext uri="{FF2B5EF4-FFF2-40B4-BE49-F238E27FC236}">
                <a16:creationId xmlns:a16="http://schemas.microsoft.com/office/drawing/2014/main" id="{3F3874C2-A063-AB87-1128-5A834B422C59}"/>
              </a:ext>
            </a:extLst>
          </p:cNvPr>
          <p:cNvCxnSpPr>
            <a:cxnSpLocks/>
          </p:cNvCxnSpPr>
          <p:nvPr/>
        </p:nvCxnSpPr>
        <p:spPr bwMode="auto">
          <a:xfrm>
            <a:off x="3347864" y="3068960"/>
            <a:ext cx="1008112" cy="603578"/>
          </a:xfrm>
          <a:prstGeom prst="curvedConnector3">
            <a:avLst>
              <a:gd name="adj1" fmla="val 106954"/>
            </a:avLst>
          </a:prstGeom>
          <a:solidFill>
            <a:schemeClr val="accent1"/>
          </a:solidFill>
          <a:ln w="38100" cap="flat" cmpd="sng" algn="ctr">
            <a:solidFill>
              <a:srgbClr val="005F8E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Retângulo 22">
            <a:extLst>
              <a:ext uri="{FF2B5EF4-FFF2-40B4-BE49-F238E27FC236}">
                <a16:creationId xmlns:a16="http://schemas.microsoft.com/office/drawing/2014/main" id="{17AF0B53-8C50-2365-B64C-93EB80ED7868}"/>
              </a:ext>
            </a:extLst>
          </p:cNvPr>
          <p:cNvSpPr/>
          <p:nvPr/>
        </p:nvSpPr>
        <p:spPr>
          <a:xfrm>
            <a:off x="1047527" y="4370415"/>
            <a:ext cx="6282952" cy="916143"/>
          </a:xfrm>
          <a:prstGeom prst="rect">
            <a:avLst/>
          </a:prstGeom>
          <a:solidFill>
            <a:srgbClr val="FF0000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2EFD037-9C4C-BC52-FD47-C62BB2A93E57}"/>
              </a:ext>
            </a:extLst>
          </p:cNvPr>
          <p:cNvSpPr/>
          <p:nvPr/>
        </p:nvSpPr>
        <p:spPr>
          <a:xfrm>
            <a:off x="1047527" y="5302068"/>
            <a:ext cx="6282952" cy="879797"/>
          </a:xfrm>
          <a:prstGeom prst="rect">
            <a:avLst/>
          </a:prstGeom>
          <a:solidFill>
            <a:srgbClr val="FF0000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FA178E8-7E8B-FC76-AF55-EA2D5860938C}"/>
              </a:ext>
            </a:extLst>
          </p:cNvPr>
          <p:cNvSpPr/>
          <p:nvPr/>
        </p:nvSpPr>
        <p:spPr>
          <a:xfrm>
            <a:off x="1952226" y="4510878"/>
            <a:ext cx="331943" cy="155188"/>
          </a:xfrm>
          <a:prstGeom prst="rect">
            <a:avLst/>
          </a:prstGeom>
          <a:solidFill>
            <a:srgbClr val="1EAFAD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BE308EE-A529-14AD-A261-377B652BE0F7}"/>
              </a:ext>
            </a:extLst>
          </p:cNvPr>
          <p:cNvSpPr/>
          <p:nvPr/>
        </p:nvSpPr>
        <p:spPr>
          <a:xfrm>
            <a:off x="1879425" y="5427021"/>
            <a:ext cx="809488" cy="191873"/>
          </a:xfrm>
          <a:prstGeom prst="rect">
            <a:avLst/>
          </a:prstGeom>
          <a:solidFill>
            <a:srgbClr val="1EAFAD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Seta para Cima 28">
            <a:extLst>
              <a:ext uri="{FF2B5EF4-FFF2-40B4-BE49-F238E27FC236}">
                <a16:creationId xmlns:a16="http://schemas.microsoft.com/office/drawing/2014/main" id="{604F8DFD-E9A1-D541-03D2-E5EBF36DCB6B}"/>
              </a:ext>
            </a:extLst>
          </p:cNvPr>
          <p:cNvSpPr/>
          <p:nvPr/>
        </p:nvSpPr>
        <p:spPr bwMode="auto">
          <a:xfrm rot="16200000">
            <a:off x="2365025" y="4437579"/>
            <a:ext cx="301254" cy="301786"/>
          </a:xfrm>
          <a:prstGeom prst="upArrow">
            <a:avLst/>
          </a:prstGeom>
          <a:solidFill>
            <a:srgbClr val="005F8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30" name="Seta para Cima 29">
            <a:extLst>
              <a:ext uri="{FF2B5EF4-FFF2-40B4-BE49-F238E27FC236}">
                <a16:creationId xmlns:a16="http://schemas.microsoft.com/office/drawing/2014/main" id="{406555C0-DADF-41E9-8395-F6CC2D7E55F2}"/>
              </a:ext>
            </a:extLst>
          </p:cNvPr>
          <p:cNvSpPr/>
          <p:nvPr/>
        </p:nvSpPr>
        <p:spPr bwMode="auto">
          <a:xfrm rot="16200000">
            <a:off x="2762231" y="5372064"/>
            <a:ext cx="301254" cy="301786"/>
          </a:xfrm>
          <a:prstGeom prst="upArrow">
            <a:avLst/>
          </a:prstGeom>
          <a:solidFill>
            <a:srgbClr val="005F8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5948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42013C9-1C45-D6BF-B79A-015FF1A0FD9C}"/>
              </a:ext>
            </a:extLst>
          </p:cNvPr>
          <p:cNvSpPr/>
          <p:nvPr/>
        </p:nvSpPr>
        <p:spPr>
          <a:xfrm>
            <a:off x="125760" y="1066524"/>
            <a:ext cx="901412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900" b="0">
                <a:solidFill>
                  <a:srgbClr val="005F8E"/>
                </a:solidFill>
                <a:latin typeface="Calibri"/>
                <a:cs typeface="Calibri"/>
              </a:rPr>
              <a:t>Verificar os 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Volumes</a:t>
            </a:r>
          </a:p>
          <a:p>
            <a:endParaRPr lang="pt-BR" sz="700">
              <a:solidFill>
                <a:srgbClr val="005F8E"/>
              </a:solidFill>
              <a:latin typeface="Calibri"/>
              <a:cs typeface="Calibri"/>
            </a:endParaRPr>
          </a:p>
          <a:p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docker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volume 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ls</a:t>
            </a:r>
            <a:endParaRPr lang="pt-BR" sz="1900">
              <a:solidFill>
                <a:srgbClr val="005F8E"/>
              </a:solidFill>
              <a:latin typeface="Calibri"/>
              <a:cs typeface="Calibri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876BA70-584E-6EA9-F6D3-C14CA9CE32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6" y="1988840"/>
            <a:ext cx="4350235" cy="1224136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186E8D6F-787A-EC3C-1CD1-5CAD6BEAFBC4}"/>
              </a:ext>
            </a:extLst>
          </p:cNvPr>
          <p:cNvSpPr/>
          <p:nvPr/>
        </p:nvSpPr>
        <p:spPr>
          <a:xfrm>
            <a:off x="125760" y="3566784"/>
            <a:ext cx="9014128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docker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volume 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inspect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900" err="1">
                <a:solidFill>
                  <a:srgbClr val="FF3399"/>
                </a:solidFill>
                <a:latin typeface="Calibri"/>
                <a:cs typeface="Calibri"/>
              </a:rPr>
              <a:t>out_stock_db_data</a:t>
            </a:r>
            <a:endParaRPr lang="pt-BR" sz="1900">
              <a:solidFill>
                <a:srgbClr val="FF3399"/>
              </a:solidFill>
              <a:latin typeface="Calibri"/>
              <a:cs typeface="Calibri"/>
            </a:endParaRPr>
          </a:p>
        </p:txBody>
      </p:sp>
      <p:cxnSp>
        <p:nvCxnSpPr>
          <p:cNvPr id="9" name="Conector em Curva 8">
            <a:extLst>
              <a:ext uri="{FF2B5EF4-FFF2-40B4-BE49-F238E27FC236}">
                <a16:creationId xmlns:a16="http://schemas.microsoft.com/office/drawing/2014/main" id="{2C621172-2888-A7B9-8E53-3CE6709BB9DD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591779" y="2888940"/>
            <a:ext cx="936108" cy="576066"/>
          </a:xfrm>
          <a:prstGeom prst="curvedConnector3">
            <a:avLst>
              <a:gd name="adj1" fmla="val 2295"/>
            </a:avLst>
          </a:prstGeom>
          <a:solidFill>
            <a:schemeClr val="accent1"/>
          </a:solidFill>
          <a:ln w="38100" cap="flat" cmpd="sng" algn="ctr">
            <a:solidFill>
              <a:srgbClr val="005F8E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5" name="Imagem 14">
            <a:extLst>
              <a:ext uri="{FF2B5EF4-FFF2-40B4-BE49-F238E27FC236}">
                <a16:creationId xmlns:a16="http://schemas.microsoft.com/office/drawing/2014/main" id="{156B208B-6724-C817-ADF3-C540B8567D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6" y="4097164"/>
            <a:ext cx="5471091" cy="2500188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5C670474-F1DE-FF98-6566-CA5FEF732C1D}"/>
              </a:ext>
            </a:extLst>
          </p:cNvPr>
          <p:cNvSpPr/>
          <p:nvPr/>
        </p:nvSpPr>
        <p:spPr>
          <a:xfrm>
            <a:off x="755576" y="5594551"/>
            <a:ext cx="4536504" cy="282721"/>
          </a:xfrm>
          <a:prstGeom prst="rect">
            <a:avLst/>
          </a:prstGeom>
          <a:solidFill>
            <a:srgbClr val="FF0000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37120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887B7298-6AE7-487F-FCA8-1358AC43D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559" y="2458743"/>
            <a:ext cx="8937048" cy="186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lang="pt-BR" altLang="pt-BR" sz="2000">
                <a:solidFill>
                  <a:srgbClr val="000000"/>
                </a:solidFill>
                <a:ea typeface="MS PGothic" panose="020B0600070205080204" pitchFamily="34" charset="-128"/>
              </a:rPr>
              <a:t>Por default, o Docker </a:t>
            </a:r>
            <a:r>
              <a:rPr lang="pt-BR" altLang="pt-BR" sz="2000">
                <a:solidFill>
                  <a:srgbClr val="FF3399"/>
                </a:solidFill>
                <a:ea typeface="MS PGothic" panose="020B0600070205080204" pitchFamily="34" charset="-128"/>
              </a:rPr>
              <a:t>Windows</a:t>
            </a:r>
            <a:r>
              <a:rPr lang="pt-BR" altLang="pt-BR" sz="2000">
                <a:solidFill>
                  <a:srgbClr val="000000"/>
                </a:solidFill>
                <a:ea typeface="MS PGothic" panose="020B0600070205080204" pitchFamily="34" charset="-128"/>
              </a:rPr>
              <a:t> disponibiliza acesso na seguinte localização: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lang="pt-BR" altLang="pt-BR" sz="1100" b="0">
              <a:solidFill>
                <a:srgbClr val="000000"/>
              </a:solidFill>
              <a:ea typeface="MS PGothic" panose="020B0600070205080204" pitchFamily="34" charset="-128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lang="pt-BR" altLang="pt-BR" sz="1800" b="0">
                <a:solidFill>
                  <a:srgbClr val="000000"/>
                </a:solidFill>
                <a:ea typeface="MS PGothic" panose="020B0600070205080204" pitchFamily="34" charset="-128"/>
              </a:rPr>
              <a:t>Docker </a:t>
            </a:r>
            <a:r>
              <a:rPr lang="pt-BR" altLang="pt-BR" sz="1800" b="0" err="1">
                <a:solidFill>
                  <a:srgbClr val="000000"/>
                </a:solidFill>
                <a:ea typeface="MS PGothic" panose="020B0600070205080204" pitchFamily="34" charset="-128"/>
              </a:rPr>
              <a:t>Engine</a:t>
            </a:r>
            <a:r>
              <a:rPr lang="pt-BR" altLang="pt-BR" sz="1800" b="0">
                <a:solidFill>
                  <a:srgbClr val="000000"/>
                </a:solidFill>
                <a:ea typeface="MS PGothic" panose="020B0600070205080204" pitchFamily="34" charset="-128"/>
              </a:rPr>
              <a:t> v19: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lang="pt-BR" altLang="pt-BR" sz="400" b="0">
              <a:solidFill>
                <a:srgbClr val="000000"/>
              </a:solidFill>
              <a:ea typeface="MS PGothic" panose="020B0600070205080204" pitchFamily="34" charset="-128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lang="pt-BR" altLang="pt-BR" sz="1800">
                <a:solidFill>
                  <a:srgbClr val="005F8E"/>
                </a:solidFill>
                <a:ea typeface="MS PGothic" panose="020B0600070205080204" pitchFamily="34" charset="-128"/>
              </a:rPr>
              <a:t>\\wsl$\docker-desktop-data\version-pack-data\community\docker\volumes\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pt-BR" altLang="pt-BR" sz="1100" b="0" i="0" u="none" strike="noStrike" kern="1200" cap="none" spc="0" normalizeH="0" baseline="0" noProof="0">
              <a:ln>
                <a:noFill/>
              </a:ln>
              <a:solidFill>
                <a:srgbClr val="005F8E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lang="pt-BR" altLang="pt-BR" sz="1800" b="0">
                <a:solidFill>
                  <a:srgbClr val="000000"/>
                </a:solidFill>
                <a:ea typeface="MS PGothic" panose="020B0600070205080204" pitchFamily="34" charset="-128"/>
              </a:rPr>
              <a:t>Docker </a:t>
            </a:r>
            <a:r>
              <a:rPr lang="pt-BR" altLang="pt-BR" sz="1800" b="0" err="1">
                <a:solidFill>
                  <a:srgbClr val="000000"/>
                </a:solidFill>
                <a:ea typeface="MS PGothic" panose="020B0600070205080204" pitchFamily="34" charset="-128"/>
              </a:rPr>
              <a:t>Engine</a:t>
            </a:r>
            <a:r>
              <a:rPr lang="pt-BR" altLang="pt-BR" sz="1800" b="0">
                <a:solidFill>
                  <a:srgbClr val="000000"/>
                </a:solidFill>
                <a:ea typeface="MS PGothic" panose="020B0600070205080204" pitchFamily="34" charset="-128"/>
              </a:rPr>
              <a:t> v20: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lang="pt-BR" altLang="pt-BR" sz="1800">
                <a:solidFill>
                  <a:srgbClr val="005F8E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\\</a:t>
            </a:r>
            <a:r>
              <a:rPr lang="pt-BR" altLang="pt-BR" sz="1800" err="1">
                <a:solidFill>
                  <a:srgbClr val="005F8E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wsl</a:t>
            </a:r>
            <a:r>
              <a:rPr lang="pt-BR" altLang="pt-BR" sz="1800">
                <a:solidFill>
                  <a:srgbClr val="005F8E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$\</a:t>
            </a:r>
            <a:r>
              <a:rPr lang="pt-BR" altLang="pt-BR" sz="1800" err="1">
                <a:solidFill>
                  <a:srgbClr val="005F8E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docker</a:t>
            </a:r>
            <a:r>
              <a:rPr lang="pt-BR" altLang="pt-BR" sz="1800">
                <a:solidFill>
                  <a:srgbClr val="005F8E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-desktop-data\data\</a:t>
            </a:r>
            <a:r>
              <a:rPr lang="pt-BR" altLang="pt-BR" sz="1800" err="1">
                <a:solidFill>
                  <a:srgbClr val="005F8E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docker</a:t>
            </a:r>
            <a:r>
              <a:rPr lang="pt-BR" altLang="pt-BR" sz="1800">
                <a:solidFill>
                  <a:srgbClr val="005F8E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\volumes</a:t>
            </a:r>
            <a:endParaRPr kumimoji="0" lang="pt-BR" altLang="pt-BR" sz="1800" i="0" u="none" strike="noStrike" kern="1200" cap="none" spc="0" normalizeH="0" baseline="0" noProof="0">
              <a:ln>
                <a:noFill/>
              </a:ln>
              <a:solidFill>
                <a:srgbClr val="005F8E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784EDB6B-724D-B50A-F5B0-8BC1FF1CF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383" y="4706380"/>
            <a:ext cx="8928994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lang="pt-BR" altLang="pt-BR" sz="2000">
                <a:solidFill>
                  <a:srgbClr val="000000"/>
                </a:solidFill>
                <a:ea typeface="MS PGothic" panose="020B0600070205080204" pitchFamily="34" charset="-128"/>
              </a:rPr>
              <a:t>Por default, o Docker </a:t>
            </a:r>
            <a:r>
              <a:rPr lang="pt-BR" altLang="pt-BR" sz="2000">
                <a:solidFill>
                  <a:srgbClr val="FF3399"/>
                </a:solidFill>
                <a:ea typeface="MS PGothic" panose="020B0600070205080204" pitchFamily="34" charset="-128"/>
              </a:rPr>
              <a:t>Mac</a:t>
            </a:r>
            <a:r>
              <a:rPr lang="pt-BR" altLang="pt-BR" sz="1800">
                <a:solidFill>
                  <a:srgbClr val="FF3399"/>
                </a:solidFill>
                <a:ea typeface="MS PGothic" panose="020B0600070205080204" pitchFamily="34" charset="-128"/>
              </a:rPr>
              <a:t>*</a:t>
            </a:r>
            <a:r>
              <a:rPr lang="pt-BR" altLang="pt-BR" sz="2000">
                <a:solidFill>
                  <a:srgbClr val="FF3399"/>
                </a:solidFill>
                <a:ea typeface="MS PGothic" panose="020B0600070205080204" pitchFamily="34" charset="-128"/>
              </a:rPr>
              <a:t> / Linux </a:t>
            </a:r>
            <a:r>
              <a:rPr lang="pt-BR" altLang="pt-BR" sz="2000">
                <a:solidFill>
                  <a:srgbClr val="000000"/>
                </a:solidFill>
                <a:ea typeface="MS PGothic" panose="020B0600070205080204" pitchFamily="34" charset="-128"/>
              </a:rPr>
              <a:t>disponibiliza acesso na seguinte localização: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lang="pt-BR" altLang="pt-BR" sz="400" b="0">
              <a:solidFill>
                <a:srgbClr val="000000"/>
              </a:solidFill>
              <a:ea typeface="MS PGothic" panose="020B0600070205080204" pitchFamily="34" charset="-128"/>
            </a:endParaRPr>
          </a:p>
          <a:p>
            <a:pPr lvl="0">
              <a:spcBef>
                <a:spcPct val="0"/>
              </a:spcBef>
              <a:buNone/>
              <a:defRPr/>
            </a:pPr>
            <a:r>
              <a:rPr lang="pt-BR" altLang="pt-BR" sz="1800">
                <a:solidFill>
                  <a:srgbClr val="005F8E"/>
                </a:solidFill>
                <a:ea typeface="MS PGothic" panose="020B0600070205080204" pitchFamily="34" charset="-128"/>
              </a:rPr>
              <a:t>/var/</a:t>
            </a:r>
            <a:r>
              <a:rPr lang="pt-BR" altLang="pt-BR" sz="1800" err="1">
                <a:solidFill>
                  <a:srgbClr val="005F8E"/>
                </a:solidFill>
                <a:ea typeface="MS PGothic" panose="020B0600070205080204" pitchFamily="34" charset="-128"/>
              </a:rPr>
              <a:t>lib</a:t>
            </a:r>
            <a:r>
              <a:rPr lang="pt-BR" altLang="pt-BR" sz="1800">
                <a:solidFill>
                  <a:srgbClr val="005F8E"/>
                </a:solidFill>
                <a:ea typeface="MS PGothic" panose="020B0600070205080204" pitchFamily="34" charset="-128"/>
              </a:rPr>
              <a:t>/</a:t>
            </a:r>
            <a:r>
              <a:rPr lang="pt-BR" altLang="pt-BR" sz="1800" err="1">
                <a:solidFill>
                  <a:srgbClr val="005F8E"/>
                </a:solidFill>
                <a:ea typeface="MS PGothic" panose="020B0600070205080204" pitchFamily="34" charset="-128"/>
              </a:rPr>
              <a:t>docker</a:t>
            </a:r>
            <a:r>
              <a:rPr lang="pt-BR" altLang="pt-BR" sz="1800">
                <a:solidFill>
                  <a:srgbClr val="005F8E"/>
                </a:solidFill>
                <a:ea typeface="MS PGothic" panose="020B0600070205080204" pitchFamily="34" charset="-128"/>
              </a:rPr>
              <a:t>/volumes</a:t>
            </a:r>
            <a:endParaRPr kumimoji="0" lang="pt-BR" altLang="pt-BR" sz="1800" i="0" u="none" strike="noStrike" kern="1200" cap="none" spc="0" normalizeH="0" baseline="0" noProof="0">
              <a:ln>
                <a:noFill/>
              </a:ln>
              <a:solidFill>
                <a:srgbClr val="005F8E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6386" name="Picture 2" descr="Figurinhas de Não se esqueça — Figurinhas de diversos grátis">
            <a:extLst>
              <a:ext uri="{FF2B5EF4-FFF2-40B4-BE49-F238E27FC236}">
                <a16:creationId xmlns:a16="http://schemas.microsoft.com/office/drawing/2014/main" id="{8C856F17-B43B-7786-321B-E61907044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775" y="825428"/>
            <a:ext cx="1326193" cy="132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0CEF2EA-9C3C-55E6-F01E-10314072B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775556"/>
            <a:ext cx="1326193" cy="132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0813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42013C9-1C45-D6BF-B79A-015FF1A0FD9C}"/>
              </a:ext>
            </a:extLst>
          </p:cNvPr>
          <p:cNvSpPr/>
          <p:nvPr/>
        </p:nvSpPr>
        <p:spPr>
          <a:xfrm>
            <a:off x="125760" y="1066524"/>
            <a:ext cx="9014128" cy="7848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900" b="0">
                <a:solidFill>
                  <a:srgbClr val="005F8E"/>
                </a:solidFill>
                <a:latin typeface="Calibri"/>
                <a:cs typeface="Calibri"/>
              </a:rPr>
              <a:t>Entrar no Terminal do MySQL</a:t>
            </a:r>
            <a:endParaRPr lang="pt-BR" sz="1900">
              <a:solidFill>
                <a:srgbClr val="005F8E"/>
              </a:solidFill>
              <a:latin typeface="Calibri"/>
              <a:cs typeface="Calibri"/>
            </a:endParaRPr>
          </a:p>
          <a:p>
            <a:endParaRPr lang="pt-BR" sz="700">
              <a:solidFill>
                <a:srgbClr val="005F8E"/>
              </a:solidFill>
              <a:latin typeface="Calibri"/>
              <a:cs typeface="Calibri"/>
            </a:endParaRPr>
          </a:p>
          <a:p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docker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exec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900">
                <a:solidFill>
                  <a:srgbClr val="AF43C6"/>
                </a:solidFill>
                <a:latin typeface="Calibri"/>
                <a:cs typeface="Calibri"/>
              </a:rPr>
              <a:t>-it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900" err="1">
                <a:solidFill>
                  <a:srgbClr val="FF3399"/>
                </a:solidFill>
                <a:latin typeface="Calibri"/>
                <a:cs typeface="Calibri"/>
              </a:rPr>
              <a:t>db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mysql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–u </a:t>
            </a:r>
            <a:r>
              <a:rPr lang="pt-BR" sz="1900" err="1">
                <a:solidFill>
                  <a:srgbClr val="FF3399"/>
                </a:solidFill>
                <a:latin typeface="Calibri"/>
                <a:cs typeface="Calibri"/>
              </a:rPr>
              <a:t>admdimdim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-p</a:t>
            </a:r>
            <a:endParaRPr lang="pt-BR" sz="1900">
              <a:solidFill>
                <a:srgbClr val="005F8E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D9650B7-FFBE-5F50-9152-4DA43721C5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19" y="1993942"/>
            <a:ext cx="4662264" cy="206154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DE107234-20AC-B4ED-ED3B-9D5B3F975823}"/>
              </a:ext>
            </a:extLst>
          </p:cNvPr>
          <p:cNvSpPr/>
          <p:nvPr/>
        </p:nvSpPr>
        <p:spPr>
          <a:xfrm>
            <a:off x="125760" y="4293096"/>
            <a:ext cx="901412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900" b="0">
                <a:solidFill>
                  <a:srgbClr val="005F8E"/>
                </a:solidFill>
                <a:latin typeface="Calibri"/>
                <a:cs typeface="Calibri"/>
              </a:rPr>
              <a:t>Entrar no Terminal da API</a:t>
            </a:r>
            <a:endParaRPr lang="pt-BR" sz="1900">
              <a:solidFill>
                <a:srgbClr val="005F8E"/>
              </a:solidFill>
              <a:latin typeface="Calibri"/>
              <a:cs typeface="Calibri"/>
            </a:endParaRPr>
          </a:p>
          <a:p>
            <a:endParaRPr lang="pt-BR" sz="700">
              <a:solidFill>
                <a:srgbClr val="005F8E"/>
              </a:solidFill>
              <a:latin typeface="Calibri"/>
              <a:cs typeface="Calibri"/>
            </a:endParaRPr>
          </a:p>
          <a:p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docker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900" err="1">
                <a:solidFill>
                  <a:srgbClr val="005F8E"/>
                </a:solidFill>
                <a:latin typeface="Calibri"/>
                <a:cs typeface="Calibri"/>
              </a:rPr>
              <a:t>exec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900">
                <a:solidFill>
                  <a:srgbClr val="AF43C6"/>
                </a:solidFill>
                <a:latin typeface="Calibri"/>
                <a:cs typeface="Calibri"/>
              </a:rPr>
              <a:t>-it</a:t>
            </a:r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900" err="1">
                <a:solidFill>
                  <a:srgbClr val="FF3399"/>
                </a:solidFill>
                <a:latin typeface="Calibri"/>
                <a:cs typeface="Calibri"/>
              </a:rPr>
              <a:t>outstock</a:t>
            </a:r>
            <a:r>
              <a:rPr lang="pt-BR" sz="1900">
                <a:solidFill>
                  <a:srgbClr val="FF3399"/>
                </a:solidFill>
                <a:latin typeface="Calibri"/>
                <a:cs typeface="Calibri"/>
              </a:rPr>
              <a:t> </a:t>
            </a:r>
            <a:r>
              <a:rPr lang="pt-BR" sz="1900">
                <a:solidFill>
                  <a:srgbClr val="00B050"/>
                </a:solidFill>
                <a:latin typeface="Calibri"/>
                <a:cs typeface="Calibri"/>
              </a:rPr>
              <a:t>/bin/</a:t>
            </a:r>
            <a:r>
              <a:rPr lang="pt-BR" sz="1900" err="1">
                <a:solidFill>
                  <a:srgbClr val="00B050"/>
                </a:solidFill>
                <a:latin typeface="Calibri"/>
                <a:cs typeface="Calibri"/>
              </a:rPr>
              <a:t>bash</a:t>
            </a:r>
            <a:endParaRPr lang="pt-BR" sz="1900">
              <a:solidFill>
                <a:srgbClr val="00B050"/>
              </a:solidFill>
              <a:latin typeface="Calibri"/>
              <a:cs typeface="Calibri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49DBDB1-BC88-D839-3F72-1F05681C1A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19" y="5157192"/>
            <a:ext cx="4495955" cy="158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7855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BFA6A3A-4B6E-C328-2A25-ADACA0146C37}"/>
              </a:ext>
            </a:extLst>
          </p:cNvPr>
          <p:cNvSpPr txBox="1"/>
          <p:nvPr/>
        </p:nvSpPr>
        <p:spPr>
          <a:xfrm>
            <a:off x="22368" y="1121039"/>
            <a:ext cx="9121632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Agora vamos realizar os testes em nosso Serviço</a:t>
            </a: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Quem utiliza Mac / Linux pode realizar os testes pelo </a:t>
            </a:r>
            <a:r>
              <a:rPr lang="pt-BR" err="1">
                <a:latin typeface="Calibri" panose="020F0502020204030204" pitchFamily="34" charset="0"/>
                <a:cs typeface="Calibri" panose="020F0502020204030204" pitchFamily="34" charset="0"/>
              </a:rPr>
              <a:t>curl</a:t>
            </a:r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 no terminal</a:t>
            </a:r>
            <a:endParaRPr lang="pt-B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976ADDF-F06A-24EC-9CBA-876B8C60C3F1}"/>
              </a:ext>
            </a:extLst>
          </p:cNvPr>
          <p:cNvSpPr/>
          <p:nvPr/>
        </p:nvSpPr>
        <p:spPr>
          <a:xfrm>
            <a:off x="76120" y="2420888"/>
            <a:ext cx="901412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700" err="1">
                <a:solidFill>
                  <a:srgbClr val="005F8E"/>
                </a:solidFill>
                <a:latin typeface="Calibri"/>
                <a:cs typeface="Calibri"/>
              </a:rPr>
              <a:t>Select</a:t>
            </a:r>
            <a:r>
              <a:rPr lang="pt-BR" sz="1700">
                <a:solidFill>
                  <a:srgbClr val="005F8E"/>
                </a:solidFill>
                <a:latin typeface="Calibri"/>
                <a:cs typeface="Calibri"/>
              </a:rPr>
              <a:t>:</a:t>
            </a:r>
          </a:p>
          <a:p>
            <a:r>
              <a:rPr lang="pt-BR" sz="1700" err="1">
                <a:solidFill>
                  <a:srgbClr val="005F8E"/>
                </a:solidFill>
                <a:latin typeface="Calibri"/>
                <a:cs typeface="Calibri"/>
              </a:rPr>
              <a:t>curl</a:t>
            </a:r>
            <a:r>
              <a:rPr lang="pt-BR" sz="1700">
                <a:solidFill>
                  <a:srgbClr val="005F8E"/>
                </a:solidFill>
                <a:latin typeface="Calibri"/>
                <a:cs typeface="Calibri"/>
              </a:rPr>
              <a:t> http://localhost:5000/</a:t>
            </a:r>
            <a:r>
              <a:rPr lang="pt-BR" sz="17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endParaRPr lang="pt-BR" sz="1700">
              <a:solidFill>
                <a:srgbClr val="FF3399"/>
              </a:solidFill>
              <a:latin typeface="Calibri"/>
              <a:cs typeface="Calibri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68DC9BA-8F26-3CC6-0976-9B5777E05E30}"/>
              </a:ext>
            </a:extLst>
          </p:cNvPr>
          <p:cNvSpPr/>
          <p:nvPr/>
        </p:nvSpPr>
        <p:spPr>
          <a:xfrm>
            <a:off x="76120" y="3305239"/>
            <a:ext cx="9014128" cy="8463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700" err="1">
                <a:solidFill>
                  <a:srgbClr val="005F8E"/>
                </a:solidFill>
                <a:latin typeface="Calibri"/>
                <a:cs typeface="Calibri"/>
              </a:rPr>
              <a:t>Insert</a:t>
            </a:r>
            <a:r>
              <a:rPr lang="pt-BR" sz="1700">
                <a:solidFill>
                  <a:srgbClr val="005F8E"/>
                </a:solidFill>
                <a:latin typeface="Calibri"/>
                <a:cs typeface="Calibri"/>
              </a:rPr>
              <a:t>:</a:t>
            </a:r>
          </a:p>
          <a:p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curl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 -X POST -H "</a:t>
            </a:r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Content-Type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: </a:t>
            </a:r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application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json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" -d '{"</a:t>
            </a:r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codigo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": "001", "</a:t>
            </a:r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descricao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": "Produto 1", "</a:t>
            </a:r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data_solicitacao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": "2022-03-10"}' http://localhost:5000/out_stock</a:t>
            </a:r>
          </a:p>
          <a:p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curl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 -X POST -H "</a:t>
            </a:r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Content-Type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: </a:t>
            </a:r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application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json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" -d '{"</a:t>
            </a:r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codigo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": "002", "</a:t>
            </a:r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descricao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": "Produto 2", "</a:t>
            </a:r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data_solicitacao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": "2022-03-10"}' http://localhost:5000/out_stock</a:t>
            </a:r>
          </a:p>
          <a:p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curl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 -X POST -H "</a:t>
            </a:r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Content-Type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: </a:t>
            </a:r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application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json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" -d '{"</a:t>
            </a:r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codigo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": "003", "</a:t>
            </a:r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descricao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": "Produto 3", "</a:t>
            </a:r>
            <a:r>
              <a:rPr lang="pt-BR" sz="1000" err="1">
                <a:solidFill>
                  <a:srgbClr val="005F8E"/>
                </a:solidFill>
                <a:latin typeface="Calibri"/>
                <a:cs typeface="Calibri"/>
              </a:rPr>
              <a:t>data_solicitacao</a:t>
            </a:r>
            <a:r>
              <a:rPr lang="pt-BR" sz="1000">
                <a:solidFill>
                  <a:srgbClr val="005F8E"/>
                </a:solidFill>
                <a:latin typeface="Calibri"/>
                <a:cs typeface="Calibri"/>
              </a:rPr>
              <a:t>": "2022-03-10"}' http://localhost:5000/out_stock</a:t>
            </a:r>
            <a:endParaRPr lang="pt-BR" sz="1000">
              <a:solidFill>
                <a:srgbClr val="FF3399"/>
              </a:solidFill>
              <a:latin typeface="Calibri"/>
              <a:cs typeface="Calibri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11D0A52-EA55-45BF-FD2F-F0B5D1B7018F}"/>
              </a:ext>
            </a:extLst>
          </p:cNvPr>
          <p:cNvSpPr/>
          <p:nvPr/>
        </p:nvSpPr>
        <p:spPr>
          <a:xfrm>
            <a:off x="88370" y="4524202"/>
            <a:ext cx="9014128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700">
                <a:solidFill>
                  <a:srgbClr val="005F8E"/>
                </a:solidFill>
                <a:latin typeface="Calibri"/>
                <a:cs typeface="Calibri"/>
              </a:rPr>
              <a:t>Update:</a:t>
            </a:r>
          </a:p>
          <a:p>
            <a:r>
              <a:rPr lang="pt-BR" sz="950" err="1">
                <a:solidFill>
                  <a:srgbClr val="005F8E"/>
                </a:solidFill>
                <a:latin typeface="Calibri"/>
                <a:cs typeface="Calibri"/>
              </a:rPr>
              <a:t>curl</a:t>
            </a:r>
            <a:r>
              <a:rPr lang="pt-BR" sz="950">
                <a:solidFill>
                  <a:srgbClr val="005F8E"/>
                </a:solidFill>
                <a:latin typeface="Calibri"/>
                <a:cs typeface="Calibri"/>
              </a:rPr>
              <a:t> -X PUT -H "</a:t>
            </a:r>
            <a:r>
              <a:rPr lang="pt-BR" sz="950" err="1">
                <a:solidFill>
                  <a:srgbClr val="005F8E"/>
                </a:solidFill>
                <a:latin typeface="Calibri"/>
                <a:cs typeface="Calibri"/>
              </a:rPr>
              <a:t>Content-Type</a:t>
            </a:r>
            <a:r>
              <a:rPr lang="pt-BR" sz="950">
                <a:solidFill>
                  <a:srgbClr val="005F8E"/>
                </a:solidFill>
                <a:latin typeface="Calibri"/>
                <a:cs typeface="Calibri"/>
              </a:rPr>
              <a:t>: </a:t>
            </a:r>
            <a:r>
              <a:rPr lang="pt-BR" sz="950" err="1">
                <a:solidFill>
                  <a:srgbClr val="005F8E"/>
                </a:solidFill>
                <a:latin typeface="Calibri"/>
                <a:cs typeface="Calibri"/>
              </a:rPr>
              <a:t>application</a:t>
            </a:r>
            <a:r>
              <a:rPr lang="pt-BR" sz="95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950" err="1">
                <a:solidFill>
                  <a:srgbClr val="005F8E"/>
                </a:solidFill>
                <a:latin typeface="Calibri"/>
                <a:cs typeface="Calibri"/>
              </a:rPr>
              <a:t>json</a:t>
            </a:r>
            <a:r>
              <a:rPr lang="pt-BR" sz="950">
                <a:solidFill>
                  <a:srgbClr val="005F8E"/>
                </a:solidFill>
                <a:latin typeface="Calibri"/>
                <a:cs typeface="Calibri"/>
              </a:rPr>
              <a:t>" -d '{"</a:t>
            </a:r>
            <a:r>
              <a:rPr lang="pt-BR" sz="950" err="1">
                <a:solidFill>
                  <a:srgbClr val="005F8E"/>
                </a:solidFill>
                <a:latin typeface="Calibri"/>
                <a:cs typeface="Calibri"/>
              </a:rPr>
              <a:t>codigo</a:t>
            </a:r>
            <a:r>
              <a:rPr lang="pt-BR" sz="950">
                <a:solidFill>
                  <a:srgbClr val="005F8E"/>
                </a:solidFill>
                <a:latin typeface="Calibri"/>
                <a:cs typeface="Calibri"/>
              </a:rPr>
              <a:t>": "001", "</a:t>
            </a:r>
            <a:r>
              <a:rPr lang="pt-BR" sz="950" err="1">
                <a:solidFill>
                  <a:srgbClr val="005F8E"/>
                </a:solidFill>
                <a:latin typeface="Calibri"/>
                <a:cs typeface="Calibri"/>
              </a:rPr>
              <a:t>descricao</a:t>
            </a:r>
            <a:r>
              <a:rPr lang="pt-BR" sz="950">
                <a:solidFill>
                  <a:srgbClr val="005F8E"/>
                </a:solidFill>
                <a:latin typeface="Calibri"/>
                <a:cs typeface="Calibri"/>
              </a:rPr>
              <a:t>": "Produto 1 atualizado", "</a:t>
            </a:r>
            <a:r>
              <a:rPr lang="pt-BR" sz="950" err="1">
                <a:solidFill>
                  <a:srgbClr val="005F8E"/>
                </a:solidFill>
                <a:latin typeface="Calibri"/>
                <a:cs typeface="Calibri"/>
              </a:rPr>
              <a:t>data_solicitacao</a:t>
            </a:r>
            <a:r>
              <a:rPr lang="pt-BR" sz="950">
                <a:solidFill>
                  <a:srgbClr val="005F8E"/>
                </a:solidFill>
                <a:latin typeface="Calibri"/>
                <a:cs typeface="Calibri"/>
              </a:rPr>
              <a:t>": "2022-03-09"}' http://localhost:5000/out_stock/</a:t>
            </a:r>
            <a:r>
              <a:rPr lang="pt-BR" sz="950">
                <a:solidFill>
                  <a:srgbClr val="FF3399"/>
                </a:solidFill>
                <a:latin typeface="Calibri"/>
                <a:cs typeface="Calibri"/>
              </a:rPr>
              <a:t>1</a:t>
            </a:r>
          </a:p>
          <a:p>
            <a:r>
              <a:rPr lang="pt-BR" sz="950" err="1">
                <a:solidFill>
                  <a:srgbClr val="005F8E"/>
                </a:solidFill>
                <a:latin typeface="Calibri"/>
                <a:cs typeface="Calibri"/>
              </a:rPr>
              <a:t>curl</a:t>
            </a:r>
            <a:r>
              <a:rPr lang="pt-BR" sz="950">
                <a:solidFill>
                  <a:srgbClr val="005F8E"/>
                </a:solidFill>
                <a:latin typeface="Calibri"/>
                <a:cs typeface="Calibri"/>
              </a:rPr>
              <a:t> -X PUT -H "</a:t>
            </a:r>
            <a:r>
              <a:rPr lang="pt-BR" sz="950" err="1">
                <a:solidFill>
                  <a:srgbClr val="005F8E"/>
                </a:solidFill>
                <a:latin typeface="Calibri"/>
                <a:cs typeface="Calibri"/>
              </a:rPr>
              <a:t>Content-Type</a:t>
            </a:r>
            <a:r>
              <a:rPr lang="pt-BR" sz="950">
                <a:solidFill>
                  <a:srgbClr val="005F8E"/>
                </a:solidFill>
                <a:latin typeface="Calibri"/>
                <a:cs typeface="Calibri"/>
              </a:rPr>
              <a:t>: </a:t>
            </a:r>
            <a:r>
              <a:rPr lang="pt-BR" sz="950" err="1">
                <a:solidFill>
                  <a:srgbClr val="005F8E"/>
                </a:solidFill>
                <a:latin typeface="Calibri"/>
                <a:cs typeface="Calibri"/>
              </a:rPr>
              <a:t>application</a:t>
            </a:r>
            <a:r>
              <a:rPr lang="pt-BR" sz="95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950" err="1">
                <a:solidFill>
                  <a:srgbClr val="005F8E"/>
                </a:solidFill>
                <a:latin typeface="Calibri"/>
                <a:cs typeface="Calibri"/>
              </a:rPr>
              <a:t>json</a:t>
            </a:r>
            <a:r>
              <a:rPr lang="pt-BR" sz="950">
                <a:solidFill>
                  <a:srgbClr val="005F8E"/>
                </a:solidFill>
                <a:latin typeface="Calibri"/>
                <a:cs typeface="Calibri"/>
              </a:rPr>
              <a:t>" -d '{"</a:t>
            </a:r>
            <a:r>
              <a:rPr lang="pt-BR" sz="950" err="1">
                <a:solidFill>
                  <a:srgbClr val="005F8E"/>
                </a:solidFill>
                <a:latin typeface="Calibri"/>
                <a:cs typeface="Calibri"/>
              </a:rPr>
              <a:t>codigo</a:t>
            </a:r>
            <a:r>
              <a:rPr lang="pt-BR" sz="950">
                <a:solidFill>
                  <a:srgbClr val="005F8E"/>
                </a:solidFill>
                <a:latin typeface="Calibri"/>
                <a:cs typeface="Calibri"/>
              </a:rPr>
              <a:t>": "001", "</a:t>
            </a:r>
            <a:r>
              <a:rPr lang="pt-BR" sz="950" err="1">
                <a:solidFill>
                  <a:srgbClr val="005F8E"/>
                </a:solidFill>
                <a:latin typeface="Calibri"/>
                <a:cs typeface="Calibri"/>
              </a:rPr>
              <a:t>descricao</a:t>
            </a:r>
            <a:r>
              <a:rPr lang="pt-BR" sz="950">
                <a:solidFill>
                  <a:srgbClr val="005F8E"/>
                </a:solidFill>
                <a:latin typeface="Calibri"/>
                <a:cs typeface="Calibri"/>
              </a:rPr>
              <a:t>": "Produto dois", "</a:t>
            </a:r>
            <a:r>
              <a:rPr lang="pt-BR" sz="950" err="1">
                <a:solidFill>
                  <a:srgbClr val="005F8E"/>
                </a:solidFill>
                <a:latin typeface="Calibri"/>
                <a:cs typeface="Calibri"/>
              </a:rPr>
              <a:t>data_solicitacao</a:t>
            </a:r>
            <a:r>
              <a:rPr lang="pt-BR" sz="950">
                <a:solidFill>
                  <a:srgbClr val="005F8E"/>
                </a:solidFill>
                <a:latin typeface="Calibri"/>
                <a:cs typeface="Calibri"/>
              </a:rPr>
              <a:t>": "2022-03-10"}' http://localhost:5000/out_stock/</a:t>
            </a:r>
            <a:r>
              <a:rPr lang="pt-BR" sz="950">
                <a:solidFill>
                  <a:srgbClr val="FF3399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18E0FFF-1EC5-ECF4-7E57-D8F626DA2147}"/>
              </a:ext>
            </a:extLst>
          </p:cNvPr>
          <p:cNvSpPr/>
          <p:nvPr/>
        </p:nvSpPr>
        <p:spPr>
          <a:xfrm>
            <a:off x="76120" y="5573887"/>
            <a:ext cx="9014128" cy="61555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700">
                <a:solidFill>
                  <a:srgbClr val="005F8E"/>
                </a:solidFill>
                <a:latin typeface="Calibri"/>
                <a:cs typeface="Calibri"/>
              </a:rPr>
              <a:t>Delete:</a:t>
            </a:r>
          </a:p>
          <a:p>
            <a:r>
              <a:rPr lang="pt-BR" sz="1700" err="1">
                <a:solidFill>
                  <a:srgbClr val="005F8E"/>
                </a:solidFill>
                <a:latin typeface="Calibri"/>
                <a:cs typeface="Calibri"/>
              </a:rPr>
              <a:t>curl</a:t>
            </a:r>
            <a:r>
              <a:rPr lang="pt-BR" sz="1700">
                <a:solidFill>
                  <a:srgbClr val="005F8E"/>
                </a:solidFill>
                <a:latin typeface="Calibri"/>
                <a:cs typeface="Calibri"/>
              </a:rPr>
              <a:t> -X DELETE http://localhost:5000/out_stock/</a:t>
            </a:r>
            <a:r>
              <a:rPr lang="pt-BR" sz="1700">
                <a:solidFill>
                  <a:srgbClr val="FF3399"/>
                </a:solidFill>
                <a:latin typeface="Calibri"/>
                <a:cs typeface="Calibri"/>
              </a:rPr>
              <a:t>003</a:t>
            </a:r>
          </a:p>
        </p:txBody>
      </p:sp>
    </p:spTree>
    <p:extLst>
      <p:ext uri="{BB962C8B-B14F-4D97-AF65-F5344CB8AC3E}">
        <p14:creationId xmlns:p14="http://schemas.microsoft.com/office/powerpoint/2010/main" val="17241649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7653016-66F0-3BE3-2779-2FB4F46B932B}"/>
              </a:ext>
            </a:extLst>
          </p:cNvPr>
          <p:cNvSpPr txBox="1"/>
          <p:nvPr/>
        </p:nvSpPr>
        <p:spPr>
          <a:xfrm>
            <a:off x="22368" y="980728"/>
            <a:ext cx="9121632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>
                <a:latin typeface="Calibri" panose="020F0502020204030204" pitchFamily="34" charset="0"/>
                <a:cs typeface="Calibri" panose="020F0502020204030204" pitchFamily="34" charset="0"/>
              </a:rPr>
              <a:t>Pelo Windows iremos realizar os Testes via </a:t>
            </a:r>
            <a:r>
              <a:rPr lang="pt-BR" b="0" err="1">
                <a:latin typeface="Calibri" panose="020F0502020204030204" pitchFamily="34" charset="0"/>
                <a:cs typeface="Calibri" panose="020F0502020204030204" pitchFamily="34" charset="0"/>
              </a:rPr>
              <a:t>Postman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>
                <a:latin typeface="Calibri" panose="020F0502020204030204" pitchFamily="34" charset="0"/>
                <a:cs typeface="Calibri" panose="020F0502020204030204" pitchFamily="34" charset="0"/>
              </a:rPr>
              <a:t>Para buscar os registros da tabela</a:t>
            </a: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1. Abra o </a:t>
            </a:r>
            <a:r>
              <a:rPr lang="pt-BR" sz="1900" b="0" err="1">
                <a:latin typeface="Calibri" panose="020F0502020204030204" pitchFamily="34" charset="0"/>
                <a:cs typeface="Calibri" panose="020F0502020204030204" pitchFamily="34" charset="0"/>
              </a:rPr>
              <a:t>Postman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 e crie uma nova requisição</a:t>
            </a:r>
          </a:p>
          <a:p>
            <a:pPr algn="just"/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2. Selecione o método </a:t>
            </a:r>
            <a:r>
              <a:rPr lang="pt-BR" sz="1900">
                <a:latin typeface="Calibri" panose="020F0502020204030204" pitchFamily="34" charset="0"/>
                <a:cs typeface="Calibri" panose="020F0502020204030204" pitchFamily="34" charset="0"/>
              </a:rPr>
              <a:t>HTTP GET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 e informe a URL: </a:t>
            </a:r>
            <a:r>
              <a:rPr lang="pt-BR" sz="1900">
                <a:latin typeface="Calibri" panose="020F0502020204030204" pitchFamily="34" charset="0"/>
                <a:cs typeface="Calibri" panose="020F0502020204030204" pitchFamily="34" charset="0"/>
              </a:rPr>
              <a:t>http://localhost:5000/</a:t>
            </a:r>
            <a:r>
              <a:rPr lang="pt-BR" sz="1900" err="1">
                <a:latin typeface="Calibri" panose="020F0502020204030204" pitchFamily="34" charset="0"/>
                <a:cs typeface="Calibri" panose="020F0502020204030204" pitchFamily="34" charset="0"/>
              </a:rPr>
              <a:t>out_stock</a:t>
            </a:r>
            <a:endParaRPr lang="pt-BR" sz="19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3. Clique em "</a:t>
            </a:r>
            <a:r>
              <a:rPr lang="pt-BR" sz="1900" b="0" err="1">
                <a:latin typeface="Calibri" panose="020F0502020204030204" pitchFamily="34" charset="0"/>
                <a:cs typeface="Calibri" panose="020F0502020204030204" pitchFamily="34" charset="0"/>
              </a:rPr>
              <a:t>Send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" para enviar a requisição</a:t>
            </a:r>
          </a:p>
          <a:p>
            <a:pPr algn="just"/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4. O resultado será exibido na aba "Body" da resposta, contendo a representação JSON dos registros da tabela "</a:t>
            </a:r>
            <a:r>
              <a:rPr lang="pt-BR" sz="1900" b="0" err="1">
                <a:latin typeface="Calibri" panose="020F0502020204030204" pitchFamily="34" charset="0"/>
                <a:cs typeface="Calibri" panose="020F0502020204030204" pitchFamily="34" charset="0"/>
              </a:rPr>
              <a:t>out_stock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29D8C05-53FB-E946-C07A-330E428B8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711" y="3703138"/>
            <a:ext cx="5838578" cy="3041089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D21A6A6B-0B14-85B8-0743-D9D7A7F77220}"/>
              </a:ext>
            </a:extLst>
          </p:cNvPr>
          <p:cNvSpPr/>
          <p:nvPr/>
        </p:nvSpPr>
        <p:spPr>
          <a:xfrm>
            <a:off x="1671043" y="6423971"/>
            <a:ext cx="5820246" cy="320256"/>
          </a:xfrm>
          <a:prstGeom prst="rect">
            <a:avLst/>
          </a:prstGeom>
          <a:solidFill>
            <a:srgbClr val="FF0000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EE0FF78-3738-8F1E-FE64-C7EC421B24EE}"/>
              </a:ext>
            </a:extLst>
          </p:cNvPr>
          <p:cNvSpPr/>
          <p:nvPr/>
        </p:nvSpPr>
        <p:spPr>
          <a:xfrm>
            <a:off x="1656962" y="4359586"/>
            <a:ext cx="5834326" cy="432048"/>
          </a:xfrm>
          <a:prstGeom prst="rect">
            <a:avLst/>
          </a:prstGeom>
          <a:solidFill>
            <a:srgbClr val="FF0000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67899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7653016-66F0-3BE3-2779-2FB4F46B932B}"/>
              </a:ext>
            </a:extLst>
          </p:cNvPr>
          <p:cNvSpPr txBox="1"/>
          <p:nvPr/>
        </p:nvSpPr>
        <p:spPr>
          <a:xfrm>
            <a:off x="22368" y="980728"/>
            <a:ext cx="91216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>
                <a:latin typeface="Calibri" panose="020F0502020204030204" pitchFamily="34" charset="0"/>
                <a:cs typeface="Calibri" panose="020F0502020204030204" pitchFamily="34" charset="0"/>
              </a:rPr>
              <a:t>Para buscar os registros da tabela</a:t>
            </a: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O Browser da Internet também serve para realizar essa operação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5F793A0-59FE-F827-931C-993D778C1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924944"/>
            <a:ext cx="6742840" cy="357745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9AD7E911-2EC1-3EC1-B02D-8C4A734310C9}"/>
              </a:ext>
            </a:extLst>
          </p:cNvPr>
          <p:cNvSpPr/>
          <p:nvPr/>
        </p:nvSpPr>
        <p:spPr>
          <a:xfrm>
            <a:off x="2563132" y="2252918"/>
            <a:ext cx="3127728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700">
                <a:solidFill>
                  <a:srgbClr val="005F8E"/>
                </a:solidFill>
                <a:latin typeface="Calibri"/>
                <a:cs typeface="Calibri"/>
              </a:rPr>
              <a:t>http://localhost:5000/</a:t>
            </a:r>
            <a:r>
              <a:rPr lang="pt-BR" sz="17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endParaRPr lang="pt-BR" sz="1700">
              <a:solidFill>
                <a:srgbClr val="FF3399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155757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7653016-66F0-3BE3-2779-2FB4F46B932B}"/>
              </a:ext>
            </a:extLst>
          </p:cNvPr>
          <p:cNvSpPr txBox="1"/>
          <p:nvPr/>
        </p:nvSpPr>
        <p:spPr>
          <a:xfrm>
            <a:off x="22368" y="980728"/>
            <a:ext cx="9121632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>
                <a:latin typeface="Calibri" panose="020F0502020204030204" pitchFamily="34" charset="0"/>
                <a:cs typeface="Calibri" panose="020F0502020204030204" pitchFamily="34" charset="0"/>
              </a:rPr>
              <a:t>Para inserir um novo registro na tabela</a:t>
            </a: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1. Selecione o método </a:t>
            </a:r>
            <a:r>
              <a:rPr lang="pt-BR" sz="1900">
                <a:latin typeface="Calibri" panose="020F0502020204030204" pitchFamily="34" charset="0"/>
                <a:cs typeface="Calibri" panose="020F0502020204030204" pitchFamily="34" charset="0"/>
              </a:rPr>
              <a:t>HTTP POST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 e informe a URL: </a:t>
            </a:r>
            <a:r>
              <a:rPr lang="pt-BR" sz="1900">
                <a:latin typeface="Calibri" panose="020F0502020204030204" pitchFamily="34" charset="0"/>
                <a:cs typeface="Calibri" panose="020F0502020204030204" pitchFamily="34" charset="0"/>
              </a:rPr>
              <a:t>http://localhost:5000/</a:t>
            </a:r>
            <a:r>
              <a:rPr lang="pt-BR" sz="1900" err="1">
                <a:latin typeface="Calibri" panose="020F0502020204030204" pitchFamily="34" charset="0"/>
                <a:cs typeface="Calibri" panose="020F0502020204030204" pitchFamily="34" charset="0"/>
              </a:rPr>
              <a:t>out_stock</a:t>
            </a:r>
            <a:endParaRPr lang="pt-BR" sz="19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2. Selecione a aba "</a:t>
            </a:r>
            <a:r>
              <a:rPr lang="pt-BR" sz="1900">
                <a:latin typeface="Calibri" panose="020F0502020204030204" pitchFamily="34" charset="0"/>
                <a:cs typeface="Calibri" panose="020F0502020204030204" pitchFamily="34" charset="0"/>
              </a:rPr>
              <a:t>Body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", escolha a opção "</a:t>
            </a:r>
            <a:r>
              <a:rPr lang="pt-BR" sz="1900" err="1">
                <a:latin typeface="Calibri" panose="020F0502020204030204" pitchFamily="34" charset="0"/>
                <a:cs typeface="Calibri" panose="020F0502020204030204" pitchFamily="34" charset="0"/>
              </a:rPr>
              <a:t>raw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" e defina o formato para "</a:t>
            </a:r>
            <a:r>
              <a:rPr lang="pt-BR" sz="1900">
                <a:latin typeface="Calibri" panose="020F0502020204030204" pitchFamily="34" charset="0"/>
                <a:cs typeface="Calibri" panose="020F0502020204030204" pitchFamily="34" charset="0"/>
              </a:rPr>
              <a:t>JSON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</a:p>
          <a:p>
            <a:pPr algn="just"/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3. No campo de edição, informe os dados do novo registro em formato JSON</a:t>
            </a:r>
          </a:p>
          <a:p>
            <a:pPr algn="just"/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4. Clique em "</a:t>
            </a:r>
            <a:r>
              <a:rPr lang="pt-BR" sz="1900" b="0" err="1">
                <a:latin typeface="Calibri" panose="020F0502020204030204" pitchFamily="34" charset="0"/>
                <a:cs typeface="Calibri" panose="020F0502020204030204" pitchFamily="34" charset="0"/>
              </a:rPr>
              <a:t>Send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" para enviar a requisição</a:t>
            </a:r>
          </a:p>
          <a:p>
            <a:pPr algn="just"/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5. O resultado será exibido na aba "Body" da resposta, contendo a representação JSON do registro inserido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C435B39-76BE-1151-98CC-0B4D998D0757}"/>
              </a:ext>
            </a:extLst>
          </p:cNvPr>
          <p:cNvSpPr txBox="1"/>
          <p:nvPr/>
        </p:nvSpPr>
        <p:spPr>
          <a:xfrm>
            <a:off x="1223628" y="3396774"/>
            <a:ext cx="669674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{"</a:t>
            </a:r>
            <a:r>
              <a:rPr lang="pt-BR" sz="1100" b="0" err="1">
                <a:latin typeface="Courier New" panose="02070309020205020404" pitchFamily="49" charset="0"/>
                <a:cs typeface="Courier New" panose="02070309020205020404" pitchFamily="49" charset="0"/>
              </a:rPr>
              <a:t>codigo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": "001", "</a:t>
            </a:r>
            <a:r>
              <a:rPr lang="pt-BR" sz="1100" b="0" err="1">
                <a:latin typeface="Courier New" panose="02070309020205020404" pitchFamily="49" charset="0"/>
                <a:cs typeface="Courier New" panose="02070309020205020404" pitchFamily="49" charset="0"/>
              </a:rPr>
              <a:t>descricao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": "Produto 1", "</a:t>
            </a:r>
            <a:r>
              <a:rPr lang="pt-BR" sz="1100" b="0" err="1">
                <a:latin typeface="Courier New" panose="02070309020205020404" pitchFamily="49" charset="0"/>
                <a:cs typeface="Courier New" panose="02070309020205020404" pitchFamily="49" charset="0"/>
              </a:rPr>
              <a:t>data_solicitacao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": "2022-03-10"}</a:t>
            </a:r>
          </a:p>
          <a:p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{"</a:t>
            </a:r>
            <a:r>
              <a:rPr lang="pt-BR" sz="1100" b="0" err="1">
                <a:latin typeface="Courier New" panose="02070309020205020404" pitchFamily="49" charset="0"/>
                <a:cs typeface="Courier New" panose="02070309020205020404" pitchFamily="49" charset="0"/>
              </a:rPr>
              <a:t>codigo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": "002", "</a:t>
            </a:r>
            <a:r>
              <a:rPr lang="pt-BR" sz="1100" b="0" err="1">
                <a:latin typeface="Courier New" panose="02070309020205020404" pitchFamily="49" charset="0"/>
                <a:cs typeface="Courier New" panose="02070309020205020404" pitchFamily="49" charset="0"/>
              </a:rPr>
              <a:t>descricao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": "Produto 2", "</a:t>
            </a:r>
            <a:r>
              <a:rPr lang="pt-BR" sz="1100" b="0" err="1">
                <a:latin typeface="Courier New" panose="02070309020205020404" pitchFamily="49" charset="0"/>
                <a:cs typeface="Courier New" panose="02070309020205020404" pitchFamily="49" charset="0"/>
              </a:rPr>
              <a:t>data_solicitacao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": "2022-03-10"}</a:t>
            </a:r>
          </a:p>
          <a:p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{"</a:t>
            </a:r>
            <a:r>
              <a:rPr lang="pt-BR" sz="1100" b="0" err="1">
                <a:latin typeface="Courier New" panose="02070309020205020404" pitchFamily="49" charset="0"/>
                <a:cs typeface="Courier New" panose="02070309020205020404" pitchFamily="49" charset="0"/>
              </a:rPr>
              <a:t>codigo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": "003", "</a:t>
            </a:r>
            <a:r>
              <a:rPr lang="pt-BR" sz="1100" b="0" err="1">
                <a:latin typeface="Courier New" panose="02070309020205020404" pitchFamily="49" charset="0"/>
                <a:cs typeface="Courier New" panose="02070309020205020404" pitchFamily="49" charset="0"/>
              </a:rPr>
              <a:t>descricao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": "Produto 3", "</a:t>
            </a:r>
            <a:r>
              <a:rPr lang="pt-BR" sz="1100" b="0" err="1">
                <a:latin typeface="Courier New" panose="02070309020205020404" pitchFamily="49" charset="0"/>
                <a:cs typeface="Courier New" panose="02070309020205020404" pitchFamily="49" charset="0"/>
              </a:rPr>
              <a:t>data_solicitacao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": "2022-03-10"}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35CBECC-B30D-37A9-99B0-F04EB0ED9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3" y="4055267"/>
            <a:ext cx="4849356" cy="2750575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1A521FA-7E07-F2FE-F832-8443C4677B2C}"/>
              </a:ext>
            </a:extLst>
          </p:cNvPr>
          <p:cNvSpPr/>
          <p:nvPr/>
        </p:nvSpPr>
        <p:spPr>
          <a:xfrm>
            <a:off x="1979713" y="4622672"/>
            <a:ext cx="4849356" cy="327610"/>
          </a:xfrm>
          <a:prstGeom prst="rect">
            <a:avLst/>
          </a:prstGeom>
          <a:solidFill>
            <a:srgbClr val="FF0000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B9A1FD5-88C7-E8FA-0C7A-EAC7EF3D1482}"/>
              </a:ext>
            </a:extLst>
          </p:cNvPr>
          <p:cNvSpPr/>
          <p:nvPr/>
        </p:nvSpPr>
        <p:spPr>
          <a:xfrm>
            <a:off x="3131840" y="4950230"/>
            <a:ext cx="440851" cy="239293"/>
          </a:xfrm>
          <a:prstGeom prst="rect">
            <a:avLst/>
          </a:prstGeom>
          <a:solidFill>
            <a:srgbClr val="FF0000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CEDC6B2-6C3C-69F7-2341-320B36074909}"/>
              </a:ext>
            </a:extLst>
          </p:cNvPr>
          <p:cNvSpPr/>
          <p:nvPr/>
        </p:nvSpPr>
        <p:spPr>
          <a:xfrm>
            <a:off x="1979713" y="5170951"/>
            <a:ext cx="931701" cy="239293"/>
          </a:xfrm>
          <a:prstGeom prst="rect">
            <a:avLst/>
          </a:prstGeom>
          <a:solidFill>
            <a:srgbClr val="FF0000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EFF1AA9-198E-444E-F901-EAE5C5A94F7A}"/>
              </a:ext>
            </a:extLst>
          </p:cNvPr>
          <p:cNvSpPr/>
          <p:nvPr/>
        </p:nvSpPr>
        <p:spPr>
          <a:xfrm flipV="1">
            <a:off x="2037492" y="5489749"/>
            <a:ext cx="4791577" cy="158917"/>
          </a:xfrm>
          <a:prstGeom prst="rect">
            <a:avLst/>
          </a:prstGeom>
          <a:solidFill>
            <a:srgbClr val="FF0000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37667BA-BE3D-1466-CCB3-18AA9901E9AA}"/>
              </a:ext>
            </a:extLst>
          </p:cNvPr>
          <p:cNvSpPr/>
          <p:nvPr/>
        </p:nvSpPr>
        <p:spPr>
          <a:xfrm>
            <a:off x="1979713" y="6188133"/>
            <a:ext cx="4791577" cy="590065"/>
          </a:xfrm>
          <a:prstGeom prst="rect">
            <a:avLst/>
          </a:prstGeom>
          <a:solidFill>
            <a:srgbClr val="FF0000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45032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7653016-66F0-3BE3-2779-2FB4F46B932B}"/>
              </a:ext>
            </a:extLst>
          </p:cNvPr>
          <p:cNvSpPr txBox="1"/>
          <p:nvPr/>
        </p:nvSpPr>
        <p:spPr>
          <a:xfrm>
            <a:off x="22368" y="980728"/>
            <a:ext cx="9121632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>
                <a:latin typeface="Calibri" panose="020F0502020204030204" pitchFamily="34" charset="0"/>
                <a:cs typeface="Calibri" panose="020F0502020204030204" pitchFamily="34" charset="0"/>
              </a:rPr>
              <a:t>Para atualizar um registro na tabela</a:t>
            </a: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1. Selecione o método </a:t>
            </a:r>
            <a:r>
              <a:rPr lang="pt-BR" sz="1900">
                <a:latin typeface="Calibri" panose="020F0502020204030204" pitchFamily="34" charset="0"/>
                <a:cs typeface="Calibri" panose="020F0502020204030204" pitchFamily="34" charset="0"/>
              </a:rPr>
              <a:t>HTTP PUT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 e informe a URL com o </a:t>
            </a:r>
            <a:r>
              <a:rPr lang="pt-BR" sz="1900">
                <a:latin typeface="Calibri" panose="020F0502020204030204" pitchFamily="34" charset="0"/>
                <a:cs typeface="Calibri" panose="020F0502020204030204" pitchFamily="34" charset="0"/>
              </a:rPr>
              <a:t>id do registro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 a ser atualizado (</a:t>
            </a:r>
            <a:r>
              <a:rPr lang="pt-BR" sz="1900" b="0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PK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): </a:t>
            </a:r>
            <a:r>
              <a:rPr lang="pt-BR" sz="1900">
                <a:latin typeface="Calibri" panose="020F0502020204030204" pitchFamily="34" charset="0"/>
                <a:cs typeface="Calibri" panose="020F0502020204030204" pitchFamily="34" charset="0"/>
              </a:rPr>
              <a:t>http://localhost:5000/</a:t>
            </a:r>
            <a:r>
              <a:rPr lang="pt-BR" sz="1900" err="1">
                <a:latin typeface="Calibri" panose="020F0502020204030204" pitchFamily="34" charset="0"/>
                <a:cs typeface="Calibri" panose="020F0502020204030204" pitchFamily="34" charset="0"/>
              </a:rPr>
              <a:t>out_stock</a:t>
            </a:r>
            <a:r>
              <a:rPr lang="pt-BR" sz="190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pt-BR" sz="1900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 (no exemplo, o id é "1")</a:t>
            </a:r>
          </a:p>
          <a:p>
            <a:pPr algn="just"/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2. Selecione a aba "</a:t>
            </a:r>
            <a:r>
              <a:rPr lang="pt-BR" sz="1900">
                <a:latin typeface="Calibri" panose="020F0502020204030204" pitchFamily="34" charset="0"/>
                <a:cs typeface="Calibri" panose="020F0502020204030204" pitchFamily="34" charset="0"/>
              </a:rPr>
              <a:t>Body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", escolha a opção "</a:t>
            </a:r>
            <a:r>
              <a:rPr lang="pt-BR" sz="1900" err="1">
                <a:latin typeface="Calibri" panose="020F0502020204030204" pitchFamily="34" charset="0"/>
                <a:cs typeface="Calibri" panose="020F0502020204030204" pitchFamily="34" charset="0"/>
              </a:rPr>
              <a:t>raw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" e defina o formato para "</a:t>
            </a:r>
            <a:r>
              <a:rPr lang="pt-BR" sz="1900">
                <a:latin typeface="Calibri" panose="020F0502020204030204" pitchFamily="34" charset="0"/>
                <a:cs typeface="Calibri" panose="020F0502020204030204" pitchFamily="34" charset="0"/>
              </a:rPr>
              <a:t>JSON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</a:p>
          <a:p>
            <a:pPr algn="just"/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3. No campo de edição, informe os dados atualizados do registro em formato JSON</a:t>
            </a:r>
          </a:p>
          <a:p>
            <a:pPr algn="just"/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4. Clique em "</a:t>
            </a:r>
            <a:r>
              <a:rPr lang="pt-BR" sz="1900" b="0" err="1">
                <a:latin typeface="Calibri" panose="020F0502020204030204" pitchFamily="34" charset="0"/>
                <a:cs typeface="Calibri" panose="020F0502020204030204" pitchFamily="34" charset="0"/>
              </a:rPr>
              <a:t>Send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" para enviar a requisição</a:t>
            </a:r>
          </a:p>
          <a:p>
            <a:pPr algn="just"/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5. O resultado será exibido na aba "Body" da resposta, contendo a representação JSON do registro atualizado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C435B39-76BE-1151-98CC-0B4D998D0757}"/>
              </a:ext>
            </a:extLst>
          </p:cNvPr>
          <p:cNvSpPr txBox="1"/>
          <p:nvPr/>
        </p:nvSpPr>
        <p:spPr>
          <a:xfrm>
            <a:off x="611560" y="3689162"/>
            <a:ext cx="823699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: http://localhost:5000/</a:t>
            </a:r>
            <a:r>
              <a:rPr lang="pt-BR" sz="1100" b="0" err="1">
                <a:latin typeface="Courier New" panose="02070309020205020404" pitchFamily="49" charset="0"/>
                <a:cs typeface="Courier New" panose="02070309020205020404" pitchFamily="49" charset="0"/>
              </a:rPr>
              <a:t>out_stock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/1</a:t>
            </a:r>
          </a:p>
          <a:p>
            <a:r>
              <a:rPr lang="pt-BR" sz="1100">
                <a:latin typeface="Courier New" panose="02070309020205020404" pitchFamily="49" charset="0"/>
                <a:cs typeface="Courier New" panose="02070309020205020404" pitchFamily="49" charset="0"/>
              </a:rPr>
              <a:t>Linha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: {"</a:t>
            </a:r>
            <a:r>
              <a:rPr lang="pt-BR" sz="1100" b="0" err="1">
                <a:latin typeface="Courier New" panose="02070309020205020404" pitchFamily="49" charset="0"/>
                <a:cs typeface="Courier New" panose="02070309020205020404" pitchFamily="49" charset="0"/>
              </a:rPr>
              <a:t>codigo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": "001", "</a:t>
            </a:r>
            <a:r>
              <a:rPr lang="pt-BR" sz="1100" b="0" err="1">
                <a:latin typeface="Courier New" panose="02070309020205020404" pitchFamily="49" charset="0"/>
                <a:cs typeface="Courier New" panose="02070309020205020404" pitchFamily="49" charset="0"/>
              </a:rPr>
              <a:t>descricao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": "Produto 1 atualizado", "</a:t>
            </a:r>
            <a:r>
              <a:rPr lang="pt-BR" sz="1100" b="0" err="1">
                <a:latin typeface="Courier New" panose="02070309020205020404" pitchFamily="49" charset="0"/>
                <a:cs typeface="Courier New" panose="02070309020205020404" pitchFamily="49" charset="0"/>
              </a:rPr>
              <a:t>data_solicitacao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": "2022-03-09"}</a:t>
            </a:r>
          </a:p>
          <a:p>
            <a:endParaRPr lang="pt-BR" sz="700" b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100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: http://localhost:5000/</a:t>
            </a:r>
            <a:r>
              <a:rPr lang="pt-BR" sz="1100" b="0" err="1">
                <a:latin typeface="Courier New" panose="02070309020205020404" pitchFamily="49" charset="0"/>
                <a:cs typeface="Courier New" panose="02070309020205020404" pitchFamily="49" charset="0"/>
              </a:rPr>
              <a:t>out_stock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/2</a:t>
            </a:r>
          </a:p>
          <a:p>
            <a:r>
              <a:rPr lang="pt-BR" sz="1100">
                <a:latin typeface="Courier New" panose="02070309020205020404" pitchFamily="49" charset="0"/>
                <a:cs typeface="Courier New" panose="02070309020205020404" pitchFamily="49" charset="0"/>
              </a:rPr>
              <a:t>Linha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: {"</a:t>
            </a:r>
            <a:r>
              <a:rPr lang="pt-BR" sz="1100" b="0" err="1">
                <a:latin typeface="Courier New" panose="02070309020205020404" pitchFamily="49" charset="0"/>
                <a:cs typeface="Courier New" panose="02070309020205020404" pitchFamily="49" charset="0"/>
              </a:rPr>
              <a:t>codigo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": "002", "</a:t>
            </a:r>
            <a:r>
              <a:rPr lang="pt-BR" sz="1100" b="0" err="1">
                <a:latin typeface="Courier New" panose="02070309020205020404" pitchFamily="49" charset="0"/>
                <a:cs typeface="Courier New" panose="02070309020205020404" pitchFamily="49" charset="0"/>
              </a:rPr>
              <a:t>descricao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": "Produto dois", "</a:t>
            </a:r>
            <a:r>
              <a:rPr lang="pt-BR" sz="1100" b="0" err="1">
                <a:latin typeface="Courier New" panose="02070309020205020404" pitchFamily="49" charset="0"/>
                <a:cs typeface="Courier New" panose="02070309020205020404" pitchFamily="49" charset="0"/>
              </a:rPr>
              <a:t>data_solicitacao</a:t>
            </a:r>
            <a:r>
              <a:rPr lang="pt-BR" sz="1100" b="0">
                <a:latin typeface="Courier New" panose="02070309020205020404" pitchFamily="49" charset="0"/>
                <a:cs typeface="Courier New" panose="02070309020205020404" pitchFamily="49" charset="0"/>
              </a:rPr>
              <a:t>": "2022-03-10"}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3470322-FF38-B826-3ECC-F251EDDB5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4817733"/>
            <a:ext cx="3729654" cy="19742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A2B1BA2-21DA-FE27-E376-0A93734235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4817733"/>
            <a:ext cx="3744416" cy="1974242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2B91EC31-2F00-0795-7F9C-71AB8A1D9464}"/>
              </a:ext>
            </a:extLst>
          </p:cNvPr>
          <p:cNvSpPr/>
          <p:nvPr/>
        </p:nvSpPr>
        <p:spPr>
          <a:xfrm>
            <a:off x="395536" y="5229199"/>
            <a:ext cx="3729654" cy="239467"/>
          </a:xfrm>
          <a:prstGeom prst="rect">
            <a:avLst/>
          </a:prstGeom>
          <a:solidFill>
            <a:srgbClr val="FF0000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BF1B1EB-4753-82E7-9799-7C8F2467ADAF}"/>
              </a:ext>
            </a:extLst>
          </p:cNvPr>
          <p:cNvSpPr/>
          <p:nvPr/>
        </p:nvSpPr>
        <p:spPr>
          <a:xfrm>
            <a:off x="4427984" y="5229199"/>
            <a:ext cx="3744416" cy="239467"/>
          </a:xfrm>
          <a:prstGeom prst="rect">
            <a:avLst/>
          </a:prstGeom>
          <a:solidFill>
            <a:srgbClr val="FF0000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1756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7653016-66F0-3BE3-2779-2FB4F46B932B}"/>
              </a:ext>
            </a:extLst>
          </p:cNvPr>
          <p:cNvSpPr txBox="1"/>
          <p:nvPr/>
        </p:nvSpPr>
        <p:spPr>
          <a:xfrm>
            <a:off x="22368" y="980728"/>
            <a:ext cx="912163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>
                <a:latin typeface="Calibri" panose="020F0502020204030204" pitchFamily="34" charset="0"/>
                <a:cs typeface="Calibri" panose="020F0502020204030204" pitchFamily="34" charset="0"/>
              </a:rPr>
              <a:t>Para deletar um registro na tabela</a:t>
            </a:r>
          </a:p>
          <a:p>
            <a:pPr algn="just"/>
            <a:endParaRPr lang="pt-BR" sz="1300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1. Selecione o método </a:t>
            </a:r>
            <a:r>
              <a:rPr lang="pt-BR" sz="1900">
                <a:latin typeface="Calibri" panose="020F0502020204030204" pitchFamily="34" charset="0"/>
                <a:cs typeface="Calibri" panose="020F0502020204030204" pitchFamily="34" charset="0"/>
              </a:rPr>
              <a:t>HTTP DELETE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 e informe a URL com o </a:t>
            </a:r>
            <a:r>
              <a:rPr lang="pt-BR" sz="1900">
                <a:latin typeface="Calibri" panose="020F0502020204030204" pitchFamily="34" charset="0"/>
                <a:cs typeface="Calibri" panose="020F0502020204030204" pitchFamily="34" charset="0"/>
              </a:rPr>
              <a:t>id do registro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 a ser deletado (</a:t>
            </a:r>
            <a:r>
              <a:rPr lang="pt-BR" sz="1900" b="0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PK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): </a:t>
            </a:r>
            <a:r>
              <a:rPr lang="pt-BR" sz="1900">
                <a:latin typeface="Calibri" panose="020F0502020204030204" pitchFamily="34" charset="0"/>
                <a:cs typeface="Calibri" panose="020F0502020204030204" pitchFamily="34" charset="0"/>
              </a:rPr>
              <a:t>http://localhost:5000/</a:t>
            </a:r>
            <a:r>
              <a:rPr lang="pt-BR" sz="1900" err="1">
                <a:latin typeface="Calibri" panose="020F0502020204030204" pitchFamily="34" charset="0"/>
                <a:cs typeface="Calibri" panose="020F0502020204030204" pitchFamily="34" charset="0"/>
              </a:rPr>
              <a:t>out_stock</a:t>
            </a:r>
            <a:r>
              <a:rPr lang="pt-BR" sz="190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pt-BR" sz="1900">
                <a:solidFill>
                  <a:srgbClr val="FF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 (no exemplo, o código é "3")</a:t>
            </a:r>
          </a:p>
          <a:p>
            <a:pPr algn="just"/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2. Clique em "</a:t>
            </a:r>
            <a:r>
              <a:rPr lang="pt-BR" sz="1900" b="0" err="1">
                <a:latin typeface="Calibri" panose="020F0502020204030204" pitchFamily="34" charset="0"/>
                <a:cs typeface="Calibri" panose="020F0502020204030204" pitchFamily="34" charset="0"/>
              </a:rPr>
              <a:t>Send</a:t>
            </a:r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" para enviar a requisição</a:t>
            </a:r>
          </a:p>
          <a:p>
            <a:pPr algn="just"/>
            <a:r>
              <a:rPr lang="pt-BR" sz="1900" b="0">
                <a:latin typeface="Calibri" panose="020F0502020204030204" pitchFamily="34" charset="0"/>
                <a:cs typeface="Calibri" panose="020F0502020204030204" pitchFamily="34" charset="0"/>
              </a:rPr>
              <a:t>3. O resultado será exibido na aba "Body" da resposta, contendo uma mensagem indicando se a operação foi realizada com sucesso ou não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E0EF2BC-ADA3-3178-0ABF-4495141B9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251" y="3765809"/>
            <a:ext cx="5551434" cy="2956511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8DE14C88-0598-01FE-0FEC-03E8714270D1}"/>
              </a:ext>
            </a:extLst>
          </p:cNvPr>
          <p:cNvSpPr/>
          <p:nvPr/>
        </p:nvSpPr>
        <p:spPr>
          <a:xfrm>
            <a:off x="2483768" y="3258126"/>
            <a:ext cx="3312368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700">
                <a:solidFill>
                  <a:srgbClr val="005F8E"/>
                </a:solidFill>
                <a:latin typeface="Calibri"/>
                <a:cs typeface="Calibri"/>
              </a:rPr>
              <a:t>http://localhost:5000/</a:t>
            </a:r>
            <a:r>
              <a:rPr lang="pt-BR" sz="1700" err="1">
                <a:solidFill>
                  <a:srgbClr val="005F8E"/>
                </a:solidFill>
                <a:latin typeface="Calibri"/>
                <a:cs typeface="Calibri"/>
              </a:rPr>
              <a:t>out_stock</a:t>
            </a:r>
            <a:r>
              <a:rPr lang="pt-BR" sz="1700">
                <a:solidFill>
                  <a:srgbClr val="005F8E"/>
                </a:solidFill>
                <a:latin typeface="Calibri"/>
                <a:cs typeface="Calibri"/>
              </a:rPr>
              <a:t>/</a:t>
            </a:r>
            <a:r>
              <a:rPr lang="pt-BR" sz="1700">
                <a:solidFill>
                  <a:srgbClr val="FF3399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84AC43F-353D-55DB-503A-168C20E9DD25}"/>
              </a:ext>
            </a:extLst>
          </p:cNvPr>
          <p:cNvSpPr/>
          <p:nvPr/>
        </p:nvSpPr>
        <p:spPr>
          <a:xfrm>
            <a:off x="1511341" y="4365104"/>
            <a:ext cx="5548343" cy="360040"/>
          </a:xfrm>
          <a:prstGeom prst="rect">
            <a:avLst/>
          </a:prstGeom>
          <a:solidFill>
            <a:srgbClr val="FF0000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34907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FF4F840-847F-3943-B758-0509976CD4AA}"/>
              </a:ext>
            </a:extLst>
          </p:cNvPr>
          <p:cNvSpPr/>
          <p:nvPr/>
        </p:nvSpPr>
        <p:spPr>
          <a:xfrm>
            <a:off x="395536" y="260648"/>
            <a:ext cx="3044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Aprendendo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err="1"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endParaRPr lang="pt-BR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7653016-66F0-3BE3-2779-2FB4F46B932B}"/>
              </a:ext>
            </a:extLst>
          </p:cNvPr>
          <p:cNvSpPr txBox="1"/>
          <p:nvPr/>
        </p:nvSpPr>
        <p:spPr>
          <a:xfrm>
            <a:off x="22368" y="980728"/>
            <a:ext cx="9121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>
                <a:latin typeface="Calibri" panose="020F0502020204030204" pitchFamily="34" charset="0"/>
                <a:cs typeface="Calibri" panose="020F0502020204030204" pitchFamily="34" charset="0"/>
              </a:rPr>
              <a:t>Comandos adicionais importantes</a:t>
            </a:r>
            <a:endParaRPr lang="pt-BR" sz="1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340AA8F-714B-BDD4-C9BF-CAA1E05B8794}"/>
              </a:ext>
            </a:extLst>
          </p:cNvPr>
          <p:cNvSpPr txBox="1"/>
          <p:nvPr/>
        </p:nvSpPr>
        <p:spPr>
          <a:xfrm>
            <a:off x="107504" y="1988254"/>
            <a:ext cx="892899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Inicia os Containers:</a:t>
            </a:r>
          </a:p>
          <a:p>
            <a:pPr algn="just"/>
            <a:r>
              <a:rPr lang="pt-BR" sz="1900" b="0" err="1">
                <a:solidFill>
                  <a:srgbClr val="005F8E"/>
                </a:solidFill>
                <a:latin typeface="Calibri"/>
                <a:cs typeface="Calibri"/>
              </a:rPr>
              <a:t>docker-compose</a:t>
            </a:r>
            <a:r>
              <a:rPr lang="pt-BR" sz="1900" b="0">
                <a:solidFill>
                  <a:srgbClr val="005F8E"/>
                </a:solidFill>
                <a:latin typeface="Calibri"/>
                <a:cs typeface="Calibri"/>
              </a:rPr>
              <a:t> start</a:t>
            </a:r>
          </a:p>
          <a:p>
            <a:pPr algn="just"/>
            <a:endParaRPr lang="pt-BR" sz="1900">
              <a:solidFill>
                <a:srgbClr val="005F8E"/>
              </a:solidFill>
              <a:latin typeface="Calibri"/>
              <a:cs typeface="Calibri"/>
            </a:endParaRPr>
          </a:p>
          <a:p>
            <a:pPr algn="just"/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Reinicia os Containers:</a:t>
            </a:r>
          </a:p>
          <a:p>
            <a:pPr algn="just"/>
            <a:r>
              <a:rPr lang="pt-BR" sz="1900" b="0" err="1">
                <a:solidFill>
                  <a:srgbClr val="005F8E"/>
                </a:solidFill>
                <a:latin typeface="Calibri"/>
                <a:cs typeface="Calibri"/>
              </a:rPr>
              <a:t>docker-compose</a:t>
            </a:r>
            <a:r>
              <a:rPr lang="pt-BR" sz="1900" b="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900" b="0" err="1">
                <a:solidFill>
                  <a:srgbClr val="005F8E"/>
                </a:solidFill>
                <a:latin typeface="Calibri"/>
                <a:cs typeface="Calibri"/>
              </a:rPr>
              <a:t>restart</a:t>
            </a:r>
            <a:endParaRPr lang="pt-BR" sz="1900" b="0">
              <a:solidFill>
                <a:srgbClr val="005F8E"/>
              </a:solidFill>
              <a:latin typeface="Calibri"/>
              <a:cs typeface="Calibri"/>
            </a:endParaRPr>
          </a:p>
          <a:p>
            <a:pPr algn="just"/>
            <a:endParaRPr lang="pt-BR" sz="1900">
              <a:solidFill>
                <a:srgbClr val="005F8E"/>
              </a:solidFill>
              <a:latin typeface="Calibri"/>
              <a:cs typeface="Calibri"/>
            </a:endParaRPr>
          </a:p>
          <a:p>
            <a:pPr algn="just"/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Paralisa os Containers:</a:t>
            </a:r>
          </a:p>
          <a:p>
            <a:pPr algn="just"/>
            <a:r>
              <a:rPr lang="pt-BR" sz="1900" b="0" err="1">
                <a:solidFill>
                  <a:srgbClr val="005F8E"/>
                </a:solidFill>
                <a:latin typeface="Calibri"/>
                <a:cs typeface="Calibri"/>
              </a:rPr>
              <a:t>docker-compose</a:t>
            </a:r>
            <a:r>
              <a:rPr lang="pt-BR" sz="1900" b="0">
                <a:solidFill>
                  <a:srgbClr val="005F8E"/>
                </a:solidFill>
                <a:latin typeface="Calibri"/>
                <a:cs typeface="Calibri"/>
              </a:rPr>
              <a:t> stop</a:t>
            </a:r>
          </a:p>
          <a:p>
            <a:pPr algn="just"/>
            <a:endParaRPr lang="pt-BR" sz="1900">
              <a:solidFill>
                <a:srgbClr val="005F8E"/>
              </a:solidFill>
              <a:latin typeface="Calibri"/>
              <a:cs typeface="Calibri"/>
            </a:endParaRPr>
          </a:p>
          <a:p>
            <a:pPr algn="just"/>
            <a:r>
              <a:rPr lang="pt-BR" sz="1900">
                <a:solidFill>
                  <a:srgbClr val="005F8E"/>
                </a:solidFill>
                <a:latin typeface="Calibri"/>
                <a:cs typeface="Calibri"/>
              </a:rPr>
              <a:t>Para e remove todos os Containers e seus componentes como rede, imagem e volume (Não deleta: Imagens nem Volumes, só elimina o vínculo):</a:t>
            </a:r>
          </a:p>
          <a:p>
            <a:pPr algn="just"/>
            <a:r>
              <a:rPr lang="pt-BR" sz="1900" b="0" err="1">
                <a:solidFill>
                  <a:srgbClr val="005F8E"/>
                </a:solidFill>
                <a:latin typeface="Calibri"/>
                <a:cs typeface="Calibri"/>
              </a:rPr>
              <a:t>docker-compose</a:t>
            </a:r>
            <a:r>
              <a:rPr lang="pt-BR" sz="1900" b="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1900" b="0" err="1">
                <a:solidFill>
                  <a:srgbClr val="005F8E"/>
                </a:solidFill>
                <a:latin typeface="Calibri"/>
                <a:cs typeface="Calibri"/>
              </a:rPr>
              <a:t>down</a:t>
            </a:r>
            <a:endParaRPr lang="pt-BR" sz="1900" b="0">
              <a:solidFill>
                <a:srgbClr val="005F8E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92827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1E7352-4E94-47F9-A1DD-4D554B1F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</a:t>
            </a:r>
            <a:r>
              <a:rPr lang="pt-BR" sz="2000" err="1">
                <a:solidFill>
                  <a:schemeClr val="tx1"/>
                </a:solidFill>
              </a:rPr>
              <a:t>Compose</a:t>
            </a:r>
            <a:endParaRPr lang="pt-BR" sz="2000">
              <a:solidFill>
                <a:schemeClr val="tx1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D43F1B9-CBE9-5ED3-9E5F-2E46EF5B4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8" y="1052736"/>
            <a:ext cx="9014404" cy="507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4243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070598F-297E-024F-A419-E1F654956226}"/>
              </a:ext>
            </a:extLst>
          </p:cNvPr>
          <p:cNvSpPr/>
          <p:nvPr/>
        </p:nvSpPr>
        <p:spPr>
          <a:xfrm>
            <a:off x="395536" y="260648"/>
            <a:ext cx="63367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LIMPAR O LABORATÓRIO DO DOCKER COMPOSE</a:t>
            </a:r>
            <a:endParaRPr lang="pt-B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AF9D861-B98D-746A-1CBA-9A52CBD08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698" y="2492896"/>
            <a:ext cx="5400601" cy="36004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55D9FAD-1C02-45D9-604B-5570403E9FFA}"/>
              </a:ext>
            </a:extLst>
          </p:cNvPr>
          <p:cNvSpPr/>
          <p:nvPr/>
        </p:nvSpPr>
        <p:spPr>
          <a:xfrm>
            <a:off x="2087723" y="1376772"/>
            <a:ext cx="30603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err="1">
                <a:solidFill>
                  <a:srgbClr val="005F8E"/>
                </a:solidFill>
                <a:latin typeface="Calibri"/>
                <a:cs typeface="Calibri"/>
              </a:rPr>
              <a:t>docker-compose</a:t>
            </a:r>
            <a:r>
              <a:rPr lang="pt-BR" sz="2400">
                <a:solidFill>
                  <a:srgbClr val="005F8E"/>
                </a:solidFill>
                <a:latin typeface="Calibri"/>
                <a:cs typeface="Calibri"/>
              </a:rPr>
              <a:t> </a:t>
            </a:r>
            <a:r>
              <a:rPr lang="pt-BR" sz="2400" err="1">
                <a:solidFill>
                  <a:srgbClr val="005F8E"/>
                </a:solidFill>
                <a:latin typeface="Calibri"/>
                <a:cs typeface="Calibri"/>
              </a:rPr>
              <a:t>down</a:t>
            </a:r>
            <a:endParaRPr lang="pt-BR">
              <a:solidFill>
                <a:srgbClr val="5E948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D10BAA2-E61E-DE49-DDAA-436D335A2373}"/>
              </a:ext>
            </a:extLst>
          </p:cNvPr>
          <p:cNvSpPr/>
          <p:nvPr/>
        </p:nvSpPr>
        <p:spPr>
          <a:xfrm>
            <a:off x="2087725" y="1923286"/>
            <a:ext cx="4968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system </a:t>
            </a:r>
            <a:r>
              <a:rPr lang="pt-BR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prune</a:t>
            </a:r>
            <a:r>
              <a:rPr lang="pt-BR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b="1" i="0">
                <a:solidFill>
                  <a:srgbClr val="FF3399"/>
                </a:solidFill>
                <a:effectLst/>
                <a:latin typeface="Trebuchet MS" panose="020B0703020202090204" pitchFamily="34" charset="0"/>
              </a:rPr>
              <a:t>-a</a:t>
            </a:r>
            <a:r>
              <a:rPr lang="pt-BR" b="1" i="0">
                <a:solidFill>
                  <a:srgbClr val="800080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pt-BR" b="1" i="0">
                <a:solidFill>
                  <a:srgbClr val="FF0066"/>
                </a:solidFill>
                <a:effectLst/>
                <a:latin typeface="Trebuchet MS" panose="020B0703020202090204" pitchFamily="34" charset="0"/>
              </a:rPr>
              <a:t>-</a:t>
            </a:r>
            <a:r>
              <a:rPr lang="pt-BR" b="1" i="0" err="1">
                <a:solidFill>
                  <a:srgbClr val="FF0066"/>
                </a:solidFill>
                <a:effectLst/>
                <a:latin typeface="Trebuchet MS" panose="020B0703020202090204" pitchFamily="34" charset="0"/>
              </a:rPr>
              <a:t>f</a:t>
            </a:r>
            <a:r>
              <a:rPr lang="pt-BR" b="1" i="0">
                <a:solidFill>
                  <a:srgbClr val="800080"/>
                </a:solidFill>
                <a:effectLst/>
                <a:latin typeface="Trebuchet MS" panose="020B0703020202090204" pitchFamily="34" charset="0"/>
              </a:rPr>
              <a:t> --volumes</a:t>
            </a:r>
            <a:endParaRPr lang="pt-BR">
              <a:solidFill>
                <a:srgbClr val="5E948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6387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0"/>
          </p:nvPr>
        </p:nvSpPr>
        <p:spPr>
          <a:xfrm>
            <a:off x="1053372" y="3222882"/>
            <a:ext cx="8107976" cy="363176"/>
          </a:xfrm>
        </p:spPr>
        <p:txBody>
          <a:bodyPr/>
          <a:lstStyle/>
          <a:p>
            <a:r>
              <a:rPr lang="en-US"/>
              <a:t>Copyright © 2023 Prof. João Carlos Menk</a:t>
            </a:r>
            <a:endParaRPr lang="x-none"/>
          </a:p>
        </p:txBody>
      </p:sp>
      <p:sp>
        <p:nvSpPr>
          <p:cNvPr id="5" name="Content Placeholder 4"/>
          <p:cNvSpPr>
            <a:spLocks noGrp="1"/>
          </p:cNvSpPr>
          <p:nvPr>
            <p:ph sz="half" idx="11"/>
          </p:nvPr>
        </p:nvSpPr>
        <p:spPr>
          <a:xfrm>
            <a:off x="1053372" y="3773418"/>
            <a:ext cx="6694934" cy="883832"/>
          </a:xfrm>
        </p:spPr>
        <p:txBody>
          <a:bodyPr/>
          <a:lstStyle/>
          <a:p>
            <a:r>
              <a:rPr lang="en-US" err="1"/>
              <a:t>Todos</a:t>
            </a:r>
            <a:r>
              <a:rPr lang="en-US"/>
              <a:t> </a:t>
            </a:r>
            <a:r>
              <a:rPr lang="en-US" err="1"/>
              <a:t>direitos</a:t>
            </a:r>
            <a:r>
              <a:rPr lang="en-US"/>
              <a:t> </a:t>
            </a:r>
            <a:r>
              <a:rPr lang="en-US" err="1"/>
              <a:t>reservados</a:t>
            </a:r>
            <a:r>
              <a:rPr lang="en-US"/>
              <a:t>. </a:t>
            </a:r>
            <a:r>
              <a:rPr lang="en-US" err="1"/>
              <a:t>Reprodução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divulgação</a:t>
            </a:r>
            <a:r>
              <a:rPr lang="en-US"/>
              <a:t> total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parcial</a:t>
            </a:r>
            <a:r>
              <a:rPr lang="en-US"/>
              <a:t> </a:t>
            </a:r>
            <a:r>
              <a:rPr lang="en-US" err="1"/>
              <a:t>deste</a:t>
            </a:r>
            <a:r>
              <a:rPr lang="en-US"/>
              <a:t> </a:t>
            </a:r>
            <a:r>
              <a:rPr lang="en-US" err="1"/>
              <a:t>documento</a:t>
            </a:r>
            <a:r>
              <a:rPr lang="en-US"/>
              <a:t> é </a:t>
            </a:r>
            <a:r>
              <a:rPr lang="en-US" err="1"/>
              <a:t>expressamente</a:t>
            </a:r>
            <a:r>
              <a:rPr lang="en-US"/>
              <a:t> </a:t>
            </a:r>
            <a:r>
              <a:rPr lang="en-US" err="1"/>
              <a:t>proíbido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o </a:t>
            </a:r>
            <a:r>
              <a:rPr lang="pt-BR"/>
              <a:t>consentimento formal, por escrito,</a:t>
            </a:r>
            <a:r>
              <a:rPr lang="en-US"/>
              <a:t> do Professor (</a:t>
            </a:r>
            <a:r>
              <a:rPr lang="en-US" err="1"/>
              <a:t>autor</a:t>
            </a:r>
            <a:r>
              <a:rPr lang="en-US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60993485"/>
      </p:ext>
    </p:extLst>
  </p:cSld>
  <p:clrMapOvr>
    <a:masterClrMapping/>
  </p:clrMapOvr>
</p:sld>
</file>

<file path=ppt/theme/theme1.xml><?xml version="1.0" encoding="utf-8"?>
<a:theme xmlns:a="http://schemas.openxmlformats.org/drawingml/2006/main" name="PHP0705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PHP070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HP0705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HP0705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HP0705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HP0705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HP0705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HP0705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HP0705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Glass Layers</Template>
  <TotalTime>0</TotalTime>
  <Words>6865</Words>
  <Application>Microsoft Office PowerPoint</Application>
  <PresentationFormat>Papel Carta (216 x 279 mm)</PresentationFormat>
  <Paragraphs>938</Paragraphs>
  <Slides>69</Slides>
  <Notes>67</Notes>
  <HiddenSlides>0</HiddenSlides>
  <MMClips>0</MMClips>
  <ScaleCrop>false</ScaleCrop>
  <HeadingPairs>
    <vt:vector size="4" baseType="variant">
      <vt:variant>
        <vt:lpstr>Tema</vt:lpstr>
      </vt:variant>
      <vt:variant>
        <vt:i4>5</vt:i4>
      </vt:variant>
      <vt:variant>
        <vt:lpstr>Títulos de slides</vt:lpstr>
      </vt:variant>
      <vt:variant>
        <vt:i4>69</vt:i4>
      </vt:variant>
    </vt:vector>
  </HeadingPairs>
  <TitlesOfParts>
    <vt:vector size="74" baseType="lpstr">
      <vt:lpstr>PHP0705</vt:lpstr>
      <vt:lpstr>Tema do Office</vt:lpstr>
      <vt:lpstr>4_Personalizar design</vt:lpstr>
      <vt:lpstr>1_Office Theme</vt:lpstr>
      <vt:lpstr>Office Theme</vt:lpstr>
      <vt:lpstr>Apresentação do PowerPoint</vt:lpstr>
      <vt:lpstr>Apresentação do PowerPoint</vt:lpstr>
      <vt:lpstr>Apresentação do PowerPoint</vt:lpstr>
      <vt:lpstr>DOCKER FILE</vt:lpstr>
      <vt:lpstr>Resumo</vt:lpstr>
      <vt:lpstr>DOCKER FILE</vt:lpstr>
      <vt:lpstr>DOCKER FILE</vt:lpstr>
      <vt:lpstr>DOCKER FILE</vt:lpstr>
      <vt:lpstr>DOCKER FILE</vt:lpstr>
      <vt:lpstr>DOCKER FILE</vt:lpstr>
      <vt:lpstr>DOCKER FILE</vt:lpstr>
      <vt:lpstr>DOCKER FILE</vt:lpstr>
      <vt:lpstr>DOCKER FILE</vt:lpstr>
      <vt:lpstr>DOCKER FILE</vt:lpstr>
      <vt:lpstr>DOCKER FILE</vt:lpstr>
      <vt:lpstr>DOCKER FILE</vt:lpstr>
      <vt:lpstr>DOCKER FILE – Possibilidades com DockerFile</vt:lpstr>
      <vt:lpstr>DOCKER FILE</vt:lpstr>
      <vt:lpstr>DOCKER FILE</vt:lpstr>
      <vt:lpstr>DOCKER FILE</vt:lpstr>
      <vt:lpstr>DOCKER FILE</vt:lpstr>
      <vt:lpstr>DOCKER FILE</vt:lpstr>
      <vt:lpstr>DOCKER FILE</vt:lpstr>
      <vt:lpstr>DOCKER FILE</vt:lpstr>
      <vt:lpstr>DOCKER FILE</vt:lpstr>
      <vt:lpstr>DOCKER FILE</vt:lpstr>
      <vt:lpstr>DOCKER FILE</vt:lpstr>
      <vt:lpstr>DOCKER FILE</vt:lpstr>
      <vt:lpstr>DOCKER FILE</vt:lpstr>
      <vt:lpstr>DOCKER FILE</vt:lpstr>
      <vt:lpstr>DOCKER FILE</vt:lpstr>
      <vt:lpstr>DOCKER FILE</vt:lpstr>
      <vt:lpstr>DOCKER FILE</vt:lpstr>
      <vt:lpstr>Apresentação do PowerPoint</vt:lpstr>
      <vt:lpstr>DOCKER COMPOSE</vt:lpstr>
      <vt:lpstr>Conhecendo o Docker Compose</vt:lpstr>
      <vt:lpstr>Arquitetura do Docker Compose</vt:lpstr>
      <vt:lpstr>Arquitetura do Docker Compose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Docker Compose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BI</dc:title>
  <dc:subject>Projeto Integrado</dc:subject>
  <dc:creator>Regina Claudia Cantele</dc:creator>
  <cp:lastModifiedBy>Antonio Figueiredo</cp:lastModifiedBy>
  <cp:revision>33</cp:revision>
  <cp:lastPrinted>1999-07-05T02:57:49Z</cp:lastPrinted>
  <dcterms:created xsi:type="dcterms:W3CDTF">1996-09-08T13:17:58Z</dcterms:created>
  <dcterms:modified xsi:type="dcterms:W3CDTF">2026-05-07T18:21:20Z</dcterms:modified>
</cp:coreProperties>
</file>