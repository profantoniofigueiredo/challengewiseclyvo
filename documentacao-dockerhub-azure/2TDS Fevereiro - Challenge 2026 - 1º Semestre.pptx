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Lst>
  <p:notesMasterIdLst>
    <p:notesMasterId r:id="rId46"/>
  </p:notesMasterIdLst>
  <p:sldIdLst>
    <p:sldId id="851" r:id="rId6"/>
    <p:sldId id="853" r:id="rId7"/>
    <p:sldId id="958" r:id="rId8"/>
    <p:sldId id="1007" r:id="rId9"/>
    <p:sldId id="969" r:id="rId10"/>
    <p:sldId id="1010" r:id="rId11"/>
    <p:sldId id="1034" r:id="rId12"/>
    <p:sldId id="1035" r:id="rId13"/>
    <p:sldId id="1037" r:id="rId14"/>
    <p:sldId id="1038" r:id="rId15"/>
    <p:sldId id="1039" r:id="rId16"/>
    <p:sldId id="1041" r:id="rId17"/>
    <p:sldId id="1040" r:id="rId18"/>
    <p:sldId id="982" r:id="rId19"/>
    <p:sldId id="944" r:id="rId20"/>
    <p:sldId id="983" r:id="rId21"/>
    <p:sldId id="984" r:id="rId22"/>
    <p:sldId id="985" r:id="rId23"/>
    <p:sldId id="986" r:id="rId24"/>
    <p:sldId id="987" r:id="rId25"/>
    <p:sldId id="988" r:id="rId26"/>
    <p:sldId id="1029" r:id="rId27"/>
    <p:sldId id="1049" r:id="rId28"/>
    <p:sldId id="1048" r:id="rId29"/>
    <p:sldId id="1047" r:id="rId30"/>
    <p:sldId id="1051" r:id="rId31"/>
    <p:sldId id="1031" r:id="rId32"/>
    <p:sldId id="1042" r:id="rId33"/>
    <p:sldId id="1043" r:id="rId34"/>
    <p:sldId id="1046" r:id="rId35"/>
    <p:sldId id="1044" r:id="rId36"/>
    <p:sldId id="1045" r:id="rId37"/>
    <p:sldId id="1068" r:id="rId38"/>
    <p:sldId id="1032" r:id="rId39"/>
    <p:sldId id="1056" r:id="rId40"/>
    <p:sldId id="1054" r:id="rId41"/>
    <p:sldId id="1055" r:id="rId42"/>
    <p:sldId id="1057" r:id="rId43"/>
    <p:sldId id="1058" r:id="rId44"/>
    <p:sldId id="902" r:id="rId45"/>
  </p:sldIdLst>
  <p:sldSz cx="12192000" cy="6858000"/>
  <p:notesSz cx="7099300" cy="102346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704"/>
    <a:srgbClr val="FF2A65"/>
    <a:srgbClr val="ED1651"/>
    <a:srgbClr val="FF054C"/>
    <a:srgbClr val="EDECEC"/>
    <a:srgbClr val="C8C8C8"/>
    <a:srgbClr val="262626"/>
    <a:srgbClr val="A6A6A6"/>
    <a:srgbClr val="696D6E"/>
    <a:srgbClr val="616D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F265A2-5C6B-F45D-325F-BC653820D2BF}" v="19" dt="2026-05-05T12:10:54.12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pt-BR"/>
          </a:p>
        </p:txBody>
      </p:sp>
      <p:sp>
        <p:nvSpPr>
          <p:cNvPr id="3" name="Espaço Reservado para Data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FBA73DA2-9B64-4FED-9C82-BFBEF80F78F3}" type="datetimeFigureOut">
              <a:rPr lang="pt-BR" smtClean="0"/>
              <a:pPr/>
              <a:t>07/05/2026</a:t>
            </a:fld>
            <a:endParaRPr lang="pt-BR"/>
          </a:p>
        </p:txBody>
      </p:sp>
      <p:sp>
        <p:nvSpPr>
          <p:cNvPr id="4" name="Espaço Reservado para Imagem de Slide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pt-BR"/>
          </a:p>
        </p:txBody>
      </p:sp>
      <p:sp>
        <p:nvSpPr>
          <p:cNvPr id="5" name="Espaço Reservado para Anotações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pt-BR"/>
          </a:p>
        </p:txBody>
      </p:sp>
      <p:sp>
        <p:nvSpPr>
          <p:cNvPr id="7" name="Espaço Reservado para Número de Slide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741CFA72-B01C-402E-8568-ECC646405A47}" type="slidenum">
              <a:rPr lang="pt-BR" smtClean="0"/>
              <a:pPr/>
              <a:t>‹#›</a:t>
            </a:fld>
            <a:endParaRPr lang="pt-BR"/>
          </a:p>
        </p:txBody>
      </p:sp>
    </p:spTree>
    <p:extLst>
      <p:ext uri="{BB962C8B-B14F-4D97-AF65-F5344CB8AC3E}">
        <p14:creationId xmlns:p14="http://schemas.microsoft.com/office/powerpoint/2010/main" val="3654469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1" name="Shape 2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2650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1" name="Shape 2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097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7B7830-A00D-A4E3-3CDF-CABCC3725124}"/>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0C1B4FF8-AAB7-B197-0BBA-352001223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D59FDE1-96E5-7569-F5BF-58B96C982D6D}"/>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E23F9423-1C33-C056-B443-54733EEEB49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2A41107-E641-6129-8CA3-C96ADAF41114}"/>
              </a:ext>
            </a:extLst>
          </p:cNvPr>
          <p:cNvSpPr>
            <a:spLocks noGrp="1"/>
          </p:cNvSpPr>
          <p:nvPr>
            <p:ph type="sldNum" sz="quarter" idx="12"/>
          </p:nvPr>
        </p:nvSpPr>
        <p:spPr/>
        <p:txBody>
          <a:bodyPr/>
          <a:lstStyle/>
          <a:p>
            <a:fld id="{89983EB3-327C-4DC7-A78E-7163AEB2F5FF}" type="slidenum">
              <a:rPr lang="pt-BR" smtClean="0"/>
              <a:t>‹#›</a:t>
            </a:fld>
            <a:endParaRPr lang="pt-BR"/>
          </a:p>
        </p:txBody>
      </p:sp>
    </p:spTree>
    <p:extLst>
      <p:ext uri="{BB962C8B-B14F-4D97-AF65-F5344CB8AC3E}">
        <p14:creationId xmlns:p14="http://schemas.microsoft.com/office/powerpoint/2010/main" val="993264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BA0506-ED97-2D97-B090-B7E728135F6A}"/>
              </a:ext>
            </a:extLst>
          </p:cNvPr>
          <p:cNvSpPr>
            <a:spLocks noGrp="1"/>
          </p:cNvSpPr>
          <p:nvPr>
            <p:ph type="title" hasCustomPrompt="1"/>
          </p:nvPr>
        </p:nvSpPr>
        <p:spPr/>
        <p:txBody>
          <a:bodyPr/>
          <a:lstStyle>
            <a:lvl1pPr>
              <a:defRPr b="1"/>
            </a:lvl1pPr>
          </a:lstStyle>
          <a:p>
            <a:r>
              <a:rPr lang="pt-BR"/>
              <a:t>CLIQUE PARA EDITAR O TÍTULO</a:t>
            </a:r>
          </a:p>
        </p:txBody>
      </p:sp>
      <p:sp>
        <p:nvSpPr>
          <p:cNvPr id="3" name="Espaço Reservado para Conteúdo 2">
            <a:extLst>
              <a:ext uri="{FF2B5EF4-FFF2-40B4-BE49-F238E27FC236}">
                <a16:creationId xmlns:a16="http://schemas.microsoft.com/office/drawing/2014/main" id="{E5CFBBE1-7F19-37E1-6F54-25444C08F02E}"/>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430BACB-090B-BFAB-19A7-812B24AE0B90}"/>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55797E8E-0867-27EF-A15B-F0B690D2D0F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78C0888-A13F-E38F-02AA-641513E1242D}"/>
              </a:ext>
            </a:extLst>
          </p:cNvPr>
          <p:cNvSpPr>
            <a:spLocks noGrp="1"/>
          </p:cNvSpPr>
          <p:nvPr>
            <p:ph type="sldNum" sz="quarter" idx="12"/>
          </p:nvPr>
        </p:nvSpPr>
        <p:spPr/>
        <p:txBody>
          <a:bodyPr/>
          <a:lstStyle/>
          <a:p>
            <a:fld id="{89983EB3-327C-4DC7-A78E-7163AEB2F5FF}" type="slidenum">
              <a:rPr lang="pt-BR" smtClean="0"/>
              <a:t>‹#›</a:t>
            </a:fld>
            <a:endParaRPr lang="pt-BR"/>
          </a:p>
        </p:txBody>
      </p:sp>
      <p:sp>
        <p:nvSpPr>
          <p:cNvPr id="13" name="Espaço Reservado para Texto 12">
            <a:extLst>
              <a:ext uri="{FF2B5EF4-FFF2-40B4-BE49-F238E27FC236}">
                <a16:creationId xmlns:a16="http://schemas.microsoft.com/office/drawing/2014/main" id="{B7ABCCDE-56D2-D966-6BA8-3D865DAC1E4A}"/>
              </a:ext>
            </a:extLst>
          </p:cNvPr>
          <p:cNvSpPr>
            <a:spLocks noGrp="1"/>
          </p:cNvSpPr>
          <p:nvPr>
            <p:ph type="body" sz="quarter" idx="13" hasCustomPrompt="1"/>
          </p:nvPr>
        </p:nvSpPr>
        <p:spPr>
          <a:xfrm rot="16200000">
            <a:off x="-2427213" y="3603970"/>
            <a:ext cx="5616426" cy="504105"/>
          </a:xfrm>
        </p:spPr>
        <p:txBody>
          <a:bodyPr/>
          <a:lstStyle>
            <a:lvl1pPr marL="0" indent="0">
              <a:buNone/>
              <a:defRPr b="1">
                <a:solidFill>
                  <a:srgbClr val="FF2A65"/>
                </a:solidFill>
              </a:defRPr>
            </a:lvl1pPr>
          </a:lstStyle>
          <a:p>
            <a:pPr lvl="0"/>
            <a:r>
              <a:rPr lang="pt-BR"/>
              <a:t>clique para editar os estilos de</a:t>
            </a:r>
          </a:p>
        </p:txBody>
      </p:sp>
      <p:cxnSp>
        <p:nvCxnSpPr>
          <p:cNvPr id="7" name="Conector reto 6">
            <a:extLst>
              <a:ext uri="{FF2B5EF4-FFF2-40B4-BE49-F238E27FC236}">
                <a16:creationId xmlns:a16="http://schemas.microsoft.com/office/drawing/2014/main" id="{F224A46B-DCC5-EFB4-227D-490D53E57D1A}"/>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81816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0357A0-B523-2DC3-198C-7EDF1ACDF88B}"/>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6C5F0C4-5FA7-9273-7544-5632009A53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8FC10C2B-2E7E-122E-E48A-C154C41C5020}"/>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18965EC1-5485-F5F1-43C2-DC1F981B561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2433E07-22DB-7D91-AAB6-BB789C053A87}"/>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7" name="Conector reto 6">
            <a:extLst>
              <a:ext uri="{FF2B5EF4-FFF2-40B4-BE49-F238E27FC236}">
                <a16:creationId xmlns:a16="http://schemas.microsoft.com/office/drawing/2014/main" id="{B5A91CF6-B377-3DD6-9539-3652F5BAB948}"/>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93397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AB0B9-D893-9280-F886-D34565BC6D7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AEFF211-C648-C5CF-2F2C-6CA409FEB16C}"/>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A830598-B4F4-AE44-C29D-D3CD9BE41F9F}"/>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CCBCDEC1-0B5E-7D73-769E-A3C93CFDEE87}"/>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6" name="Espaço Reservado para Rodapé 5">
            <a:extLst>
              <a:ext uri="{FF2B5EF4-FFF2-40B4-BE49-F238E27FC236}">
                <a16:creationId xmlns:a16="http://schemas.microsoft.com/office/drawing/2014/main" id="{0180F6AC-2997-4357-2D1F-694A91E58CA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E380406-9F68-1C52-FF8A-D83B2B4453F2}"/>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8" name="Conector reto 7">
            <a:extLst>
              <a:ext uri="{FF2B5EF4-FFF2-40B4-BE49-F238E27FC236}">
                <a16:creationId xmlns:a16="http://schemas.microsoft.com/office/drawing/2014/main" id="{CA3AB28F-844D-E1C5-3A8A-2225ED3589C6}"/>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95310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6F8D81-273D-56D7-0CAE-45A0E9F6E277}"/>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5375C75-1FFA-041F-198C-EEE96BBA56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F27E9CA-5ABC-F402-FF70-C2FE0AA6FE83}"/>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E4A2A83-F954-852B-13FF-9B51B3F34E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8A1AC27B-EACD-BD3C-F456-83C209B90F6F}"/>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820524F7-0B4C-04C3-FAB1-F63260CABFB9}"/>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8" name="Espaço Reservado para Rodapé 7">
            <a:extLst>
              <a:ext uri="{FF2B5EF4-FFF2-40B4-BE49-F238E27FC236}">
                <a16:creationId xmlns:a16="http://schemas.microsoft.com/office/drawing/2014/main" id="{F42FF448-92A4-BB7B-1859-315C2A5E654D}"/>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A852762E-C8B8-0447-2905-45039146A318}"/>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10" name="Conector reto 9">
            <a:extLst>
              <a:ext uri="{FF2B5EF4-FFF2-40B4-BE49-F238E27FC236}">
                <a16:creationId xmlns:a16="http://schemas.microsoft.com/office/drawing/2014/main" id="{86260BC7-CCBB-0C0C-3798-E7B60E2DB032}"/>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54468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D5DEA7-79B2-47F2-FF2F-E7F74640CFBA}"/>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15029AF-F7D8-B7C6-67AC-40D5FE1F7232}"/>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4" name="Espaço Reservado para Rodapé 3">
            <a:extLst>
              <a:ext uri="{FF2B5EF4-FFF2-40B4-BE49-F238E27FC236}">
                <a16:creationId xmlns:a16="http://schemas.microsoft.com/office/drawing/2014/main" id="{06A7538C-43BF-6866-9D72-F2191243F84C}"/>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79FA912E-B7B1-FDDE-8372-67DAED941526}"/>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6" name="Conector reto 5">
            <a:extLst>
              <a:ext uri="{FF2B5EF4-FFF2-40B4-BE49-F238E27FC236}">
                <a16:creationId xmlns:a16="http://schemas.microsoft.com/office/drawing/2014/main" id="{65FD430E-BD06-5609-D860-2F2AB3B37F81}"/>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7912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1750E411-41CB-638F-E94A-FB97381C6149}"/>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3" name="Espaço Reservado para Rodapé 2">
            <a:extLst>
              <a:ext uri="{FF2B5EF4-FFF2-40B4-BE49-F238E27FC236}">
                <a16:creationId xmlns:a16="http://schemas.microsoft.com/office/drawing/2014/main" id="{71DA72A5-8820-EC4E-AFB5-02EAA4913ED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4F6D438-C10A-F875-92EB-BD6D13B40C5A}"/>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5" name="Conector reto 4">
            <a:extLst>
              <a:ext uri="{FF2B5EF4-FFF2-40B4-BE49-F238E27FC236}">
                <a16:creationId xmlns:a16="http://schemas.microsoft.com/office/drawing/2014/main" id="{37A424FF-CF9F-CD11-B5AA-FE741AFEB526}"/>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11013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F68847-5F33-68F7-736D-5752550E2BA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B554E8E-6144-688A-951E-38BD6F92F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5D2569F5-0AA5-BE75-2CCB-CFCB9D5125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D451241-6AD0-DCBC-0872-5ABC4525C04C}"/>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6" name="Espaço Reservado para Rodapé 5">
            <a:extLst>
              <a:ext uri="{FF2B5EF4-FFF2-40B4-BE49-F238E27FC236}">
                <a16:creationId xmlns:a16="http://schemas.microsoft.com/office/drawing/2014/main" id="{5C42474C-8614-5631-E292-3E0A6688C2C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E478861-A867-0BCE-2ABF-2088B7B4F3DA}"/>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8" name="Conector reto 7">
            <a:extLst>
              <a:ext uri="{FF2B5EF4-FFF2-40B4-BE49-F238E27FC236}">
                <a16:creationId xmlns:a16="http://schemas.microsoft.com/office/drawing/2014/main" id="{9E71675E-BB2F-4927-5E38-D9FFEDEC9FA9}"/>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87243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69ABBE-1975-5332-2C5E-1A81A74F141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84438AB-E0DB-6BDE-C851-7C5413D78C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84B6ED2C-EB5A-CA19-3AD5-1A1BCCD6E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6E6CAE0-2B29-0162-0637-3C44F39F6B6F}"/>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6" name="Espaço Reservado para Rodapé 5">
            <a:extLst>
              <a:ext uri="{FF2B5EF4-FFF2-40B4-BE49-F238E27FC236}">
                <a16:creationId xmlns:a16="http://schemas.microsoft.com/office/drawing/2014/main" id="{19EA8F89-3656-729A-732B-B2C498663CC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C927A2A-F6CF-2EF3-84F6-CD19F8587E98}"/>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8" name="Conector reto 7">
            <a:extLst>
              <a:ext uri="{FF2B5EF4-FFF2-40B4-BE49-F238E27FC236}">
                <a16:creationId xmlns:a16="http://schemas.microsoft.com/office/drawing/2014/main" id="{5165CB93-67CC-279B-0E59-BEDBEC674CE1}"/>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45267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83F923-23E6-C8FB-E271-55173D0E7D8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18D58BF9-2D5A-0AEA-1245-51616FC54977}"/>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10967E1-91EC-6E45-EFA3-CA8305D67501}"/>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5F4F1BB6-C634-3B5D-9B1B-0CB0D32E591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9EF4B23-C9B2-6268-60FC-054BF94F9399}"/>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7" name="Conector reto 6">
            <a:extLst>
              <a:ext uri="{FF2B5EF4-FFF2-40B4-BE49-F238E27FC236}">
                <a16:creationId xmlns:a16="http://schemas.microsoft.com/office/drawing/2014/main" id="{6CDF3E06-4E00-BDC3-6A95-8CFD50F36798}"/>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017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823A13-1F0E-4233-FE44-99B1151C9F3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22A6628E-CD73-0035-C82A-8F0D630112B8}"/>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565F4D2-372C-514D-4F48-FAFA0EF70472}"/>
              </a:ext>
            </a:extLst>
          </p:cNvPr>
          <p:cNvSpPr>
            <a:spLocks noGrp="1"/>
          </p:cNvSpPr>
          <p:nvPr>
            <p:ph type="dt" sz="half" idx="10"/>
          </p:nvPr>
        </p:nvSpPr>
        <p:spPr/>
        <p:txBody>
          <a:bodyPr/>
          <a:lstStyle/>
          <a:p>
            <a:fld id="{78047E10-D05F-425F-ABEB-8983196198D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D845FE30-FD7B-0B4D-6AE4-848A7A54A78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ECF9A66-F990-682C-9363-AF6ED3F1DB20}"/>
              </a:ext>
            </a:extLst>
          </p:cNvPr>
          <p:cNvSpPr>
            <a:spLocks noGrp="1"/>
          </p:cNvSpPr>
          <p:nvPr>
            <p:ph type="sldNum" sz="quarter" idx="12"/>
          </p:nvPr>
        </p:nvSpPr>
        <p:spPr/>
        <p:txBody>
          <a:bodyPr/>
          <a:lstStyle/>
          <a:p>
            <a:fld id="{89983EB3-327C-4DC7-A78E-7163AEB2F5FF}" type="slidenum">
              <a:rPr lang="pt-BR" smtClean="0"/>
              <a:t>‹#›</a:t>
            </a:fld>
            <a:endParaRPr lang="pt-BR"/>
          </a:p>
        </p:txBody>
      </p:sp>
      <p:cxnSp>
        <p:nvCxnSpPr>
          <p:cNvPr id="7" name="Conector reto 6">
            <a:extLst>
              <a:ext uri="{FF2B5EF4-FFF2-40B4-BE49-F238E27FC236}">
                <a16:creationId xmlns:a16="http://schemas.microsoft.com/office/drawing/2014/main" id="{0360C6C8-0DC1-2558-CDF8-EF04B72975B3}"/>
              </a:ext>
            </a:extLst>
          </p:cNvPr>
          <p:cNvCxnSpPr/>
          <p:nvPr userDrawn="1"/>
        </p:nvCxnSpPr>
        <p:spPr>
          <a:xfrm>
            <a:off x="838200" y="623326"/>
            <a:ext cx="0" cy="789450"/>
          </a:xfrm>
          <a:prstGeom prst="line">
            <a:avLst/>
          </a:prstGeom>
          <a:ln w="76200">
            <a:solidFill>
              <a:srgbClr val="FF2A65"/>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17559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CDC1B5-5536-964D-3DF8-2D095D3DB8B4}"/>
              </a:ext>
            </a:extLst>
          </p:cNvPr>
          <p:cNvSpPr>
            <a:spLocks noGrp="1"/>
          </p:cNvSpPr>
          <p:nvPr>
            <p:ph type="ctrTitle"/>
          </p:nvPr>
        </p:nvSpPr>
        <p:spPr>
          <a:xfrm>
            <a:off x="1524000" y="1122363"/>
            <a:ext cx="9144000" cy="2387600"/>
          </a:xfrm>
        </p:spPr>
        <p:txBody>
          <a:bodyPr anchor="b"/>
          <a:lstStyle>
            <a:lvl1pPr algn="ctr">
              <a:defRPr sz="6000" b="1">
                <a:solidFill>
                  <a:schemeClr val="bg1"/>
                </a:solidFill>
                <a:latin typeface="Gotham HTF Book"/>
              </a:defRPr>
            </a:lvl1pPr>
          </a:lstStyle>
          <a:p>
            <a:r>
              <a:rPr lang="pt-BR"/>
              <a:t>Clique para editar o título Mestre</a:t>
            </a:r>
          </a:p>
        </p:txBody>
      </p:sp>
      <p:sp>
        <p:nvSpPr>
          <p:cNvPr id="3" name="Subtítulo 2">
            <a:extLst>
              <a:ext uri="{FF2B5EF4-FFF2-40B4-BE49-F238E27FC236}">
                <a16:creationId xmlns:a16="http://schemas.microsoft.com/office/drawing/2014/main" id="{FBBB8947-B4C4-0ABD-B3CB-F6282736AD00}"/>
              </a:ext>
            </a:extLst>
          </p:cNvPr>
          <p:cNvSpPr>
            <a:spLocks noGrp="1"/>
          </p:cNvSpPr>
          <p:nvPr>
            <p:ph type="subTitle" idx="1"/>
          </p:nvPr>
        </p:nvSpPr>
        <p:spPr>
          <a:xfrm>
            <a:off x="1524000" y="3602038"/>
            <a:ext cx="9144000" cy="1655762"/>
          </a:xfrm>
        </p:spPr>
        <p:txBody>
          <a:bodyPr/>
          <a:lstStyle>
            <a:lvl1pPr marL="0" indent="0" algn="ctr">
              <a:buNone/>
              <a:defRPr sz="2400">
                <a:solidFill>
                  <a:srgbClr val="FF2A65"/>
                </a:solidFill>
                <a:latin typeface="Gotham HTF Book"/>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Tree>
    <p:extLst>
      <p:ext uri="{BB962C8B-B14F-4D97-AF65-F5344CB8AC3E}">
        <p14:creationId xmlns:p14="http://schemas.microsoft.com/office/powerpoint/2010/main" val="2917873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55155-0A7A-4690-B3BA-95BBB2828B8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81F22E9-D53E-A3E2-E791-645E5446188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5EE6596-4C6B-5FCE-92E6-3C2A5430467C}"/>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0231B470-077A-191F-2C73-F4DD2129612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2032B72-5E8B-231C-E4E3-6EE83CD2AC28}"/>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2633343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5169B2-1083-08DA-06A0-1DED0615CBE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726EF09-F43F-F956-0D2B-F3521C9F26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87881B30-BD1F-B142-5C4C-12F056C92237}"/>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F44EC10E-5FE3-836D-6FCB-B840C17E595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7473645-85E4-3F40-7642-A2CEF7FAE08A}"/>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2647778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1385AF-8286-EAE8-1F81-6BDC0C8166F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B95C049-06B3-038E-6DD3-0CCA5C55FCEC}"/>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3B0268AA-0793-EF49-21FF-BE03B6B616F7}"/>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85C1B086-885C-1EAD-6335-617C730DA105}"/>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6" name="Espaço Reservado para Rodapé 5">
            <a:extLst>
              <a:ext uri="{FF2B5EF4-FFF2-40B4-BE49-F238E27FC236}">
                <a16:creationId xmlns:a16="http://schemas.microsoft.com/office/drawing/2014/main" id="{BE213158-C0B1-DA43-57A0-651CAB16C85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8A67EF8-769C-E02A-0379-6B88FF6A5932}"/>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1309921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AA0012-B26F-FC76-39A7-03DBB999D874}"/>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DB61405-10E3-A491-0C52-AD3A34B3AA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BAEFDF6-348B-6A33-828E-C2E9406A755C}"/>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DBA79B1D-7B44-FC2D-0576-7D57F26EC6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5DE0249-11D2-9189-5F61-D6591007E38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7B21BF92-1EF2-74B2-983B-3F707011863B}"/>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8" name="Espaço Reservado para Rodapé 7">
            <a:extLst>
              <a:ext uri="{FF2B5EF4-FFF2-40B4-BE49-F238E27FC236}">
                <a16:creationId xmlns:a16="http://schemas.microsoft.com/office/drawing/2014/main" id="{7BCA98A5-9115-FBC5-54A2-727D1B11FD74}"/>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5B8D0D5-DB4B-CE05-0BD8-0301F1CBB6F8}"/>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618090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334D07-9100-DDA7-C8E4-8C691F5370A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2F58BC61-9553-1A6B-5BA6-61D5DF25D8ED}"/>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4" name="Espaço Reservado para Rodapé 3">
            <a:extLst>
              <a:ext uri="{FF2B5EF4-FFF2-40B4-BE49-F238E27FC236}">
                <a16:creationId xmlns:a16="http://schemas.microsoft.com/office/drawing/2014/main" id="{9BF931DA-DF5B-F4EF-E01D-FC62701D164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85DEAC9-7F35-0174-4C45-7082D4B28BE1}"/>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3086394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E2B719D-3296-A1B9-AAD5-8D67E3EBA36F}"/>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3" name="Espaço Reservado para Rodapé 2">
            <a:extLst>
              <a:ext uri="{FF2B5EF4-FFF2-40B4-BE49-F238E27FC236}">
                <a16:creationId xmlns:a16="http://schemas.microsoft.com/office/drawing/2014/main" id="{A5513E66-C106-7572-F6BB-FA4ECA0B961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C902A71-5A54-111D-38D6-D7BCC67792BB}"/>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442290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6C3DE-73CF-78BF-01B7-20F8416E05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7E29779E-DA78-5BA8-EB9E-50B516BFCD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3E51D48-DFBB-BE2B-22C2-E19B1808A7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C94D3FF-33EE-9884-E681-F14EB4A19DDD}"/>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6" name="Espaço Reservado para Rodapé 5">
            <a:extLst>
              <a:ext uri="{FF2B5EF4-FFF2-40B4-BE49-F238E27FC236}">
                <a16:creationId xmlns:a16="http://schemas.microsoft.com/office/drawing/2014/main" id="{68C5D76F-CE41-A0E9-AEE0-85F5D2DE09B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F2FF3F4-79B2-2AE1-3813-52E0AF4A6E78}"/>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39970182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5EA54A-C756-8963-0021-696D921F0AE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27DD13D-33B7-7E24-13A7-78CEA2EF96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38C13CB-C3B2-1FDB-EA8B-B8C6D53937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D163699-313F-DE3C-F74F-D2FB2E754D26}"/>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6" name="Espaço Reservado para Rodapé 5">
            <a:extLst>
              <a:ext uri="{FF2B5EF4-FFF2-40B4-BE49-F238E27FC236}">
                <a16:creationId xmlns:a16="http://schemas.microsoft.com/office/drawing/2014/main" id="{E107471A-59A1-BEAF-C31F-82111FC4C93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23C7790-BEC7-A63B-F85B-E1499AF9041C}"/>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34720322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F7AEED-55D7-2F14-DBC2-F08FF6047E83}"/>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FC1400B2-4753-9AB3-DD29-BB14EC9E19B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5965417-4691-D872-D429-DB4FCAFFA196}"/>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1D3469ED-856F-89E4-E761-63E2B0B2984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0890DBA-D33D-605B-81B0-88887A60243A}"/>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20683444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BDD6556-046C-6EC1-ED41-E90AE3AC574C}"/>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FA688ADD-6E6D-7D8A-B945-D7AD6730F8B6}"/>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E843ED6-45AA-1280-19BB-91F72F862F61}"/>
              </a:ext>
            </a:extLst>
          </p:cNvPr>
          <p:cNvSpPr>
            <a:spLocks noGrp="1"/>
          </p:cNvSpPr>
          <p:nvPr>
            <p:ph type="dt" sz="half" idx="10"/>
          </p:nvPr>
        </p:nvSpPr>
        <p:spPr/>
        <p:txBody>
          <a:bodyPr/>
          <a:lstStyle/>
          <a:p>
            <a:fld id="{2C52D639-13CD-4D92-9E95-371E4F0E002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AB076798-43C0-DD90-BFC8-16222C2DD61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79358A2-9608-95AE-E0E6-D6B7A4DCBF80}"/>
              </a:ext>
            </a:extLst>
          </p:cNvPr>
          <p:cNvSpPr>
            <a:spLocks noGrp="1"/>
          </p:cNvSpPr>
          <p:nvPr>
            <p:ph type="sldNum" sz="quarter" idx="12"/>
          </p:nvPr>
        </p:nvSpPr>
        <p:spPr/>
        <p:txBody>
          <a:bodyPr/>
          <a:lstStyle/>
          <a:p>
            <a:fld id="{46786981-0036-4FFC-9097-FAF7EEAE44E1}" type="slidenum">
              <a:rPr lang="pt-BR" smtClean="0"/>
              <a:t>‹#›</a:t>
            </a:fld>
            <a:endParaRPr lang="pt-BR"/>
          </a:p>
        </p:txBody>
      </p:sp>
    </p:spTree>
    <p:extLst>
      <p:ext uri="{BB962C8B-B14F-4D97-AF65-F5344CB8AC3E}">
        <p14:creationId xmlns:p14="http://schemas.microsoft.com/office/powerpoint/2010/main" val="4220235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90000"/>
          </a:schemeClr>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856B49C-BA93-F2D9-26BF-FF83D69222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14105C9E-D2E4-C482-7BC5-E6D6281F0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B93E06B-5329-9772-F62C-620EE31931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047E10-D05F-425F-ABEB-8983196198D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A76337C5-6EE2-AC8A-8384-BC958F8CAA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022ACDB0-DA20-78D7-A8CE-49ABD9C07B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983EB3-327C-4DC7-A78E-7163AEB2F5FF}" type="slidenum">
              <a:rPr lang="pt-BR" smtClean="0"/>
              <a:t>‹#›</a:t>
            </a:fld>
            <a:endParaRPr lang="pt-BR"/>
          </a:p>
        </p:txBody>
      </p:sp>
      <p:pic>
        <p:nvPicPr>
          <p:cNvPr id="8" name="Picture 2" descr="Vestibular 2023 - Ficha de Inscriï¿½ï¿½o - FIAP">
            <a:extLst>
              <a:ext uri="{FF2B5EF4-FFF2-40B4-BE49-F238E27FC236}">
                <a16:creationId xmlns:a16="http://schemas.microsoft.com/office/drawing/2014/main" id="{1FFECF38-EE55-C37E-59B7-C2344F5C53F0}"/>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632504" y="308009"/>
            <a:ext cx="1171570" cy="315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01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Gotham HTF Book"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otham HTF Book"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otham HTF Book"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otham HTF Book"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otham HTF Book"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otham HTF Book"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29E59450-4CB8-6AF4-FAEC-CD8D9AE952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17857BCA-0ED2-2ED1-D4C7-86B3C7C57A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C4690FD-9044-933F-7846-3F37BC1CEF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52D639-13CD-4D92-9E95-371E4F0E0029}" type="datetimeFigureOut">
              <a:rPr lang="pt-BR" smtClean="0"/>
              <a:t>07/05/2026</a:t>
            </a:fld>
            <a:endParaRPr lang="pt-BR"/>
          </a:p>
        </p:txBody>
      </p:sp>
      <p:sp>
        <p:nvSpPr>
          <p:cNvPr id="5" name="Espaço Reservado para Rodapé 4">
            <a:extLst>
              <a:ext uri="{FF2B5EF4-FFF2-40B4-BE49-F238E27FC236}">
                <a16:creationId xmlns:a16="http://schemas.microsoft.com/office/drawing/2014/main" id="{657B73D8-A5CC-74E8-5A80-C292EB4A9A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C26413B-4C65-0C81-DEBC-F35FAEA85C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786981-0036-4FFC-9097-FAF7EEAE44E1}" type="slidenum">
              <a:rPr lang="pt-BR" smtClean="0"/>
              <a:t>‹#›</a:t>
            </a:fld>
            <a:endParaRPr lang="pt-BR"/>
          </a:p>
        </p:txBody>
      </p:sp>
      <p:pic>
        <p:nvPicPr>
          <p:cNvPr id="7" name="Imagem 6">
            <a:extLst>
              <a:ext uri="{FF2B5EF4-FFF2-40B4-BE49-F238E27FC236}">
                <a16:creationId xmlns:a16="http://schemas.microsoft.com/office/drawing/2014/main" id="{3929C158-D78E-1206-38B7-B3BF147F2A0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455" y="132"/>
            <a:ext cx="12187091" cy="6857736"/>
          </a:xfrm>
          <a:prstGeom prst="rect">
            <a:avLst/>
          </a:prstGeom>
          <a:blipFill>
            <a:blip r:embed="rId14"/>
            <a:stretch>
              <a:fillRect/>
            </a:stretch>
          </a:blipFill>
        </p:spPr>
      </p:pic>
      <p:pic>
        <p:nvPicPr>
          <p:cNvPr id="8" name="Picture 2" descr="Vestibular 2023 - Ficha de Inscriï¿½ï¿½o - FIAP">
            <a:extLst>
              <a:ext uri="{FF2B5EF4-FFF2-40B4-BE49-F238E27FC236}">
                <a16:creationId xmlns:a16="http://schemas.microsoft.com/office/drawing/2014/main" id="{38D8E981-A8F0-9B34-DF06-F996FEBA0A36}"/>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0768015" y="134940"/>
            <a:ext cx="1171570" cy="315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87762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hyperlink" Target="https://online.visual-paradigm.com/diagrams/features/azure-architecture-diagram-too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3.em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7" name="Image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5" y="132"/>
            <a:ext cx="12187091" cy="6857736"/>
          </a:xfrm>
          <a:prstGeom prst="rect">
            <a:avLst/>
          </a:prstGeom>
          <a:blipFill>
            <a:blip r:embed="rId4"/>
            <a:stretch>
              <a:fillRect/>
            </a:stretch>
          </a:blipFill>
        </p:spPr>
      </p:pic>
      <p:pic>
        <p:nvPicPr>
          <p:cNvPr id="3" name="Picture 2">
            <a:extLst>
              <a:ext uri="{FF2B5EF4-FFF2-40B4-BE49-F238E27FC236}">
                <a16:creationId xmlns:a16="http://schemas.microsoft.com/office/drawing/2014/main" id="{10B06231-C905-34B8-A12A-B8B62D4435EA}"/>
              </a:ext>
            </a:extLst>
          </p:cNvPr>
          <p:cNvPicPr>
            <a:picLocks noChangeAspect="1"/>
          </p:cNvPicPr>
          <p:nvPr/>
        </p:nvPicPr>
        <p:blipFill>
          <a:blip r:embed="rId5"/>
          <a:stretch>
            <a:fillRect/>
          </a:stretch>
        </p:blipFill>
        <p:spPr>
          <a:xfrm>
            <a:off x="2417484" y="3087884"/>
            <a:ext cx="7710964" cy="682232"/>
          </a:xfrm>
          <a:prstGeom prst="rect">
            <a:avLst/>
          </a:prstGeom>
        </p:spPr>
      </p:pic>
    </p:spTree>
    <p:extLst>
      <p:ext uri="{BB962C8B-B14F-4D97-AF65-F5344CB8AC3E}">
        <p14:creationId xmlns:p14="http://schemas.microsoft.com/office/powerpoint/2010/main" val="2510507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1" name="Picture 14">
            <a:extLst>
              <a:ext uri="{FF2B5EF4-FFF2-40B4-BE49-F238E27FC236}">
                <a16:creationId xmlns:a16="http://schemas.microsoft.com/office/drawing/2014/main" id="{F9D84D44-A615-0ECE-C2B3-C55CD28C8FB2}"/>
              </a:ext>
            </a:extLst>
          </p:cNvPr>
          <p:cNvPicPr>
            <a:picLocks noChangeAspect="1"/>
          </p:cNvPicPr>
          <p:nvPr/>
        </p:nvPicPr>
        <p:blipFill>
          <a:blip r:embed="rId3"/>
          <a:stretch>
            <a:fillRect/>
          </a:stretch>
        </p:blipFill>
        <p:spPr>
          <a:xfrm>
            <a:off x="242333" y="260648"/>
            <a:ext cx="11686315" cy="6325328"/>
          </a:xfrm>
          <a:prstGeom prst="rect">
            <a:avLst/>
          </a:prstGeom>
        </p:spPr>
      </p:pic>
      <p:sp>
        <p:nvSpPr>
          <p:cNvPr id="8" name="TextBox 7"/>
          <p:cNvSpPr txBox="1"/>
          <p:nvPr/>
        </p:nvSpPr>
        <p:spPr>
          <a:xfrm>
            <a:off x="1343472" y="2316693"/>
            <a:ext cx="5904656" cy="1015663"/>
          </a:xfrm>
          <a:prstGeom prst="rect">
            <a:avLst/>
          </a:prstGeom>
          <a:noFill/>
        </p:spPr>
        <p:txBody>
          <a:bodyPr wrap="square" rtlCol="0">
            <a:spAutoFit/>
          </a:bodyPr>
          <a:lstStyle/>
          <a:p>
            <a:pPr defTabSz="609570"/>
            <a:r>
              <a:rPr lang="pt-BR" sz="6000" b="1">
                <a:solidFill>
                  <a:schemeClr val="bg1">
                    <a:lumMod val="85000"/>
                  </a:schemeClr>
                </a:solidFill>
                <a:latin typeface="Gotham HTF Book" pitchFamily="50" charset="0"/>
                <a:cs typeface="Gotham HTF Bold"/>
              </a:rPr>
              <a:t>CHALLENGE</a:t>
            </a:r>
            <a:r>
              <a:rPr lang="pt-BR" sz="6000" b="1">
                <a:solidFill>
                  <a:srgbClr val="EDECEC"/>
                </a:solidFill>
                <a:latin typeface="Gotham HTF Book" pitchFamily="50" charset="0"/>
                <a:cs typeface="Gotham HTF Bold"/>
              </a:rPr>
              <a:t> </a:t>
            </a:r>
            <a:r>
              <a:rPr lang="pt-BR" sz="6000" b="1">
                <a:solidFill>
                  <a:srgbClr val="FF2A65"/>
                </a:solidFill>
                <a:latin typeface="Gotham HTF Book" pitchFamily="50" charset="0"/>
                <a:cs typeface="Gotham HTF Bold"/>
              </a:rPr>
              <a:t>2026</a:t>
            </a:r>
          </a:p>
        </p:txBody>
      </p:sp>
      <p:cxnSp>
        <p:nvCxnSpPr>
          <p:cNvPr id="7" name="Straight Connector 23">
            <a:extLst>
              <a:ext uri="{FF2B5EF4-FFF2-40B4-BE49-F238E27FC236}">
                <a16:creationId xmlns:a16="http://schemas.microsoft.com/office/drawing/2014/main" id="{25D630FB-B947-DA41-A3E4-254A9E20E360}"/>
              </a:ext>
            </a:extLst>
          </p:cNvPr>
          <p:cNvCxnSpPr>
            <a:cxnSpLocks/>
          </p:cNvCxnSpPr>
          <p:nvPr/>
        </p:nvCxnSpPr>
        <p:spPr>
          <a:xfrm>
            <a:off x="1487489" y="3332356"/>
            <a:ext cx="2256195" cy="0"/>
          </a:xfrm>
          <a:prstGeom prst="line">
            <a:avLst/>
          </a:prstGeom>
          <a:ln w="15875">
            <a:solidFill>
              <a:srgbClr val="ED145B"/>
            </a:solidFill>
          </a:ln>
        </p:spPr>
        <p:style>
          <a:lnRef idx="1">
            <a:schemeClr val="accent1"/>
          </a:lnRef>
          <a:fillRef idx="0">
            <a:schemeClr val="accent1"/>
          </a:fillRef>
          <a:effectRef idx="0">
            <a:schemeClr val="accent1"/>
          </a:effectRef>
          <a:fontRef idx="minor">
            <a:schemeClr val="tx1"/>
          </a:fontRef>
        </p:style>
      </p:cxnSp>
      <p:sp>
        <p:nvSpPr>
          <p:cNvPr id="20" name="TextBox 7">
            <a:extLst>
              <a:ext uri="{FF2B5EF4-FFF2-40B4-BE49-F238E27FC236}">
                <a16:creationId xmlns:a16="http://schemas.microsoft.com/office/drawing/2014/main" id="{C89AEEC1-7789-DD5F-1B0D-76E9B9BBA4A8}"/>
              </a:ext>
            </a:extLst>
          </p:cNvPr>
          <p:cNvSpPr txBox="1"/>
          <p:nvPr/>
        </p:nvSpPr>
        <p:spPr>
          <a:xfrm>
            <a:off x="1265834" y="3423312"/>
            <a:ext cx="10009112" cy="1384995"/>
          </a:xfrm>
          <a:prstGeom prst="rect">
            <a:avLst/>
          </a:prstGeom>
          <a:noFill/>
        </p:spPr>
        <p:txBody>
          <a:bodyPr wrap="square" rtlCol="0">
            <a:spAutoFit/>
          </a:bodyPr>
          <a:lstStyle/>
          <a:p>
            <a:pPr defTabSz="609570"/>
            <a:r>
              <a:rPr lang="pt-BR" sz="3200" b="1">
                <a:solidFill>
                  <a:srgbClr val="FF2A65"/>
                </a:solidFill>
                <a:latin typeface="Gotham HTF Book" pitchFamily="50" charset="0"/>
                <a:cs typeface="Gotham HTF Bold"/>
              </a:rPr>
              <a:t>2º ANO </a:t>
            </a:r>
          </a:p>
          <a:p>
            <a:pPr defTabSz="609570"/>
            <a:r>
              <a:rPr lang="pt-BR" sz="3200" b="1">
                <a:solidFill>
                  <a:schemeClr val="bg1">
                    <a:lumMod val="85000"/>
                  </a:schemeClr>
                </a:solidFill>
                <a:latin typeface="Gotham HTF Book" pitchFamily="50" charset="0"/>
                <a:cs typeface="Gotham HTF Bold"/>
              </a:rPr>
              <a:t>ANÁLISE E DESENVOLVIMENTO DE SISTEMAS</a:t>
            </a:r>
          </a:p>
          <a:p>
            <a:pPr defTabSz="609570"/>
            <a:r>
              <a:rPr lang="pt-BR" sz="2000" i="1">
                <a:solidFill>
                  <a:srgbClr val="FF2A65"/>
                </a:solidFill>
                <a:latin typeface="Gotham HTF Book" pitchFamily="50" charset="0"/>
                <a:cs typeface="Gotham HTF Bold"/>
              </a:rPr>
              <a:t>Turmas de Fevereiro</a:t>
            </a:r>
          </a:p>
        </p:txBody>
      </p:sp>
    </p:spTree>
    <p:extLst>
      <p:ext uri="{BB962C8B-B14F-4D97-AF65-F5344CB8AC3E}">
        <p14:creationId xmlns:p14="http://schemas.microsoft.com/office/powerpoint/2010/main" val="1375907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090B8AFE-A3A6-1B57-E33C-346C91E4B48B}"/>
              </a:ext>
            </a:extLst>
          </p:cNvPr>
          <p:cNvSpPr>
            <a:spLocks noGrp="1"/>
          </p:cNvSpPr>
          <p:nvPr>
            <p:ph type="body" sz="quarter" idx="13"/>
          </p:nvPr>
        </p:nvSpPr>
        <p:spPr/>
        <p:txBody>
          <a:bodyPr/>
          <a:lstStyle/>
          <a:p>
            <a:r>
              <a:rPr lang="pt-BR"/>
              <a:t>INTRODUÇÃO</a:t>
            </a:r>
          </a:p>
        </p:txBody>
      </p:sp>
      <p:sp>
        <p:nvSpPr>
          <p:cNvPr id="2" name="AutoShape 2" descr="Astéria - Soluções Digitais Sob Medida - (11) 3645-3720">
            <a:extLst>
              <a:ext uri="{FF2B5EF4-FFF2-40B4-BE49-F238E27FC236}">
                <a16:creationId xmlns:a16="http://schemas.microsoft.com/office/drawing/2014/main" id="{335A9BDE-E341-D943-C33D-9AA361FBE56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 name="AutoShape 4" descr="Logo Astéria">
            <a:extLst>
              <a:ext uri="{FF2B5EF4-FFF2-40B4-BE49-F238E27FC236}">
                <a16:creationId xmlns:a16="http://schemas.microsoft.com/office/drawing/2014/main" id="{AA7E8132-8F27-9EB4-4E0A-CE89C5E0A5A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8" name="Título 1">
            <a:extLst>
              <a:ext uri="{FF2B5EF4-FFF2-40B4-BE49-F238E27FC236}">
                <a16:creationId xmlns:a16="http://schemas.microsoft.com/office/drawing/2014/main" id="{02E9FB55-681A-9630-8F88-E8696C41ABA9}"/>
              </a:ext>
            </a:extLst>
          </p:cNvPr>
          <p:cNvSpPr>
            <a:spLocks noGrp="1"/>
          </p:cNvSpPr>
          <p:nvPr>
            <p:ph type="title"/>
          </p:nvPr>
        </p:nvSpPr>
        <p:spPr>
          <a:xfrm>
            <a:off x="838200" y="365125"/>
            <a:ext cx="10515600" cy="1325563"/>
          </a:xfrm>
        </p:spPr>
        <p:txBody>
          <a:bodyPr/>
          <a:lstStyle/>
          <a:p>
            <a:r>
              <a:rPr lang="pt-BR"/>
              <a:t>INTRODUÇÃO</a:t>
            </a:r>
          </a:p>
        </p:txBody>
      </p:sp>
      <p:sp>
        <p:nvSpPr>
          <p:cNvPr id="5" name="Espaço Reservado para Conteúdo 2">
            <a:extLst>
              <a:ext uri="{FF2B5EF4-FFF2-40B4-BE49-F238E27FC236}">
                <a16:creationId xmlns:a16="http://schemas.microsoft.com/office/drawing/2014/main" id="{E81BF3ED-C837-FB73-71E6-B36DBA2D47FD}"/>
              </a:ext>
            </a:extLst>
          </p:cNvPr>
          <p:cNvSpPr>
            <a:spLocks noGrp="1"/>
          </p:cNvSpPr>
          <p:nvPr>
            <p:ph idx="1"/>
          </p:nvPr>
        </p:nvSpPr>
        <p:spPr>
          <a:xfrm>
            <a:off x="855576" y="1680353"/>
            <a:ext cx="11073072" cy="4812522"/>
          </a:xfrm>
        </p:spPr>
        <p:txBody>
          <a:bodyPr>
            <a:normAutofit/>
          </a:bodyPr>
          <a:lstStyle/>
          <a:p>
            <a:pPr>
              <a:lnSpc>
                <a:spcPct val="150000"/>
              </a:lnSpc>
            </a:pPr>
            <a:r>
              <a:rPr lang="pt-BR" sz="2000" b="1"/>
              <a:t>A </a:t>
            </a:r>
            <a:r>
              <a:rPr lang="pt-BR" sz="2000" b="1" err="1"/>
              <a:t>Clyvo</a:t>
            </a:r>
            <a:r>
              <a:rPr lang="pt-BR" sz="2000" b="1"/>
              <a:t>, </a:t>
            </a:r>
            <a:r>
              <a:rPr lang="pt-BR" sz="2000"/>
              <a:t>em parceria com a </a:t>
            </a:r>
            <a:r>
              <a:rPr lang="pt-BR" sz="2000" b="1"/>
              <a:t>FIAP</a:t>
            </a:r>
            <a:r>
              <a:rPr lang="pt-BR" sz="2000"/>
              <a:t>, propõe este </a:t>
            </a:r>
            <a:r>
              <a:rPr lang="pt-BR" sz="2000" err="1"/>
              <a:t>challenge</a:t>
            </a:r>
            <a:r>
              <a:rPr lang="pt-BR" sz="2000"/>
              <a:t> como parte da avaliação prática do semestre.</a:t>
            </a:r>
          </a:p>
          <a:p>
            <a:pPr>
              <a:lnSpc>
                <a:spcPct val="150000"/>
              </a:lnSpc>
            </a:pPr>
            <a:r>
              <a:rPr lang="pt-BR" sz="2000"/>
              <a:t>O objetivo é proporcionar </a:t>
            </a:r>
            <a:r>
              <a:rPr lang="pt-BR" sz="2000" b="1"/>
              <a:t>uma experiência próxima da realidade do mercado</a:t>
            </a:r>
            <a:r>
              <a:rPr lang="pt-BR" sz="2000"/>
              <a:t>, permitindo que os alunos desenvolvam soluções aplicáveis a sistemas reais, que já estão em execução e em constante evolução.</a:t>
            </a:r>
          </a:p>
          <a:p>
            <a:pPr>
              <a:lnSpc>
                <a:spcPct val="150000"/>
              </a:lnSpc>
            </a:pPr>
            <a:r>
              <a:rPr lang="pt-BR" sz="2000"/>
              <a:t>Ao longo do projeto, vocês irão aplicar </a:t>
            </a:r>
            <a:r>
              <a:rPr lang="pt-BR" sz="2000" b="1"/>
              <a:t>conhecimentos técnicos, desenvolver pensamento crítico e trabalhar em equipe</a:t>
            </a:r>
            <a:r>
              <a:rPr lang="pt-BR" sz="2000"/>
              <a:t>, preparando-se para desafios reais da área de tecnologia.</a:t>
            </a:r>
          </a:p>
        </p:txBody>
      </p:sp>
    </p:spTree>
    <p:extLst>
      <p:ext uri="{BB962C8B-B14F-4D97-AF65-F5344CB8AC3E}">
        <p14:creationId xmlns:p14="http://schemas.microsoft.com/office/powerpoint/2010/main" val="2491141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DD58-7644-393E-0A3E-5E7AA9CEA3A1}"/>
            </a:ext>
          </a:extLst>
        </p:cNvPr>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D628104D-69D5-E23F-5B97-72D2189C828A}"/>
              </a:ext>
            </a:extLst>
          </p:cNvPr>
          <p:cNvSpPr>
            <a:spLocks noGrp="1"/>
          </p:cNvSpPr>
          <p:nvPr>
            <p:ph type="body" sz="quarter" idx="13"/>
          </p:nvPr>
        </p:nvSpPr>
        <p:spPr/>
        <p:txBody>
          <a:bodyPr/>
          <a:lstStyle/>
          <a:p>
            <a:r>
              <a:rPr lang="pt-BR"/>
              <a:t>O CHALLENGE</a:t>
            </a:r>
          </a:p>
        </p:txBody>
      </p:sp>
      <p:sp>
        <p:nvSpPr>
          <p:cNvPr id="2" name="AutoShape 2" descr="Astéria - Soluções Digitais Sob Medida - (11) 3645-3720">
            <a:extLst>
              <a:ext uri="{FF2B5EF4-FFF2-40B4-BE49-F238E27FC236}">
                <a16:creationId xmlns:a16="http://schemas.microsoft.com/office/drawing/2014/main" id="{7A6DECE3-8603-3798-5DFE-30A293E4CA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 name="AutoShape 4" descr="Logo Astéria">
            <a:extLst>
              <a:ext uri="{FF2B5EF4-FFF2-40B4-BE49-F238E27FC236}">
                <a16:creationId xmlns:a16="http://schemas.microsoft.com/office/drawing/2014/main" id="{6ED3ACEA-06D6-7795-9107-14390A08BF9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8" name="Título 1">
            <a:extLst>
              <a:ext uri="{FF2B5EF4-FFF2-40B4-BE49-F238E27FC236}">
                <a16:creationId xmlns:a16="http://schemas.microsoft.com/office/drawing/2014/main" id="{173A988C-7E41-8B7F-A01A-96C37707536B}"/>
              </a:ext>
            </a:extLst>
          </p:cNvPr>
          <p:cNvSpPr>
            <a:spLocks noGrp="1"/>
          </p:cNvSpPr>
          <p:nvPr>
            <p:ph type="title"/>
          </p:nvPr>
        </p:nvSpPr>
        <p:spPr>
          <a:xfrm>
            <a:off x="838200" y="365125"/>
            <a:ext cx="10515600" cy="1325563"/>
          </a:xfrm>
        </p:spPr>
        <p:txBody>
          <a:bodyPr/>
          <a:lstStyle/>
          <a:p>
            <a:r>
              <a:rPr lang="pt-BR"/>
              <a:t>OBJETIVO DO CHALLENGE</a:t>
            </a:r>
          </a:p>
        </p:txBody>
      </p:sp>
      <p:sp>
        <p:nvSpPr>
          <p:cNvPr id="5" name="Espaço Reservado para Conteúdo 2">
            <a:extLst>
              <a:ext uri="{FF2B5EF4-FFF2-40B4-BE49-F238E27FC236}">
                <a16:creationId xmlns:a16="http://schemas.microsoft.com/office/drawing/2014/main" id="{AC19E815-D34B-CB94-0D2E-FDEFAED23634}"/>
              </a:ext>
            </a:extLst>
          </p:cNvPr>
          <p:cNvSpPr>
            <a:spLocks noGrp="1"/>
          </p:cNvSpPr>
          <p:nvPr>
            <p:ph idx="1"/>
          </p:nvPr>
        </p:nvSpPr>
        <p:spPr>
          <a:xfrm>
            <a:off x="855576" y="1680353"/>
            <a:ext cx="11073072" cy="4812522"/>
          </a:xfrm>
        </p:spPr>
        <p:txBody>
          <a:bodyPr>
            <a:normAutofit/>
          </a:bodyPr>
          <a:lstStyle/>
          <a:p>
            <a:pPr>
              <a:lnSpc>
                <a:spcPct val="150000"/>
              </a:lnSpc>
            </a:pPr>
            <a:r>
              <a:rPr lang="pt-BR" sz="2000"/>
              <a:t>Este projeto tem como principal objetivo aproximar os alunos do contexto </a:t>
            </a:r>
            <a:r>
              <a:rPr lang="pt-BR" sz="2000" b="1"/>
              <a:t>real de desenvolvimento de produtos digitais.</a:t>
            </a:r>
          </a:p>
          <a:p>
            <a:pPr>
              <a:lnSpc>
                <a:spcPct val="150000"/>
              </a:lnSpc>
            </a:pPr>
            <a:r>
              <a:rPr lang="pt-BR" sz="2000"/>
              <a:t>Mais do que apenas construir uma </a:t>
            </a:r>
            <a:r>
              <a:rPr lang="pt-BR" sz="2000" b="1"/>
              <a:t>solução funcional</a:t>
            </a:r>
            <a:r>
              <a:rPr lang="pt-BR" sz="2000"/>
              <a:t>, espera-se que vocês:</a:t>
            </a:r>
          </a:p>
          <a:p>
            <a:pPr lvl="1">
              <a:lnSpc>
                <a:spcPct val="150000"/>
              </a:lnSpc>
            </a:pPr>
            <a:r>
              <a:rPr lang="pt-BR" sz="1800"/>
              <a:t>Compreendam o problema de negócio</a:t>
            </a:r>
          </a:p>
          <a:p>
            <a:pPr lvl="1">
              <a:lnSpc>
                <a:spcPct val="150000"/>
              </a:lnSpc>
            </a:pPr>
            <a:r>
              <a:rPr lang="pt-BR" sz="1800"/>
              <a:t>Tomem decisões técnicas conscientes</a:t>
            </a:r>
          </a:p>
          <a:p>
            <a:pPr lvl="1">
              <a:lnSpc>
                <a:spcPct val="150000"/>
              </a:lnSpc>
            </a:pPr>
            <a:r>
              <a:rPr lang="pt-BR" sz="1800"/>
              <a:t>Avaliem impacto, custo e escalabilidade</a:t>
            </a:r>
          </a:p>
          <a:p>
            <a:pPr lvl="1">
              <a:lnSpc>
                <a:spcPct val="150000"/>
              </a:lnSpc>
            </a:pPr>
            <a:r>
              <a:rPr lang="pt-BR" sz="1800"/>
              <a:t>Trabalhem como um time de engenharia de produto</a:t>
            </a:r>
          </a:p>
          <a:p>
            <a:pPr>
              <a:lnSpc>
                <a:spcPct val="150000"/>
              </a:lnSpc>
            </a:pPr>
            <a:r>
              <a:rPr lang="pt-BR" sz="2000" b="1"/>
              <a:t>A proposta é simular o dia a dia de empresas de tecnologia </a:t>
            </a:r>
            <a:r>
              <a:rPr lang="pt-BR" sz="2000"/>
              <a:t>que lidam com sistemas em produção.</a:t>
            </a:r>
          </a:p>
        </p:txBody>
      </p:sp>
    </p:spTree>
    <p:extLst>
      <p:ext uri="{BB962C8B-B14F-4D97-AF65-F5344CB8AC3E}">
        <p14:creationId xmlns:p14="http://schemas.microsoft.com/office/powerpoint/2010/main" val="12044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68CF-C5EC-ECE4-46EB-A8CF25A56E45}"/>
            </a:ext>
          </a:extLst>
        </p:cNvPr>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2C0A2B08-D8A8-4A57-DC0A-05C24487FCBF}"/>
              </a:ext>
            </a:extLst>
          </p:cNvPr>
          <p:cNvPicPr>
            <a:picLocks noChangeAspect="1"/>
          </p:cNvPicPr>
          <p:nvPr/>
        </p:nvPicPr>
        <p:blipFill>
          <a:blip r:embed="rId2"/>
          <a:stretch>
            <a:fillRect/>
          </a:stretch>
        </p:blipFill>
        <p:spPr>
          <a:xfrm>
            <a:off x="0" y="0"/>
            <a:ext cx="14630400" cy="8229600"/>
          </a:xfrm>
          <a:prstGeom prst="rect">
            <a:avLst/>
          </a:prstGeom>
        </p:spPr>
      </p:pic>
      <p:sp>
        <p:nvSpPr>
          <p:cNvPr id="14" name="Shape 0">
            <a:extLst>
              <a:ext uri="{FF2B5EF4-FFF2-40B4-BE49-F238E27FC236}">
                <a16:creationId xmlns:a16="http://schemas.microsoft.com/office/drawing/2014/main" id="{B1C20FD2-2CE3-65AF-3596-86C0FB2D0BAB}"/>
              </a:ext>
            </a:extLst>
          </p:cNvPr>
          <p:cNvSpPr/>
          <p:nvPr/>
        </p:nvSpPr>
        <p:spPr>
          <a:xfrm>
            <a:off x="0" y="-459432"/>
            <a:ext cx="14630400" cy="8229600"/>
          </a:xfrm>
          <a:prstGeom prst="rect">
            <a:avLst/>
          </a:prstGeom>
          <a:solidFill>
            <a:srgbClr val="0A081B">
              <a:alpha val="80000"/>
            </a:srgbClr>
          </a:solidFill>
          <a:ln/>
        </p:spPr>
        <p:txBody>
          <a:bodyPr/>
          <a:lstStyle/>
          <a:p>
            <a:endParaRPr lang="pt-BR"/>
          </a:p>
        </p:txBody>
      </p:sp>
      <p:sp>
        <p:nvSpPr>
          <p:cNvPr id="2" name="Título 1">
            <a:extLst>
              <a:ext uri="{FF2B5EF4-FFF2-40B4-BE49-F238E27FC236}">
                <a16:creationId xmlns:a16="http://schemas.microsoft.com/office/drawing/2014/main" id="{4C5B61D1-6300-985F-509D-2BA1A553AB85}"/>
              </a:ext>
            </a:extLst>
          </p:cNvPr>
          <p:cNvSpPr>
            <a:spLocks noGrp="1"/>
          </p:cNvSpPr>
          <p:nvPr>
            <p:ph type="title"/>
          </p:nvPr>
        </p:nvSpPr>
        <p:spPr>
          <a:xfrm>
            <a:off x="911424" y="620688"/>
            <a:ext cx="10515600" cy="1325563"/>
          </a:xfrm>
        </p:spPr>
        <p:txBody>
          <a:bodyPr>
            <a:normAutofit/>
          </a:bodyPr>
          <a:lstStyle/>
          <a:p>
            <a:r>
              <a:rPr lang="pt-BR">
                <a:solidFill>
                  <a:srgbClr val="FF2A65"/>
                </a:solidFill>
              </a:rPr>
              <a:t>DESAFIO</a:t>
            </a:r>
            <a:br>
              <a:rPr lang="pt-BR">
                <a:solidFill>
                  <a:srgbClr val="FF2A65"/>
                </a:solidFill>
                <a:latin typeface="Gotham HTF Book"/>
              </a:rPr>
            </a:br>
            <a:endParaRPr lang="pt-BR">
              <a:solidFill>
                <a:srgbClr val="FF2A65"/>
              </a:solidFill>
            </a:endParaRPr>
          </a:p>
        </p:txBody>
      </p:sp>
      <p:sp>
        <p:nvSpPr>
          <p:cNvPr id="15" name="Text 1">
            <a:extLst>
              <a:ext uri="{FF2B5EF4-FFF2-40B4-BE49-F238E27FC236}">
                <a16:creationId xmlns:a16="http://schemas.microsoft.com/office/drawing/2014/main" id="{281E058C-ECFE-ECEA-4DFB-EB2857CABC75}"/>
              </a:ext>
            </a:extLst>
          </p:cNvPr>
          <p:cNvSpPr/>
          <p:nvPr/>
        </p:nvSpPr>
        <p:spPr>
          <a:xfrm>
            <a:off x="1199456" y="1881139"/>
            <a:ext cx="10081120" cy="1371600"/>
          </a:xfrm>
          <a:prstGeom prst="rect">
            <a:avLst/>
          </a:prstGeom>
          <a:noFill/>
          <a:ln/>
        </p:spPr>
        <p:txBody>
          <a:bodyPr wrap="square" lIns="0" tIns="0" rIns="0" bIns="0" rtlCol="0" anchor="t"/>
          <a:lstStyle/>
          <a:p>
            <a:pPr marL="0" indent="0" algn="l">
              <a:lnSpc>
                <a:spcPts val="5400"/>
              </a:lnSpc>
              <a:buNone/>
            </a:pPr>
            <a:r>
              <a:rPr lang="en-US" sz="4300" b="1">
                <a:solidFill>
                  <a:srgbClr val="F0FCFF"/>
                </a:solidFill>
                <a:latin typeface="Gotham HTF Book"/>
                <a:ea typeface="Spline Sans Bold" pitchFamily="34" charset="-122"/>
                <a:cs typeface="Spline Sans Bold" pitchFamily="34" charset="-120"/>
              </a:rPr>
              <a:t>Continuidade do cuidado e engajamento na jornada de saúde do pet</a:t>
            </a:r>
            <a:endParaRPr lang="en-US" sz="4300">
              <a:latin typeface="Gotham HTF Book"/>
            </a:endParaRPr>
          </a:p>
        </p:txBody>
      </p:sp>
      <p:sp>
        <p:nvSpPr>
          <p:cNvPr id="16" name="Text 2">
            <a:extLst>
              <a:ext uri="{FF2B5EF4-FFF2-40B4-BE49-F238E27FC236}">
                <a16:creationId xmlns:a16="http://schemas.microsoft.com/office/drawing/2014/main" id="{79504EC0-96AD-8172-E877-B0FBB2979FA9}"/>
              </a:ext>
            </a:extLst>
          </p:cNvPr>
          <p:cNvSpPr/>
          <p:nvPr/>
        </p:nvSpPr>
        <p:spPr>
          <a:xfrm>
            <a:off x="1199456" y="4118141"/>
            <a:ext cx="12508944" cy="395049"/>
          </a:xfrm>
          <a:prstGeom prst="rect">
            <a:avLst/>
          </a:prstGeom>
          <a:noFill/>
          <a:ln/>
        </p:spPr>
        <p:txBody>
          <a:bodyPr wrap="none" lIns="0" tIns="0" rIns="0" bIns="0" rtlCol="0" anchor="t"/>
          <a:lstStyle/>
          <a:p>
            <a:pPr marL="0" indent="0" algn="l">
              <a:lnSpc>
                <a:spcPts val="3100"/>
              </a:lnSpc>
              <a:buNone/>
            </a:pPr>
            <a:r>
              <a:rPr lang="en-US" sz="1900">
                <a:solidFill>
                  <a:srgbClr val="E0E4E6"/>
                </a:solidFill>
                <a:latin typeface="Gotham HTF Book"/>
                <a:ea typeface="Barlow" pitchFamily="34" charset="-122"/>
                <a:cs typeface="Barlow" pitchFamily="34" charset="-120"/>
              </a:rPr>
              <a:t>CLYVO VET — Infraestrutura do futuro da medicina veterinária digital</a:t>
            </a:r>
            <a:endParaRPr lang="en-US" sz="1900">
              <a:latin typeface="Gotham HTF Book"/>
            </a:endParaRPr>
          </a:p>
        </p:txBody>
      </p:sp>
      <p:sp>
        <p:nvSpPr>
          <p:cNvPr id="18" name="Espaço Reservado para Texto 17">
            <a:extLst>
              <a:ext uri="{FF2B5EF4-FFF2-40B4-BE49-F238E27FC236}">
                <a16:creationId xmlns:a16="http://schemas.microsoft.com/office/drawing/2014/main" id="{D285BD8F-34E3-A88C-25E6-BB56887E910F}"/>
              </a:ext>
            </a:extLst>
          </p:cNvPr>
          <p:cNvSpPr>
            <a:spLocks noGrp="1"/>
          </p:cNvSpPr>
          <p:nvPr>
            <p:ph type="body" sz="quarter" idx="13"/>
          </p:nvPr>
        </p:nvSpPr>
        <p:spPr/>
        <p:txBody>
          <a:bodyPr/>
          <a:lstStyle/>
          <a:p>
            <a:r>
              <a:rPr lang="pt-BR"/>
              <a:t>TEMA</a:t>
            </a:r>
          </a:p>
        </p:txBody>
      </p:sp>
    </p:spTree>
    <p:extLst>
      <p:ext uri="{BB962C8B-B14F-4D97-AF65-F5344CB8AC3E}">
        <p14:creationId xmlns:p14="http://schemas.microsoft.com/office/powerpoint/2010/main" val="873029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59BA2-9568-A5AE-F862-F86D717DEB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33F029-4C2C-0D5D-D33F-A5D23C84AD5A}"/>
              </a:ext>
            </a:extLst>
          </p:cNvPr>
          <p:cNvSpPr>
            <a:spLocks noGrp="1"/>
          </p:cNvSpPr>
          <p:nvPr>
            <p:ph type="title"/>
          </p:nvPr>
        </p:nvSpPr>
        <p:spPr/>
        <p:txBody>
          <a:bodyPr/>
          <a:lstStyle/>
          <a:p>
            <a:r>
              <a:rPr lang="en-US">
                <a:latin typeface="Spline Sans Bold" pitchFamily="34" charset="0"/>
                <a:ea typeface="Spline Sans Bold" pitchFamily="34" charset="-122"/>
                <a:cs typeface="Spline Sans Bold" pitchFamily="34" charset="-120"/>
              </a:rPr>
              <a:t>VISÃO ESTRATÉGICA DO DESAFIO</a:t>
            </a:r>
            <a:endParaRPr lang="pt-BR"/>
          </a:p>
        </p:txBody>
      </p:sp>
      <p:sp>
        <p:nvSpPr>
          <p:cNvPr id="4" name="Espaço Reservado para Texto 3">
            <a:extLst>
              <a:ext uri="{FF2B5EF4-FFF2-40B4-BE49-F238E27FC236}">
                <a16:creationId xmlns:a16="http://schemas.microsoft.com/office/drawing/2014/main" id="{128FA8A1-E5FD-00FF-8EA4-658C8B517B69}"/>
              </a:ext>
            </a:extLst>
          </p:cNvPr>
          <p:cNvSpPr>
            <a:spLocks noGrp="1"/>
          </p:cNvSpPr>
          <p:nvPr>
            <p:ph type="body" sz="quarter" idx="13"/>
          </p:nvPr>
        </p:nvSpPr>
        <p:spPr/>
        <p:txBody>
          <a:bodyPr/>
          <a:lstStyle/>
          <a:p>
            <a:r>
              <a:rPr lang="pt-BR"/>
              <a:t>DESAFIO</a:t>
            </a:r>
          </a:p>
        </p:txBody>
      </p:sp>
      <p:sp>
        <p:nvSpPr>
          <p:cNvPr id="7" name="Text 1">
            <a:extLst>
              <a:ext uri="{FF2B5EF4-FFF2-40B4-BE49-F238E27FC236}">
                <a16:creationId xmlns:a16="http://schemas.microsoft.com/office/drawing/2014/main" id="{9DE4FA4A-6A07-F464-E3D5-C48700A74BB3}"/>
              </a:ext>
            </a:extLst>
          </p:cNvPr>
          <p:cNvSpPr/>
          <p:nvPr/>
        </p:nvSpPr>
        <p:spPr>
          <a:xfrm>
            <a:off x="838200" y="1655917"/>
            <a:ext cx="11018440" cy="395049"/>
          </a:xfrm>
          <a:prstGeom prst="rect">
            <a:avLst/>
          </a:prstGeom>
          <a:noFill/>
          <a:ln/>
        </p:spPr>
        <p:txBody>
          <a:bodyPr wrap="none" lIns="0" tIns="0" rIns="0" bIns="0" rtlCol="0" anchor="t"/>
          <a:lstStyle/>
          <a:p>
            <a:pPr marL="0" indent="0" algn="l">
              <a:lnSpc>
                <a:spcPts val="3100"/>
              </a:lnSpc>
              <a:buNone/>
            </a:pPr>
            <a:r>
              <a:rPr lang="en-US" sz="1900">
                <a:latin typeface="Gotham HTF Book"/>
                <a:ea typeface="Barlow" pitchFamily="34" charset="-122"/>
                <a:cs typeface="Barlow" pitchFamily="34" charset="-120"/>
              </a:rPr>
              <a:t>A CLYVO VET </a:t>
            </a:r>
            <a:r>
              <a:rPr lang="en-US" sz="1900" err="1">
                <a:latin typeface="Gotham HTF Book"/>
                <a:ea typeface="Barlow" pitchFamily="34" charset="-122"/>
                <a:cs typeface="Barlow" pitchFamily="34" charset="-120"/>
              </a:rPr>
              <a:t>está</a:t>
            </a:r>
            <a:r>
              <a:rPr lang="en-US" sz="1900">
                <a:latin typeface="Gotham HTF Book"/>
                <a:ea typeface="Barlow" pitchFamily="34" charset="-122"/>
                <a:cs typeface="Barlow" pitchFamily="34" charset="-120"/>
              </a:rPr>
              <a:t> </a:t>
            </a:r>
            <a:r>
              <a:rPr lang="en-US" sz="1900" err="1">
                <a:latin typeface="Gotham HTF Book"/>
                <a:ea typeface="Barlow" pitchFamily="34" charset="-122"/>
                <a:cs typeface="Barlow" pitchFamily="34" charset="-120"/>
              </a:rPr>
              <a:t>construindo</a:t>
            </a:r>
            <a:r>
              <a:rPr lang="en-US" sz="1900">
                <a:latin typeface="Gotham HTF Book"/>
                <a:ea typeface="Barlow" pitchFamily="34" charset="-122"/>
                <a:cs typeface="Barlow" pitchFamily="34" charset="-120"/>
              </a:rPr>
              <a:t> a </a:t>
            </a:r>
            <a:r>
              <a:rPr lang="en-US" sz="1900" err="1">
                <a:latin typeface="Gotham HTF Book"/>
                <a:ea typeface="Barlow" pitchFamily="34" charset="-122"/>
                <a:cs typeface="Barlow" pitchFamily="34" charset="-120"/>
              </a:rPr>
              <a:t>infraestrutura</a:t>
            </a:r>
            <a:r>
              <a:rPr lang="en-US" sz="1900">
                <a:latin typeface="Gotham HTF Book"/>
                <a:ea typeface="Barlow" pitchFamily="34" charset="-122"/>
                <a:cs typeface="Barlow" pitchFamily="34" charset="-120"/>
              </a:rPr>
              <a:t> do </a:t>
            </a:r>
            <a:r>
              <a:rPr lang="en-US" sz="1900" err="1">
                <a:latin typeface="Gotham HTF Book"/>
                <a:ea typeface="Barlow" pitchFamily="34" charset="-122"/>
                <a:cs typeface="Barlow" pitchFamily="34" charset="-120"/>
              </a:rPr>
              <a:t>futuro</a:t>
            </a:r>
            <a:r>
              <a:rPr lang="en-US" sz="1900">
                <a:latin typeface="Gotham HTF Book"/>
                <a:ea typeface="Barlow" pitchFamily="34" charset="-122"/>
                <a:cs typeface="Barlow" pitchFamily="34" charset="-120"/>
              </a:rPr>
              <a:t> da </a:t>
            </a:r>
            <a:r>
              <a:rPr lang="en-US" sz="1900" err="1">
                <a:latin typeface="Gotham HTF Book"/>
                <a:ea typeface="Barlow" pitchFamily="34" charset="-122"/>
                <a:cs typeface="Barlow" pitchFamily="34" charset="-120"/>
              </a:rPr>
              <a:t>medicina</a:t>
            </a:r>
            <a:r>
              <a:rPr lang="en-US" sz="1900">
                <a:latin typeface="Gotham HTF Book"/>
                <a:ea typeface="Barlow" pitchFamily="34" charset="-122"/>
                <a:cs typeface="Barlow" pitchFamily="34" charset="-120"/>
              </a:rPr>
              <a:t> </a:t>
            </a:r>
            <a:r>
              <a:rPr lang="en-US" sz="1900" err="1">
                <a:latin typeface="Gotham HTF Book"/>
                <a:ea typeface="Barlow" pitchFamily="34" charset="-122"/>
                <a:cs typeface="Barlow" pitchFamily="34" charset="-120"/>
              </a:rPr>
              <a:t>veterinária</a:t>
            </a:r>
            <a:r>
              <a:rPr lang="en-US" sz="1900">
                <a:latin typeface="Gotham HTF Book"/>
                <a:ea typeface="Barlow" pitchFamily="34" charset="-122"/>
                <a:cs typeface="Barlow" pitchFamily="34" charset="-120"/>
              </a:rPr>
              <a:t> digital.</a:t>
            </a:r>
            <a:endParaRPr lang="en-US" sz="1900">
              <a:latin typeface="Gotham HTF Book"/>
            </a:endParaRPr>
          </a:p>
        </p:txBody>
      </p:sp>
      <p:sp>
        <p:nvSpPr>
          <p:cNvPr id="8" name="Text 2">
            <a:extLst>
              <a:ext uri="{FF2B5EF4-FFF2-40B4-BE49-F238E27FC236}">
                <a16:creationId xmlns:a16="http://schemas.microsoft.com/office/drawing/2014/main" id="{309FAF7A-C5F0-417E-1902-C5DF2BC63F24}"/>
              </a:ext>
            </a:extLst>
          </p:cNvPr>
          <p:cNvSpPr/>
          <p:nvPr/>
        </p:nvSpPr>
        <p:spPr>
          <a:xfrm>
            <a:off x="838200" y="2328620"/>
            <a:ext cx="11018440" cy="790099"/>
          </a:xfrm>
          <a:prstGeom prst="rect">
            <a:avLst/>
          </a:prstGeom>
          <a:noFill/>
          <a:ln/>
        </p:spPr>
        <p:txBody>
          <a:bodyPr wrap="square" lIns="0" tIns="0" rIns="0" bIns="0" rtlCol="0" anchor="t"/>
          <a:lstStyle/>
          <a:p>
            <a:pPr marL="0" indent="0" algn="l">
              <a:lnSpc>
                <a:spcPts val="3100"/>
              </a:lnSpc>
              <a:buNone/>
            </a:pPr>
            <a:r>
              <a:rPr lang="en-US" sz="1900">
                <a:latin typeface="Gotham HTF Book"/>
                <a:ea typeface="Barlow" pitchFamily="34" charset="-122"/>
                <a:cs typeface="Barlow" pitchFamily="34" charset="-120"/>
              </a:rPr>
              <a:t>Nosso desafio para este ciclo é explorar como a tecnologia pode transformar a jornada de saúde animal de um modelo </a:t>
            </a:r>
            <a:r>
              <a:rPr lang="en-US" sz="1900" b="1">
                <a:latin typeface="Gotham HTF Book"/>
                <a:ea typeface="Barlow" pitchFamily="34" charset="-122"/>
                <a:cs typeface="Barlow" pitchFamily="34" charset="-120"/>
              </a:rPr>
              <a:t>episódico e reativo</a:t>
            </a:r>
            <a:r>
              <a:rPr lang="en-US" sz="1900">
                <a:latin typeface="Gotham HTF Book"/>
                <a:ea typeface="Barlow" pitchFamily="34" charset="-122"/>
                <a:cs typeface="Barlow" pitchFamily="34" charset="-120"/>
              </a:rPr>
              <a:t> para uma experiência </a:t>
            </a:r>
            <a:r>
              <a:rPr lang="en-US" sz="1900" b="1">
                <a:latin typeface="Gotham HTF Book"/>
                <a:ea typeface="Barlow" pitchFamily="34" charset="-122"/>
                <a:cs typeface="Barlow" pitchFamily="34" charset="-120"/>
              </a:rPr>
              <a:t>contínua, preventiva, inteligente e integrada</a:t>
            </a:r>
            <a:r>
              <a:rPr lang="en-US" sz="1900">
                <a:latin typeface="Gotham HTF Book"/>
                <a:ea typeface="Barlow" pitchFamily="34" charset="-122"/>
                <a:cs typeface="Barlow" pitchFamily="34" charset="-120"/>
              </a:rPr>
              <a:t>.</a:t>
            </a:r>
            <a:endParaRPr lang="en-US" sz="1900">
              <a:latin typeface="Gotham HTF Book"/>
            </a:endParaRPr>
          </a:p>
        </p:txBody>
      </p:sp>
      <p:sp>
        <p:nvSpPr>
          <p:cNvPr id="9" name="Text 3">
            <a:extLst>
              <a:ext uri="{FF2B5EF4-FFF2-40B4-BE49-F238E27FC236}">
                <a16:creationId xmlns:a16="http://schemas.microsoft.com/office/drawing/2014/main" id="{E0E084FF-820B-8A8A-3A8A-77C1AE9E5FBC}"/>
              </a:ext>
            </a:extLst>
          </p:cNvPr>
          <p:cNvSpPr/>
          <p:nvPr/>
        </p:nvSpPr>
        <p:spPr>
          <a:xfrm>
            <a:off x="838200" y="3396372"/>
            <a:ext cx="11018440" cy="790099"/>
          </a:xfrm>
          <a:prstGeom prst="rect">
            <a:avLst/>
          </a:prstGeom>
          <a:noFill/>
          <a:ln/>
        </p:spPr>
        <p:txBody>
          <a:bodyPr wrap="square" lIns="0" tIns="0" rIns="0" bIns="0" rtlCol="0" anchor="t"/>
          <a:lstStyle/>
          <a:p>
            <a:pPr marL="0" indent="0" algn="l">
              <a:lnSpc>
                <a:spcPts val="3100"/>
              </a:lnSpc>
              <a:buNone/>
            </a:pPr>
            <a:r>
              <a:rPr lang="en-US" sz="1900">
                <a:latin typeface="Gotham HTF Book"/>
                <a:ea typeface="Barlow" pitchFamily="34" charset="-122"/>
                <a:cs typeface="Barlow" pitchFamily="34" charset="-120"/>
              </a:rPr>
              <a:t>Queremos que os squads tenham liberdade para identificar o ponto de maior dor dentro da jornada e propor a melhor solução possível.</a:t>
            </a:r>
            <a:endParaRPr lang="en-US" sz="1900">
              <a:latin typeface="Gotham HTF Book"/>
            </a:endParaRPr>
          </a:p>
        </p:txBody>
      </p:sp>
      <p:sp>
        <p:nvSpPr>
          <p:cNvPr id="10" name="Text 4">
            <a:extLst>
              <a:ext uri="{FF2B5EF4-FFF2-40B4-BE49-F238E27FC236}">
                <a16:creationId xmlns:a16="http://schemas.microsoft.com/office/drawing/2014/main" id="{538E382F-3D62-8BF4-7A2A-82FBE0F8312C}"/>
              </a:ext>
            </a:extLst>
          </p:cNvPr>
          <p:cNvSpPr/>
          <p:nvPr/>
        </p:nvSpPr>
        <p:spPr>
          <a:xfrm>
            <a:off x="838200" y="4464125"/>
            <a:ext cx="11018440" cy="395049"/>
          </a:xfrm>
          <a:prstGeom prst="rect">
            <a:avLst/>
          </a:prstGeom>
          <a:noFill/>
          <a:ln/>
        </p:spPr>
        <p:txBody>
          <a:bodyPr wrap="none" lIns="0" tIns="0" rIns="0" bIns="0" rtlCol="0" anchor="t"/>
          <a:lstStyle/>
          <a:p>
            <a:pPr marL="0" indent="0" algn="l">
              <a:lnSpc>
                <a:spcPts val="3100"/>
              </a:lnSpc>
              <a:buNone/>
            </a:pPr>
            <a:r>
              <a:rPr lang="en-US" sz="1900">
                <a:latin typeface="Gotham HTF Book"/>
                <a:ea typeface="Barlow" pitchFamily="34" charset="-122"/>
                <a:cs typeface="Barlow" pitchFamily="34" charset="-120"/>
              </a:rPr>
              <a:t>O foco não é uma feature específica.</a:t>
            </a:r>
            <a:endParaRPr lang="en-US" sz="1900">
              <a:latin typeface="Gotham HTF Book"/>
            </a:endParaRPr>
          </a:p>
        </p:txBody>
      </p:sp>
      <p:sp>
        <p:nvSpPr>
          <p:cNvPr id="11" name="Text 5">
            <a:extLst>
              <a:ext uri="{FF2B5EF4-FFF2-40B4-BE49-F238E27FC236}">
                <a16:creationId xmlns:a16="http://schemas.microsoft.com/office/drawing/2014/main" id="{4B6DBD95-7D9A-33AF-DB2C-289E00F2D750}"/>
              </a:ext>
            </a:extLst>
          </p:cNvPr>
          <p:cNvSpPr/>
          <p:nvPr/>
        </p:nvSpPr>
        <p:spPr>
          <a:xfrm>
            <a:off x="1089064" y="5414481"/>
            <a:ext cx="10692277" cy="790099"/>
          </a:xfrm>
          <a:prstGeom prst="rect">
            <a:avLst/>
          </a:prstGeom>
          <a:noFill/>
          <a:ln/>
        </p:spPr>
        <p:txBody>
          <a:bodyPr wrap="square" lIns="0" tIns="0" rIns="0" bIns="0" rtlCol="0" anchor="t"/>
          <a:lstStyle/>
          <a:p>
            <a:pPr marL="0" indent="0" algn="l">
              <a:lnSpc>
                <a:spcPts val="3100"/>
              </a:lnSpc>
              <a:buNone/>
            </a:pPr>
            <a:r>
              <a:rPr lang="en-US" sz="1900">
                <a:latin typeface="Gotham HTF Book"/>
                <a:ea typeface="Barlow" pitchFamily="34" charset="-122"/>
                <a:cs typeface="Barlow" pitchFamily="34" charset="-120"/>
              </a:rPr>
              <a:t>O foco é: </a:t>
            </a:r>
            <a:r>
              <a:rPr lang="en-US" sz="1900" b="1">
                <a:latin typeface="Gotham HTF Book"/>
                <a:ea typeface="Barlow" pitchFamily="34" charset="-122"/>
                <a:cs typeface="Barlow" pitchFamily="34" charset="-120"/>
              </a:rPr>
              <a:t>resolver um problema crítico da continuidade do cuidado do pet e da relação entre responsável, clínica e ecossistema veterinário.</a:t>
            </a:r>
            <a:endParaRPr lang="en-US" sz="1900">
              <a:latin typeface="Gotham HTF Book"/>
            </a:endParaRPr>
          </a:p>
        </p:txBody>
      </p:sp>
      <p:sp>
        <p:nvSpPr>
          <p:cNvPr id="12" name="Shape 6">
            <a:extLst>
              <a:ext uri="{FF2B5EF4-FFF2-40B4-BE49-F238E27FC236}">
                <a16:creationId xmlns:a16="http://schemas.microsoft.com/office/drawing/2014/main" id="{B4AEA371-0B1D-B8DF-0AB9-ED8DDA7CE006}"/>
              </a:ext>
            </a:extLst>
          </p:cNvPr>
          <p:cNvSpPr/>
          <p:nvPr/>
        </p:nvSpPr>
        <p:spPr>
          <a:xfrm>
            <a:off x="838199" y="5136828"/>
            <a:ext cx="45719" cy="1345406"/>
          </a:xfrm>
          <a:prstGeom prst="rect">
            <a:avLst/>
          </a:prstGeom>
          <a:solidFill>
            <a:srgbClr val="002060"/>
          </a:solidFill>
          <a:ln/>
        </p:spPr>
        <p:txBody>
          <a:bodyPr/>
          <a:lstStyle/>
          <a:p>
            <a:endParaRPr lang="pt-BR">
              <a:latin typeface="Gotham HTF Book"/>
            </a:endParaRPr>
          </a:p>
        </p:txBody>
      </p:sp>
    </p:spTree>
    <p:extLst>
      <p:ext uri="{BB962C8B-B14F-4D97-AF65-F5344CB8AC3E}">
        <p14:creationId xmlns:p14="http://schemas.microsoft.com/office/powerpoint/2010/main" val="979787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4F442-0417-9127-98E5-FC982A50B3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15EC76-70CD-BF90-15E0-1DBDA3264847}"/>
              </a:ext>
            </a:extLst>
          </p:cNvPr>
          <p:cNvSpPr>
            <a:spLocks noGrp="1"/>
          </p:cNvSpPr>
          <p:nvPr>
            <p:ph type="title"/>
          </p:nvPr>
        </p:nvSpPr>
        <p:spPr/>
        <p:txBody>
          <a:bodyPr/>
          <a:lstStyle/>
          <a:p>
            <a:r>
              <a:rPr lang="pt-BR"/>
              <a:t>PROBLEMA MACRO</a:t>
            </a:r>
          </a:p>
        </p:txBody>
      </p:sp>
      <p:sp>
        <p:nvSpPr>
          <p:cNvPr id="4" name="Espaço Reservado para Texto 3">
            <a:extLst>
              <a:ext uri="{FF2B5EF4-FFF2-40B4-BE49-F238E27FC236}">
                <a16:creationId xmlns:a16="http://schemas.microsoft.com/office/drawing/2014/main" id="{5E7B8EE4-69DA-9A75-757A-2C43A8D27787}"/>
              </a:ext>
            </a:extLst>
          </p:cNvPr>
          <p:cNvSpPr>
            <a:spLocks noGrp="1"/>
          </p:cNvSpPr>
          <p:nvPr>
            <p:ph type="body" sz="quarter" idx="13"/>
          </p:nvPr>
        </p:nvSpPr>
        <p:spPr/>
        <p:txBody>
          <a:bodyPr/>
          <a:lstStyle/>
          <a:p>
            <a:r>
              <a:rPr lang="pt-BR"/>
              <a:t>DESAFIO</a:t>
            </a:r>
          </a:p>
        </p:txBody>
      </p:sp>
      <p:sp>
        <p:nvSpPr>
          <p:cNvPr id="3" name="Text 1">
            <a:extLst>
              <a:ext uri="{FF2B5EF4-FFF2-40B4-BE49-F238E27FC236}">
                <a16:creationId xmlns:a16="http://schemas.microsoft.com/office/drawing/2014/main" id="{EC3AD056-6B64-5421-F1B4-A4EE992CA9C0}"/>
              </a:ext>
            </a:extLst>
          </p:cNvPr>
          <p:cNvSpPr/>
          <p:nvPr/>
        </p:nvSpPr>
        <p:spPr>
          <a:xfrm>
            <a:off x="2063552" y="1977033"/>
            <a:ext cx="8599884" cy="458391"/>
          </a:xfrm>
          <a:prstGeom prst="rect">
            <a:avLst/>
          </a:prstGeom>
          <a:noFill/>
          <a:ln/>
        </p:spPr>
        <p:txBody>
          <a:bodyPr wrap="square" lIns="0" tIns="0" rIns="0" bIns="0" rtlCol="0" anchor="t"/>
          <a:lstStyle/>
          <a:p>
            <a:pPr marL="0" indent="0" algn="l">
              <a:lnSpc>
                <a:spcPts val="1800"/>
              </a:lnSpc>
              <a:buNone/>
            </a:pPr>
            <a:r>
              <a:rPr lang="en-US" sz="2000">
                <a:latin typeface="Gotham HTF Book"/>
                <a:ea typeface="Barlow" pitchFamily="34" charset="-122"/>
                <a:cs typeface="Barlow" pitchFamily="34" charset="-120"/>
              </a:rPr>
              <a:t>Hoje, a jornada do pet é fragmentada. O responsável pelo pet normalmente só interage com o ecossistema em momentos como:</a:t>
            </a:r>
            <a:endParaRPr lang="en-US" sz="2000">
              <a:latin typeface="Gotham HTF Book"/>
            </a:endParaRPr>
          </a:p>
        </p:txBody>
      </p:sp>
      <p:sp>
        <p:nvSpPr>
          <p:cNvPr id="6" name="Shape 2">
            <a:extLst>
              <a:ext uri="{FF2B5EF4-FFF2-40B4-BE49-F238E27FC236}">
                <a16:creationId xmlns:a16="http://schemas.microsoft.com/office/drawing/2014/main" id="{22EE6520-6212-D162-7EC8-6110C1D29ABE}"/>
              </a:ext>
            </a:extLst>
          </p:cNvPr>
          <p:cNvSpPr/>
          <p:nvPr/>
        </p:nvSpPr>
        <p:spPr>
          <a:xfrm>
            <a:off x="2063552" y="3010485"/>
            <a:ext cx="4241602" cy="509111"/>
          </a:xfrm>
          <a:prstGeom prst="roundRect">
            <a:avLst>
              <a:gd name="adj" fmla="val 480090"/>
            </a:avLst>
          </a:prstGeom>
          <a:solidFill>
            <a:srgbClr val="0A081B"/>
          </a:solidFill>
          <a:ln w="15240">
            <a:solidFill>
              <a:srgbClr val="16FFBB"/>
            </a:solidFill>
            <a:prstDash val="solid"/>
          </a:ln>
        </p:spPr>
        <p:txBody>
          <a:bodyPr/>
          <a:lstStyle/>
          <a:p>
            <a:endParaRPr lang="pt-BR" sz="2000">
              <a:latin typeface="Gotham HTF Book"/>
            </a:endParaRPr>
          </a:p>
        </p:txBody>
      </p:sp>
      <p:pic>
        <p:nvPicPr>
          <p:cNvPr id="7" name="Image 0" descr="preencoded.png">
            <a:extLst>
              <a:ext uri="{FF2B5EF4-FFF2-40B4-BE49-F238E27FC236}">
                <a16:creationId xmlns:a16="http://schemas.microsoft.com/office/drawing/2014/main" id="{7D67FBBE-0549-5119-1EFD-F44909D94E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57015" y="3137644"/>
            <a:ext cx="254556" cy="254556"/>
          </a:xfrm>
          <a:prstGeom prst="rect">
            <a:avLst/>
          </a:prstGeom>
        </p:spPr>
      </p:pic>
      <p:sp>
        <p:nvSpPr>
          <p:cNvPr id="8" name="Text 3">
            <a:extLst>
              <a:ext uri="{FF2B5EF4-FFF2-40B4-BE49-F238E27FC236}">
                <a16:creationId xmlns:a16="http://schemas.microsoft.com/office/drawing/2014/main" id="{6C0A09B2-DAA9-9EA3-AD4D-7E137EE2E775}"/>
              </a:ext>
            </a:extLst>
          </p:cNvPr>
          <p:cNvSpPr/>
          <p:nvPr/>
        </p:nvSpPr>
        <p:spPr>
          <a:xfrm>
            <a:off x="2233216" y="3636278"/>
            <a:ext cx="2387084" cy="235744"/>
          </a:xfrm>
          <a:prstGeom prst="rect">
            <a:avLst/>
          </a:prstGeom>
          <a:noFill/>
          <a:ln/>
        </p:spPr>
        <p:txBody>
          <a:bodyPr wrap="none" lIns="0" tIns="0" rIns="0" bIns="0" rtlCol="0" anchor="t"/>
          <a:lstStyle/>
          <a:p>
            <a:pPr marL="0" indent="0" algn="l">
              <a:lnSpc>
                <a:spcPts val="1850"/>
              </a:lnSpc>
              <a:buNone/>
            </a:pPr>
            <a:r>
              <a:rPr lang="en-US" sz="2000" b="1">
                <a:latin typeface="Gotham HTF Book"/>
                <a:ea typeface="Spline Sans Bold" pitchFamily="34" charset="-122"/>
                <a:cs typeface="Spline Sans Bold" pitchFamily="34" charset="-120"/>
              </a:rPr>
              <a:t>Sintomas agudos e vacinas</a:t>
            </a:r>
            <a:endParaRPr lang="en-US" sz="2000">
              <a:latin typeface="Gotham HTF Book"/>
            </a:endParaRPr>
          </a:p>
        </p:txBody>
      </p:sp>
      <p:sp>
        <p:nvSpPr>
          <p:cNvPr id="9" name="Shape 4">
            <a:extLst>
              <a:ext uri="{FF2B5EF4-FFF2-40B4-BE49-F238E27FC236}">
                <a16:creationId xmlns:a16="http://schemas.microsoft.com/office/drawing/2014/main" id="{262775B8-1F3F-883F-F633-27FE1E33C11E}"/>
              </a:ext>
            </a:extLst>
          </p:cNvPr>
          <p:cNvSpPr/>
          <p:nvPr/>
        </p:nvSpPr>
        <p:spPr>
          <a:xfrm>
            <a:off x="6421835" y="3010485"/>
            <a:ext cx="4241602" cy="509111"/>
          </a:xfrm>
          <a:prstGeom prst="roundRect">
            <a:avLst>
              <a:gd name="adj" fmla="val 480090"/>
            </a:avLst>
          </a:prstGeom>
          <a:solidFill>
            <a:srgbClr val="0A081B"/>
          </a:solidFill>
          <a:ln w="15240">
            <a:solidFill>
              <a:srgbClr val="29DDDA"/>
            </a:solidFill>
            <a:prstDash val="solid"/>
          </a:ln>
        </p:spPr>
        <p:txBody>
          <a:bodyPr/>
          <a:lstStyle/>
          <a:p>
            <a:endParaRPr lang="pt-BR" sz="2000">
              <a:latin typeface="Gotham HTF Book"/>
            </a:endParaRPr>
          </a:p>
        </p:txBody>
      </p:sp>
      <p:pic>
        <p:nvPicPr>
          <p:cNvPr id="10" name="Image 1" descr="preencoded.png">
            <a:extLst>
              <a:ext uri="{FF2B5EF4-FFF2-40B4-BE49-F238E27FC236}">
                <a16:creationId xmlns:a16="http://schemas.microsoft.com/office/drawing/2014/main" id="{348A45F7-856E-1E74-C999-A098830AE8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15298" y="3137644"/>
            <a:ext cx="254556" cy="254556"/>
          </a:xfrm>
          <a:prstGeom prst="rect">
            <a:avLst/>
          </a:prstGeom>
        </p:spPr>
      </p:pic>
      <p:sp>
        <p:nvSpPr>
          <p:cNvPr id="11" name="Text 5">
            <a:extLst>
              <a:ext uri="{FF2B5EF4-FFF2-40B4-BE49-F238E27FC236}">
                <a16:creationId xmlns:a16="http://schemas.microsoft.com/office/drawing/2014/main" id="{47CBDCD1-C2E4-834C-99D7-EDA8B48D86DC}"/>
              </a:ext>
            </a:extLst>
          </p:cNvPr>
          <p:cNvSpPr/>
          <p:nvPr/>
        </p:nvSpPr>
        <p:spPr>
          <a:xfrm>
            <a:off x="6591499" y="3636278"/>
            <a:ext cx="2450783" cy="235744"/>
          </a:xfrm>
          <a:prstGeom prst="rect">
            <a:avLst/>
          </a:prstGeom>
          <a:noFill/>
          <a:ln/>
        </p:spPr>
        <p:txBody>
          <a:bodyPr wrap="none" lIns="0" tIns="0" rIns="0" bIns="0" rtlCol="0" anchor="t"/>
          <a:lstStyle/>
          <a:p>
            <a:pPr marL="0" indent="0" algn="l">
              <a:lnSpc>
                <a:spcPts val="1850"/>
              </a:lnSpc>
              <a:buNone/>
            </a:pPr>
            <a:r>
              <a:rPr lang="en-US" sz="2000" b="1">
                <a:latin typeface="Gotham HTF Book"/>
                <a:ea typeface="Spline Sans Bold" pitchFamily="34" charset="-122"/>
                <a:cs typeface="Spline Sans Bold" pitchFamily="34" charset="-120"/>
              </a:rPr>
              <a:t>Exames e retorno solicitado</a:t>
            </a:r>
            <a:endParaRPr lang="en-US" sz="2000">
              <a:latin typeface="Gotham HTF Book"/>
            </a:endParaRPr>
          </a:p>
        </p:txBody>
      </p:sp>
      <p:sp>
        <p:nvSpPr>
          <p:cNvPr id="12" name="Shape 6">
            <a:extLst>
              <a:ext uri="{FF2B5EF4-FFF2-40B4-BE49-F238E27FC236}">
                <a16:creationId xmlns:a16="http://schemas.microsoft.com/office/drawing/2014/main" id="{1DF1C4E9-674A-BE38-E668-98ABFD2C81FC}"/>
              </a:ext>
            </a:extLst>
          </p:cNvPr>
          <p:cNvSpPr/>
          <p:nvPr/>
        </p:nvSpPr>
        <p:spPr>
          <a:xfrm>
            <a:off x="2063552" y="4158367"/>
            <a:ext cx="4241602" cy="509111"/>
          </a:xfrm>
          <a:prstGeom prst="roundRect">
            <a:avLst>
              <a:gd name="adj" fmla="val 480090"/>
            </a:avLst>
          </a:prstGeom>
          <a:solidFill>
            <a:srgbClr val="0A081B"/>
          </a:solidFill>
          <a:ln w="15240">
            <a:solidFill>
              <a:srgbClr val="37A7E7"/>
            </a:solidFill>
            <a:prstDash val="solid"/>
          </a:ln>
        </p:spPr>
        <p:txBody>
          <a:bodyPr/>
          <a:lstStyle/>
          <a:p>
            <a:endParaRPr lang="pt-BR" sz="2000">
              <a:latin typeface="Gotham HTF Book"/>
            </a:endParaRPr>
          </a:p>
        </p:txBody>
      </p:sp>
      <p:pic>
        <p:nvPicPr>
          <p:cNvPr id="13" name="Image 2" descr="preencoded.png">
            <a:extLst>
              <a:ext uri="{FF2B5EF4-FFF2-40B4-BE49-F238E27FC236}">
                <a16:creationId xmlns:a16="http://schemas.microsoft.com/office/drawing/2014/main" id="{0D3CC7FF-2136-1833-83D9-46D051B2CD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57015" y="4285526"/>
            <a:ext cx="254556" cy="254556"/>
          </a:xfrm>
          <a:prstGeom prst="rect">
            <a:avLst/>
          </a:prstGeom>
        </p:spPr>
      </p:pic>
      <p:sp>
        <p:nvSpPr>
          <p:cNvPr id="14" name="Text 7">
            <a:extLst>
              <a:ext uri="{FF2B5EF4-FFF2-40B4-BE49-F238E27FC236}">
                <a16:creationId xmlns:a16="http://schemas.microsoft.com/office/drawing/2014/main" id="{1FAF883A-E36C-A9AA-54A0-8B6636D51526}"/>
              </a:ext>
            </a:extLst>
          </p:cNvPr>
          <p:cNvSpPr/>
          <p:nvPr/>
        </p:nvSpPr>
        <p:spPr>
          <a:xfrm>
            <a:off x="2233216" y="4784159"/>
            <a:ext cx="3063597" cy="235744"/>
          </a:xfrm>
          <a:prstGeom prst="rect">
            <a:avLst/>
          </a:prstGeom>
          <a:noFill/>
          <a:ln/>
        </p:spPr>
        <p:txBody>
          <a:bodyPr wrap="none" lIns="0" tIns="0" rIns="0" bIns="0" rtlCol="0" anchor="t"/>
          <a:lstStyle/>
          <a:p>
            <a:pPr marL="0" indent="0" algn="l">
              <a:lnSpc>
                <a:spcPts val="1850"/>
              </a:lnSpc>
              <a:buNone/>
            </a:pPr>
            <a:r>
              <a:rPr lang="en-US" sz="2000" b="1">
                <a:latin typeface="Gotham HTF Book"/>
                <a:ea typeface="Spline Sans Bold" pitchFamily="34" charset="-122"/>
                <a:cs typeface="Spline Sans Bold" pitchFamily="34" charset="-120"/>
              </a:rPr>
              <a:t>Pós-operatório e doenças crônicas</a:t>
            </a:r>
            <a:endParaRPr lang="en-US" sz="2000">
              <a:latin typeface="Gotham HTF Book"/>
            </a:endParaRPr>
          </a:p>
        </p:txBody>
      </p:sp>
      <p:sp>
        <p:nvSpPr>
          <p:cNvPr id="15" name="Shape 8">
            <a:extLst>
              <a:ext uri="{FF2B5EF4-FFF2-40B4-BE49-F238E27FC236}">
                <a16:creationId xmlns:a16="http://schemas.microsoft.com/office/drawing/2014/main" id="{7FA6C263-7B95-35D8-2D10-0D8958FFD5B9}"/>
              </a:ext>
            </a:extLst>
          </p:cNvPr>
          <p:cNvSpPr/>
          <p:nvPr/>
        </p:nvSpPr>
        <p:spPr>
          <a:xfrm>
            <a:off x="6421835" y="4158367"/>
            <a:ext cx="4241602" cy="509111"/>
          </a:xfrm>
          <a:prstGeom prst="roundRect">
            <a:avLst>
              <a:gd name="adj" fmla="val 480090"/>
            </a:avLst>
          </a:prstGeom>
          <a:solidFill>
            <a:srgbClr val="0A081B"/>
          </a:solidFill>
          <a:ln w="15240">
            <a:solidFill>
              <a:srgbClr val="091231"/>
            </a:solidFill>
            <a:prstDash val="solid"/>
          </a:ln>
        </p:spPr>
        <p:txBody>
          <a:bodyPr/>
          <a:lstStyle/>
          <a:p>
            <a:endParaRPr lang="pt-BR" sz="2000">
              <a:latin typeface="Gotham HTF Book"/>
            </a:endParaRPr>
          </a:p>
        </p:txBody>
      </p:sp>
      <p:pic>
        <p:nvPicPr>
          <p:cNvPr id="16" name="Image 3" descr="preencoded.png">
            <a:extLst>
              <a:ext uri="{FF2B5EF4-FFF2-40B4-BE49-F238E27FC236}">
                <a16:creationId xmlns:a16="http://schemas.microsoft.com/office/drawing/2014/main" id="{0FC2B496-D7BA-86D7-AB48-B38DDBCB618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15298" y="4285526"/>
            <a:ext cx="254556" cy="254556"/>
          </a:xfrm>
          <a:prstGeom prst="rect">
            <a:avLst/>
          </a:prstGeom>
        </p:spPr>
      </p:pic>
      <p:sp>
        <p:nvSpPr>
          <p:cNvPr id="17" name="Text 9">
            <a:extLst>
              <a:ext uri="{FF2B5EF4-FFF2-40B4-BE49-F238E27FC236}">
                <a16:creationId xmlns:a16="http://schemas.microsoft.com/office/drawing/2014/main" id="{D7E703C7-4297-711A-ABCE-DF0A39A8E449}"/>
              </a:ext>
            </a:extLst>
          </p:cNvPr>
          <p:cNvSpPr/>
          <p:nvPr/>
        </p:nvSpPr>
        <p:spPr>
          <a:xfrm>
            <a:off x="6591499" y="4784159"/>
            <a:ext cx="3384471" cy="235744"/>
          </a:xfrm>
          <a:prstGeom prst="rect">
            <a:avLst/>
          </a:prstGeom>
          <a:noFill/>
          <a:ln/>
        </p:spPr>
        <p:txBody>
          <a:bodyPr wrap="none" lIns="0" tIns="0" rIns="0" bIns="0" rtlCol="0" anchor="t"/>
          <a:lstStyle/>
          <a:p>
            <a:pPr marL="0" indent="0" algn="l">
              <a:lnSpc>
                <a:spcPts val="1850"/>
              </a:lnSpc>
              <a:buNone/>
            </a:pPr>
            <a:r>
              <a:rPr lang="en-US" sz="2000" b="1">
                <a:latin typeface="Gotham HTF Book"/>
                <a:ea typeface="Spline Sans Bold" pitchFamily="34" charset="-122"/>
                <a:cs typeface="Spline Sans Bold" pitchFamily="34" charset="-120"/>
              </a:rPr>
              <a:t>Emergências e check-ups esporádicos</a:t>
            </a:r>
            <a:endParaRPr lang="en-US" sz="2000">
              <a:latin typeface="Gotham HTF Book"/>
            </a:endParaRPr>
          </a:p>
        </p:txBody>
      </p:sp>
    </p:spTree>
    <p:extLst>
      <p:ext uri="{BB962C8B-B14F-4D97-AF65-F5344CB8AC3E}">
        <p14:creationId xmlns:p14="http://schemas.microsoft.com/office/powerpoint/2010/main" val="352050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B1093-E8C3-8514-B8EA-EC8FADE0AA3F}"/>
            </a:ext>
          </a:extLst>
        </p:cNvPr>
        <p:cNvGrpSpPr/>
        <p:nvPr/>
      </p:nvGrpSpPr>
      <p:grpSpPr>
        <a:xfrm>
          <a:off x="0" y="0"/>
          <a:ext cx="0" cy="0"/>
          <a:chOff x="0" y="0"/>
          <a:chExt cx="0" cy="0"/>
        </a:xfrm>
      </p:grpSpPr>
      <p:sp>
        <p:nvSpPr>
          <p:cNvPr id="5" name="Shape 11">
            <a:extLst>
              <a:ext uri="{FF2B5EF4-FFF2-40B4-BE49-F238E27FC236}">
                <a16:creationId xmlns:a16="http://schemas.microsoft.com/office/drawing/2014/main" id="{76A29515-C728-E398-9596-6C856BBCABF8}"/>
              </a:ext>
            </a:extLst>
          </p:cNvPr>
          <p:cNvSpPr/>
          <p:nvPr/>
        </p:nvSpPr>
        <p:spPr>
          <a:xfrm>
            <a:off x="6482830" y="2127133"/>
            <a:ext cx="4811772" cy="3600038"/>
          </a:xfrm>
          <a:prstGeom prst="roundRect">
            <a:avLst>
              <a:gd name="adj" fmla="val 12242"/>
            </a:avLst>
          </a:prstGeom>
          <a:solidFill>
            <a:srgbClr val="091231">
              <a:alpha val="75000"/>
            </a:srgbClr>
          </a:solidFill>
          <a:ln/>
        </p:spPr>
        <p:txBody>
          <a:bodyPr/>
          <a:lstStyle/>
          <a:p>
            <a:endParaRPr lang="pt-BR" sz="2000">
              <a:latin typeface="Gotham HTF Book"/>
            </a:endParaRPr>
          </a:p>
        </p:txBody>
      </p:sp>
      <p:sp>
        <p:nvSpPr>
          <p:cNvPr id="2" name="Título 1">
            <a:extLst>
              <a:ext uri="{FF2B5EF4-FFF2-40B4-BE49-F238E27FC236}">
                <a16:creationId xmlns:a16="http://schemas.microsoft.com/office/drawing/2014/main" id="{BD9ED280-F516-B827-F41D-E514A00F4A6D}"/>
              </a:ext>
            </a:extLst>
          </p:cNvPr>
          <p:cNvSpPr>
            <a:spLocks noGrp="1"/>
          </p:cNvSpPr>
          <p:nvPr>
            <p:ph type="title"/>
          </p:nvPr>
        </p:nvSpPr>
        <p:spPr/>
        <p:txBody>
          <a:bodyPr/>
          <a:lstStyle/>
          <a:p>
            <a:r>
              <a:rPr lang="pt-BR"/>
              <a:t>PROBLEMA MACRO</a:t>
            </a:r>
          </a:p>
        </p:txBody>
      </p:sp>
      <p:sp>
        <p:nvSpPr>
          <p:cNvPr id="4" name="Espaço Reservado para Texto 3">
            <a:extLst>
              <a:ext uri="{FF2B5EF4-FFF2-40B4-BE49-F238E27FC236}">
                <a16:creationId xmlns:a16="http://schemas.microsoft.com/office/drawing/2014/main" id="{654080F8-08A2-DAE8-588F-559BFCDA285A}"/>
              </a:ext>
            </a:extLst>
          </p:cNvPr>
          <p:cNvSpPr>
            <a:spLocks noGrp="1"/>
          </p:cNvSpPr>
          <p:nvPr>
            <p:ph type="body" sz="quarter" idx="13"/>
          </p:nvPr>
        </p:nvSpPr>
        <p:spPr/>
        <p:txBody>
          <a:bodyPr/>
          <a:lstStyle/>
          <a:p>
            <a:r>
              <a:rPr lang="pt-BR"/>
              <a:t>DESAFIO</a:t>
            </a:r>
          </a:p>
        </p:txBody>
      </p:sp>
      <p:sp>
        <p:nvSpPr>
          <p:cNvPr id="18" name="Text 10">
            <a:extLst>
              <a:ext uri="{FF2B5EF4-FFF2-40B4-BE49-F238E27FC236}">
                <a16:creationId xmlns:a16="http://schemas.microsoft.com/office/drawing/2014/main" id="{F2B305EA-FC4C-0F97-2A3C-2B21BACB9DA7}"/>
              </a:ext>
            </a:extLst>
          </p:cNvPr>
          <p:cNvSpPr/>
          <p:nvPr/>
        </p:nvSpPr>
        <p:spPr>
          <a:xfrm>
            <a:off x="1667879" y="1596115"/>
            <a:ext cx="8599884" cy="229195"/>
          </a:xfrm>
          <a:prstGeom prst="rect">
            <a:avLst/>
          </a:prstGeom>
          <a:noFill/>
          <a:ln/>
        </p:spPr>
        <p:txBody>
          <a:bodyPr wrap="none" lIns="0" tIns="0" rIns="0" bIns="0" rtlCol="0" anchor="t"/>
          <a:lstStyle/>
          <a:p>
            <a:pPr marL="0" indent="0" algn="l">
              <a:lnSpc>
                <a:spcPts val="1800"/>
              </a:lnSpc>
              <a:buNone/>
            </a:pPr>
            <a:r>
              <a:rPr lang="en-US" sz="2000">
                <a:latin typeface="Gotham HTF Book"/>
                <a:ea typeface="Barlow" pitchFamily="34" charset="-122"/>
                <a:cs typeface="Barlow" pitchFamily="34" charset="-120"/>
              </a:rPr>
              <a:t>Isso gera problemas relevantes para todo o ecossistema:</a:t>
            </a:r>
            <a:endParaRPr lang="en-US" sz="2000">
              <a:latin typeface="Gotham HTF Book"/>
            </a:endParaRPr>
          </a:p>
        </p:txBody>
      </p:sp>
      <p:sp>
        <p:nvSpPr>
          <p:cNvPr id="19" name="Shape 11">
            <a:extLst>
              <a:ext uri="{FF2B5EF4-FFF2-40B4-BE49-F238E27FC236}">
                <a16:creationId xmlns:a16="http://schemas.microsoft.com/office/drawing/2014/main" id="{3DD2B0C3-5C83-9DE0-36D5-5B41D20069CC}"/>
              </a:ext>
            </a:extLst>
          </p:cNvPr>
          <p:cNvSpPr/>
          <p:nvPr/>
        </p:nvSpPr>
        <p:spPr>
          <a:xfrm>
            <a:off x="1156049" y="2204864"/>
            <a:ext cx="4811772" cy="3600038"/>
          </a:xfrm>
          <a:prstGeom prst="roundRect">
            <a:avLst>
              <a:gd name="adj" fmla="val 12242"/>
            </a:avLst>
          </a:prstGeom>
          <a:solidFill>
            <a:srgbClr val="091231">
              <a:alpha val="75000"/>
            </a:srgbClr>
          </a:solidFill>
          <a:ln/>
        </p:spPr>
        <p:txBody>
          <a:bodyPr/>
          <a:lstStyle/>
          <a:p>
            <a:endParaRPr lang="pt-BR" sz="2000">
              <a:latin typeface="Gotham HTF Book"/>
            </a:endParaRPr>
          </a:p>
        </p:txBody>
      </p:sp>
      <p:sp>
        <p:nvSpPr>
          <p:cNvPr id="20" name="Text 12">
            <a:extLst>
              <a:ext uri="{FF2B5EF4-FFF2-40B4-BE49-F238E27FC236}">
                <a16:creationId xmlns:a16="http://schemas.microsoft.com/office/drawing/2014/main" id="{BD9705C9-B705-5653-F13D-A00F38A6A482}"/>
              </a:ext>
            </a:extLst>
          </p:cNvPr>
          <p:cNvSpPr/>
          <p:nvPr/>
        </p:nvSpPr>
        <p:spPr>
          <a:xfrm>
            <a:off x="1843445" y="2465924"/>
            <a:ext cx="1885950" cy="235744"/>
          </a:xfrm>
          <a:prstGeom prst="rect">
            <a:avLst/>
          </a:prstGeom>
          <a:noFill/>
          <a:ln/>
        </p:spPr>
        <p:txBody>
          <a:bodyPr wrap="none" lIns="0" tIns="0" rIns="0" bIns="0" rtlCol="0" anchor="t"/>
          <a:lstStyle/>
          <a:p>
            <a:pPr marL="0" indent="0" algn="l">
              <a:lnSpc>
                <a:spcPts val="1850"/>
              </a:lnSpc>
              <a:buNone/>
            </a:pPr>
            <a:r>
              <a:rPr lang="en-US" sz="2000" b="1">
                <a:solidFill>
                  <a:schemeClr val="bg1"/>
                </a:solidFill>
                <a:latin typeface="Gotham HTF Book"/>
                <a:ea typeface="Spline Sans Bold" pitchFamily="34" charset="-122"/>
                <a:cs typeface="Spline Sans Bold" pitchFamily="34" charset="-120"/>
              </a:rPr>
              <a:t>Para o responsável</a:t>
            </a:r>
            <a:endParaRPr lang="en-US" sz="2000">
              <a:solidFill>
                <a:schemeClr val="bg1"/>
              </a:solidFill>
              <a:latin typeface="Gotham HTF Book"/>
            </a:endParaRPr>
          </a:p>
        </p:txBody>
      </p:sp>
      <p:sp>
        <p:nvSpPr>
          <p:cNvPr id="21" name="Text 13">
            <a:extLst>
              <a:ext uri="{FF2B5EF4-FFF2-40B4-BE49-F238E27FC236}">
                <a16:creationId xmlns:a16="http://schemas.microsoft.com/office/drawing/2014/main" id="{A41A7355-85DD-1FA6-9300-94E987CEA3ED}"/>
              </a:ext>
            </a:extLst>
          </p:cNvPr>
          <p:cNvSpPr/>
          <p:nvPr/>
        </p:nvSpPr>
        <p:spPr>
          <a:xfrm>
            <a:off x="1843445" y="2818349"/>
            <a:ext cx="3998119" cy="1309330"/>
          </a:xfrm>
          <a:prstGeom prst="rect">
            <a:avLst/>
          </a:prstGeom>
          <a:noFill/>
          <a:ln/>
        </p:spPr>
        <p:txBody>
          <a:bodyPr wrap="square" lIns="0" tIns="0" rIns="0" bIns="0" rtlCol="0" anchor="t"/>
          <a:lstStyle/>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esquecimento</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insegurança</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dificuldade de continuidade</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falta de orientação</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baixa previsibilidade</a:t>
            </a:r>
            <a:endParaRPr lang="en-US" sz="2000">
              <a:solidFill>
                <a:schemeClr val="bg1"/>
              </a:solidFill>
              <a:latin typeface="Gotham HTF Book"/>
            </a:endParaRPr>
          </a:p>
        </p:txBody>
      </p:sp>
      <p:sp>
        <p:nvSpPr>
          <p:cNvPr id="22" name="Text 14">
            <a:extLst>
              <a:ext uri="{FF2B5EF4-FFF2-40B4-BE49-F238E27FC236}">
                <a16:creationId xmlns:a16="http://schemas.microsoft.com/office/drawing/2014/main" id="{EE89AD62-9A0A-9527-0D4C-33A8C972A987}"/>
              </a:ext>
            </a:extLst>
          </p:cNvPr>
          <p:cNvSpPr/>
          <p:nvPr/>
        </p:nvSpPr>
        <p:spPr>
          <a:xfrm>
            <a:off x="1843445" y="4244360"/>
            <a:ext cx="1885950" cy="235744"/>
          </a:xfrm>
          <a:prstGeom prst="rect">
            <a:avLst/>
          </a:prstGeom>
          <a:noFill/>
          <a:ln/>
        </p:spPr>
        <p:txBody>
          <a:bodyPr wrap="none" lIns="0" tIns="0" rIns="0" bIns="0" rtlCol="0" anchor="t"/>
          <a:lstStyle/>
          <a:p>
            <a:pPr marL="0" indent="0" algn="l">
              <a:lnSpc>
                <a:spcPts val="1850"/>
              </a:lnSpc>
              <a:buNone/>
            </a:pPr>
            <a:r>
              <a:rPr lang="en-US" sz="2000" b="1">
                <a:solidFill>
                  <a:schemeClr val="bg1"/>
                </a:solidFill>
                <a:latin typeface="Gotham HTF Book"/>
                <a:ea typeface="Spline Sans Bold" pitchFamily="34" charset="-122"/>
                <a:cs typeface="Spline Sans Bold" pitchFamily="34" charset="-120"/>
              </a:rPr>
              <a:t>Para o pet</a:t>
            </a:r>
            <a:endParaRPr lang="en-US" sz="2000">
              <a:solidFill>
                <a:schemeClr val="bg1"/>
              </a:solidFill>
              <a:latin typeface="Gotham HTF Book"/>
            </a:endParaRPr>
          </a:p>
        </p:txBody>
      </p:sp>
      <p:sp>
        <p:nvSpPr>
          <p:cNvPr id="23" name="Text 15">
            <a:extLst>
              <a:ext uri="{FF2B5EF4-FFF2-40B4-BE49-F238E27FC236}">
                <a16:creationId xmlns:a16="http://schemas.microsoft.com/office/drawing/2014/main" id="{A4C73B06-6927-BD15-FF14-43D97229A5FE}"/>
              </a:ext>
            </a:extLst>
          </p:cNvPr>
          <p:cNvSpPr/>
          <p:nvPr/>
        </p:nvSpPr>
        <p:spPr>
          <a:xfrm>
            <a:off x="1843445" y="4596785"/>
            <a:ext cx="3998119" cy="1039297"/>
          </a:xfrm>
          <a:prstGeom prst="rect">
            <a:avLst/>
          </a:prstGeom>
          <a:noFill/>
          <a:ln/>
        </p:spPr>
        <p:txBody>
          <a:bodyPr wrap="square" lIns="0" tIns="0" rIns="0" bIns="0" rtlCol="0" anchor="t"/>
          <a:lstStyle/>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pior cuidado preventivo</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pior qualidade de vida</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agravamento evitável</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baixa adesão clínica</a:t>
            </a:r>
            <a:endParaRPr lang="en-US" sz="2000">
              <a:solidFill>
                <a:schemeClr val="bg1"/>
              </a:solidFill>
              <a:latin typeface="Gotham HTF Book"/>
            </a:endParaRPr>
          </a:p>
        </p:txBody>
      </p:sp>
      <p:sp>
        <p:nvSpPr>
          <p:cNvPr id="24" name="Text 16">
            <a:extLst>
              <a:ext uri="{FF2B5EF4-FFF2-40B4-BE49-F238E27FC236}">
                <a16:creationId xmlns:a16="http://schemas.microsoft.com/office/drawing/2014/main" id="{6A093AD7-1731-EAE4-EF60-A40987E3E7BE}"/>
              </a:ext>
            </a:extLst>
          </p:cNvPr>
          <p:cNvSpPr/>
          <p:nvPr/>
        </p:nvSpPr>
        <p:spPr>
          <a:xfrm>
            <a:off x="6930110" y="2465924"/>
            <a:ext cx="2122170" cy="235744"/>
          </a:xfrm>
          <a:prstGeom prst="rect">
            <a:avLst/>
          </a:prstGeom>
          <a:noFill/>
          <a:ln/>
        </p:spPr>
        <p:txBody>
          <a:bodyPr wrap="none" lIns="0" tIns="0" rIns="0" bIns="0" rtlCol="0" anchor="t"/>
          <a:lstStyle/>
          <a:p>
            <a:pPr marL="0" indent="0" algn="l">
              <a:lnSpc>
                <a:spcPts val="1850"/>
              </a:lnSpc>
              <a:buNone/>
            </a:pPr>
            <a:r>
              <a:rPr lang="en-US" sz="2000" b="1">
                <a:solidFill>
                  <a:schemeClr val="bg1"/>
                </a:solidFill>
                <a:latin typeface="Gotham HTF Book"/>
                <a:ea typeface="Spline Sans Bold" pitchFamily="34" charset="-122"/>
                <a:cs typeface="Spline Sans Bold" pitchFamily="34" charset="-120"/>
              </a:rPr>
              <a:t>Para clínicas e hospitais</a:t>
            </a:r>
            <a:endParaRPr lang="en-US" sz="2000">
              <a:solidFill>
                <a:schemeClr val="bg1"/>
              </a:solidFill>
              <a:latin typeface="Gotham HTF Book"/>
            </a:endParaRPr>
          </a:p>
        </p:txBody>
      </p:sp>
      <p:sp>
        <p:nvSpPr>
          <p:cNvPr id="25" name="Text 17">
            <a:extLst>
              <a:ext uri="{FF2B5EF4-FFF2-40B4-BE49-F238E27FC236}">
                <a16:creationId xmlns:a16="http://schemas.microsoft.com/office/drawing/2014/main" id="{22B307B0-43C5-0BC8-766E-F32C033181A7}"/>
              </a:ext>
            </a:extLst>
          </p:cNvPr>
          <p:cNvSpPr/>
          <p:nvPr/>
        </p:nvSpPr>
        <p:spPr>
          <a:xfrm>
            <a:off x="6930110" y="2818349"/>
            <a:ext cx="4092893" cy="1309330"/>
          </a:xfrm>
          <a:prstGeom prst="rect">
            <a:avLst/>
          </a:prstGeom>
          <a:noFill/>
          <a:ln/>
        </p:spPr>
        <p:txBody>
          <a:bodyPr wrap="square" lIns="0" tIns="0" rIns="0" bIns="0" rtlCol="0" anchor="t"/>
          <a:lstStyle/>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perda de recorrência</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baixa fidelização</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abandono de tratamentos</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menor LTV</a:t>
            </a:r>
            <a:endParaRPr lang="en-US" sz="2000">
              <a:solidFill>
                <a:schemeClr val="bg1"/>
              </a:solidFill>
              <a:latin typeface="Gotham HTF Book"/>
            </a:endParaRPr>
          </a:p>
          <a:p>
            <a:pPr marL="342900" indent="-342900" algn="l">
              <a:lnSpc>
                <a:spcPts val="1800"/>
              </a:lnSpc>
              <a:buSzPct val="100000"/>
              <a:buChar char="•"/>
            </a:pPr>
            <a:r>
              <a:rPr lang="en-US" sz="2000">
                <a:solidFill>
                  <a:schemeClr val="bg1"/>
                </a:solidFill>
                <a:latin typeface="Gotham HTF Book"/>
                <a:ea typeface="Barlow" pitchFamily="34" charset="-122"/>
                <a:cs typeface="Barlow" pitchFamily="34" charset="-120"/>
              </a:rPr>
              <a:t>subutilização da base</a:t>
            </a:r>
            <a:endParaRPr lang="en-US" sz="2000">
              <a:solidFill>
                <a:schemeClr val="bg1"/>
              </a:solidFill>
              <a:latin typeface="Gotham HTF Book"/>
            </a:endParaRPr>
          </a:p>
        </p:txBody>
      </p:sp>
    </p:spTree>
    <p:extLst>
      <p:ext uri="{BB962C8B-B14F-4D97-AF65-F5344CB8AC3E}">
        <p14:creationId xmlns:p14="http://schemas.microsoft.com/office/powerpoint/2010/main" val="336574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E74F7-FB98-80E7-A2CC-543AD7D63A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5025BA-DA1E-DD13-52CC-DF1325F497A5}"/>
              </a:ext>
            </a:extLst>
          </p:cNvPr>
          <p:cNvSpPr>
            <a:spLocks noGrp="1"/>
          </p:cNvSpPr>
          <p:nvPr>
            <p:ph type="title"/>
          </p:nvPr>
        </p:nvSpPr>
        <p:spPr/>
        <p:txBody>
          <a:bodyPr/>
          <a:lstStyle/>
          <a:p>
            <a:r>
              <a:rPr lang="en-US">
                <a:latin typeface="Spline Sans Bold" pitchFamily="34" charset="0"/>
                <a:ea typeface="Spline Sans Bold" pitchFamily="34" charset="-122"/>
                <a:cs typeface="Spline Sans Bold" pitchFamily="34" charset="-120"/>
              </a:rPr>
              <a:t>ESPAÇOS POSSÍVEIS DA JORNADA</a:t>
            </a:r>
            <a:endParaRPr lang="pt-BR"/>
          </a:p>
        </p:txBody>
      </p:sp>
      <p:sp>
        <p:nvSpPr>
          <p:cNvPr id="4" name="Espaço Reservado para Texto 3">
            <a:extLst>
              <a:ext uri="{FF2B5EF4-FFF2-40B4-BE49-F238E27FC236}">
                <a16:creationId xmlns:a16="http://schemas.microsoft.com/office/drawing/2014/main" id="{74C2C746-555A-E449-0CB1-C2C2E5A12DB6}"/>
              </a:ext>
            </a:extLst>
          </p:cNvPr>
          <p:cNvSpPr>
            <a:spLocks noGrp="1"/>
          </p:cNvSpPr>
          <p:nvPr>
            <p:ph type="body" sz="quarter" idx="13"/>
          </p:nvPr>
        </p:nvSpPr>
        <p:spPr/>
        <p:txBody>
          <a:bodyPr/>
          <a:lstStyle/>
          <a:p>
            <a:r>
              <a:rPr lang="pt-BR"/>
              <a:t>DESAFIO</a:t>
            </a:r>
          </a:p>
        </p:txBody>
      </p:sp>
      <p:sp>
        <p:nvSpPr>
          <p:cNvPr id="3" name="Text 1">
            <a:extLst>
              <a:ext uri="{FF2B5EF4-FFF2-40B4-BE49-F238E27FC236}">
                <a16:creationId xmlns:a16="http://schemas.microsoft.com/office/drawing/2014/main" id="{3A69EAFB-F121-E8BE-4218-A25287F9AFB8}"/>
              </a:ext>
            </a:extLst>
          </p:cNvPr>
          <p:cNvSpPr/>
          <p:nvPr/>
        </p:nvSpPr>
        <p:spPr>
          <a:xfrm>
            <a:off x="1487488" y="1867039"/>
            <a:ext cx="9381649" cy="259199"/>
          </a:xfrm>
          <a:prstGeom prst="rect">
            <a:avLst/>
          </a:prstGeom>
          <a:noFill/>
          <a:ln/>
        </p:spPr>
        <p:txBody>
          <a:bodyPr wrap="none" lIns="0" tIns="0" rIns="0" bIns="0" rtlCol="0" anchor="t"/>
          <a:lstStyle/>
          <a:p>
            <a:pPr marL="0" indent="0" algn="l">
              <a:lnSpc>
                <a:spcPts val="2000"/>
              </a:lnSpc>
              <a:buNone/>
            </a:pPr>
            <a:r>
              <a:rPr lang="en-US" sz="1600" err="1">
                <a:latin typeface="Gotham HTF Book"/>
                <a:ea typeface="Barlow" pitchFamily="34" charset="-122"/>
                <a:cs typeface="Barlow" pitchFamily="34" charset="-120"/>
              </a:rPr>
              <a:t>Os</a:t>
            </a:r>
            <a:r>
              <a:rPr lang="en-US" sz="1600">
                <a:latin typeface="Gotham HTF Book"/>
                <a:ea typeface="Barlow" pitchFamily="34" charset="-122"/>
                <a:cs typeface="Barlow" pitchFamily="34" charset="-120"/>
              </a:rPr>
              <a:t> </a:t>
            </a:r>
            <a:r>
              <a:rPr lang="en-US" sz="1600" err="1">
                <a:latin typeface="Gotham HTF Book"/>
                <a:ea typeface="Barlow" pitchFamily="34" charset="-122"/>
                <a:cs typeface="Barlow" pitchFamily="34" charset="-120"/>
              </a:rPr>
              <a:t>grupos</a:t>
            </a:r>
            <a:r>
              <a:rPr lang="en-US" sz="1600">
                <a:latin typeface="Gotham HTF Book"/>
                <a:ea typeface="Barlow" pitchFamily="34" charset="-122"/>
                <a:cs typeface="Barlow" pitchFamily="34" charset="-120"/>
              </a:rPr>
              <a:t> </a:t>
            </a:r>
            <a:r>
              <a:rPr lang="en-US" sz="1600" err="1">
                <a:latin typeface="Gotham HTF Book"/>
                <a:ea typeface="Barlow" pitchFamily="34" charset="-122"/>
                <a:cs typeface="Barlow" pitchFamily="34" charset="-120"/>
              </a:rPr>
              <a:t>devem</a:t>
            </a:r>
            <a:r>
              <a:rPr lang="en-US" sz="1600">
                <a:latin typeface="Gotham HTF Book"/>
                <a:ea typeface="Barlow" pitchFamily="34" charset="-122"/>
                <a:cs typeface="Barlow" pitchFamily="34" charset="-120"/>
              </a:rPr>
              <a:t> </a:t>
            </a:r>
            <a:r>
              <a:rPr lang="en-US" sz="1600" err="1">
                <a:latin typeface="Gotham HTF Book"/>
                <a:ea typeface="Barlow" pitchFamily="34" charset="-122"/>
                <a:cs typeface="Barlow" pitchFamily="34" charset="-120"/>
              </a:rPr>
              <a:t>pensar</a:t>
            </a:r>
            <a:r>
              <a:rPr lang="en-US" sz="1600">
                <a:latin typeface="Gotham HTF Book"/>
                <a:ea typeface="Barlow" pitchFamily="34" charset="-122"/>
                <a:cs typeface="Barlow" pitchFamily="34" charset="-120"/>
              </a:rPr>
              <a:t> </a:t>
            </a:r>
            <a:r>
              <a:rPr lang="en-US" sz="1600" err="1">
                <a:latin typeface="Gotham HTF Book"/>
                <a:ea typeface="Barlow" pitchFamily="34" charset="-122"/>
                <a:cs typeface="Barlow" pitchFamily="34" charset="-120"/>
              </a:rPr>
              <a:t>na</a:t>
            </a:r>
            <a:r>
              <a:rPr lang="en-US" sz="1600">
                <a:latin typeface="Gotham HTF Book"/>
                <a:ea typeface="Barlow" pitchFamily="34" charset="-122"/>
                <a:cs typeface="Barlow" pitchFamily="34" charset="-120"/>
              </a:rPr>
              <a:t> jornada.</a:t>
            </a:r>
            <a:endParaRPr lang="en-US" sz="1600">
              <a:latin typeface="Gotham HTF Book"/>
            </a:endParaRPr>
          </a:p>
        </p:txBody>
      </p:sp>
      <p:sp>
        <p:nvSpPr>
          <p:cNvPr id="5" name="Shape 2">
            <a:extLst>
              <a:ext uri="{FF2B5EF4-FFF2-40B4-BE49-F238E27FC236}">
                <a16:creationId xmlns:a16="http://schemas.microsoft.com/office/drawing/2014/main" id="{E9810C6A-E331-AAA1-10DC-0056E6772AB7}"/>
              </a:ext>
            </a:extLst>
          </p:cNvPr>
          <p:cNvSpPr/>
          <p:nvPr/>
        </p:nvSpPr>
        <p:spPr>
          <a:xfrm>
            <a:off x="1487488" y="2404249"/>
            <a:ext cx="3034665" cy="3129082"/>
          </a:xfrm>
          <a:prstGeom prst="roundRect">
            <a:avLst>
              <a:gd name="adj" fmla="val 9153"/>
            </a:avLst>
          </a:prstGeom>
          <a:solidFill>
            <a:srgbClr val="0A081B"/>
          </a:solidFill>
          <a:ln w="22860">
            <a:solidFill>
              <a:srgbClr val="16FFBB"/>
            </a:solidFill>
            <a:prstDash val="solid"/>
          </a:ln>
        </p:spPr>
        <p:txBody>
          <a:bodyPr/>
          <a:lstStyle/>
          <a:p>
            <a:endParaRPr lang="pt-BR" sz="2000">
              <a:latin typeface="Gotham HTF Book"/>
            </a:endParaRPr>
          </a:p>
        </p:txBody>
      </p:sp>
      <p:sp>
        <p:nvSpPr>
          <p:cNvPr id="6" name="Text 3">
            <a:extLst>
              <a:ext uri="{FF2B5EF4-FFF2-40B4-BE49-F238E27FC236}">
                <a16:creationId xmlns:a16="http://schemas.microsoft.com/office/drawing/2014/main" id="{2DD8B0CC-DE6E-E268-808D-7CB268A48671}"/>
              </a:ext>
            </a:extLst>
          </p:cNvPr>
          <p:cNvSpPr/>
          <p:nvPr/>
        </p:nvSpPr>
        <p:spPr>
          <a:xfrm>
            <a:off x="1695490" y="2612251"/>
            <a:ext cx="2057400" cy="264795"/>
          </a:xfrm>
          <a:prstGeom prst="rect">
            <a:avLst/>
          </a:prstGeom>
          <a:noFill/>
          <a:ln/>
        </p:spPr>
        <p:txBody>
          <a:bodyPr wrap="none" lIns="0" tIns="0" rIns="0" bIns="0" rtlCol="0" anchor="t"/>
          <a:lstStyle/>
          <a:p>
            <a:pPr marL="0" indent="0" algn="l">
              <a:lnSpc>
                <a:spcPts val="2000"/>
              </a:lnSpc>
              <a:buNone/>
            </a:pPr>
            <a:r>
              <a:rPr lang="en-US" b="1">
                <a:solidFill>
                  <a:schemeClr val="bg1"/>
                </a:solidFill>
                <a:latin typeface="Gotham HTF Book"/>
                <a:ea typeface="Spline Sans Bold" pitchFamily="34" charset="-122"/>
                <a:cs typeface="Spline Sans Bold" pitchFamily="34" charset="-120"/>
              </a:rPr>
              <a:t>🐾 Preventivo</a:t>
            </a:r>
            <a:endParaRPr lang="en-US">
              <a:solidFill>
                <a:schemeClr val="bg1"/>
              </a:solidFill>
              <a:latin typeface="Gotham HTF Book"/>
            </a:endParaRPr>
          </a:p>
        </p:txBody>
      </p:sp>
      <p:sp>
        <p:nvSpPr>
          <p:cNvPr id="7" name="Text 4">
            <a:extLst>
              <a:ext uri="{FF2B5EF4-FFF2-40B4-BE49-F238E27FC236}">
                <a16:creationId xmlns:a16="http://schemas.microsoft.com/office/drawing/2014/main" id="{AB9D5631-972C-0ADB-A33C-55A47728CB86}"/>
              </a:ext>
            </a:extLst>
          </p:cNvPr>
          <p:cNvSpPr/>
          <p:nvPr/>
        </p:nvSpPr>
        <p:spPr>
          <a:xfrm>
            <a:off x="1695490" y="2960271"/>
            <a:ext cx="2618661" cy="2365058"/>
          </a:xfrm>
          <a:prstGeom prst="rect">
            <a:avLst/>
          </a:prstGeom>
          <a:noFill/>
          <a:ln/>
        </p:spPr>
        <p:txBody>
          <a:bodyPr wrap="square" lIns="0" tIns="0" rIns="0" bIns="0" rtlCol="0" anchor="t"/>
          <a:lstStyle/>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vacinação</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check-up</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envelhecimento</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nutrição</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bem-estar</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obesidade</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raça / predisposição genética</a:t>
            </a:r>
            <a:endParaRPr lang="en-US" sz="1600">
              <a:solidFill>
                <a:schemeClr val="bg1"/>
              </a:solidFill>
              <a:latin typeface="Gotham HTF Book"/>
            </a:endParaRPr>
          </a:p>
        </p:txBody>
      </p:sp>
      <p:sp>
        <p:nvSpPr>
          <p:cNvPr id="8" name="Shape 5">
            <a:extLst>
              <a:ext uri="{FF2B5EF4-FFF2-40B4-BE49-F238E27FC236}">
                <a16:creationId xmlns:a16="http://schemas.microsoft.com/office/drawing/2014/main" id="{EBC18506-CE05-07AA-7453-4D00A581E0C3}"/>
              </a:ext>
            </a:extLst>
          </p:cNvPr>
          <p:cNvSpPr/>
          <p:nvPr/>
        </p:nvSpPr>
        <p:spPr>
          <a:xfrm>
            <a:off x="4660980" y="2404249"/>
            <a:ext cx="3034665" cy="3129082"/>
          </a:xfrm>
          <a:prstGeom prst="roundRect">
            <a:avLst>
              <a:gd name="adj" fmla="val 9153"/>
            </a:avLst>
          </a:prstGeom>
          <a:solidFill>
            <a:srgbClr val="0A081B"/>
          </a:solidFill>
          <a:ln w="22860">
            <a:solidFill>
              <a:srgbClr val="29DDDA"/>
            </a:solidFill>
            <a:prstDash val="solid"/>
          </a:ln>
        </p:spPr>
        <p:txBody>
          <a:bodyPr/>
          <a:lstStyle/>
          <a:p>
            <a:endParaRPr lang="pt-BR" sz="2000">
              <a:latin typeface="Gotham HTF Book"/>
            </a:endParaRPr>
          </a:p>
        </p:txBody>
      </p:sp>
      <p:sp>
        <p:nvSpPr>
          <p:cNvPr id="9" name="Text 6">
            <a:extLst>
              <a:ext uri="{FF2B5EF4-FFF2-40B4-BE49-F238E27FC236}">
                <a16:creationId xmlns:a16="http://schemas.microsoft.com/office/drawing/2014/main" id="{835CE842-F611-37FD-BF0A-75500B34BBDB}"/>
              </a:ext>
            </a:extLst>
          </p:cNvPr>
          <p:cNvSpPr/>
          <p:nvPr/>
        </p:nvSpPr>
        <p:spPr>
          <a:xfrm>
            <a:off x="4868982" y="2612251"/>
            <a:ext cx="2276832" cy="264795"/>
          </a:xfrm>
          <a:prstGeom prst="rect">
            <a:avLst/>
          </a:prstGeom>
          <a:noFill/>
          <a:ln/>
        </p:spPr>
        <p:txBody>
          <a:bodyPr wrap="none" lIns="0" tIns="0" rIns="0" bIns="0" rtlCol="0" anchor="t"/>
          <a:lstStyle/>
          <a:p>
            <a:pPr marL="0" indent="0" algn="l">
              <a:lnSpc>
                <a:spcPts val="2000"/>
              </a:lnSpc>
              <a:buNone/>
            </a:pPr>
            <a:r>
              <a:rPr lang="en-US" b="1">
                <a:solidFill>
                  <a:schemeClr val="bg1"/>
                </a:solidFill>
                <a:latin typeface="Gotham HTF Book"/>
                <a:ea typeface="Spline Sans Bold" pitchFamily="34" charset="-122"/>
                <a:cs typeface="Spline Sans Bold" pitchFamily="34" charset="-120"/>
              </a:rPr>
              <a:t>🏥 Continuidade clínica</a:t>
            </a:r>
            <a:endParaRPr lang="en-US">
              <a:solidFill>
                <a:schemeClr val="bg1"/>
              </a:solidFill>
              <a:latin typeface="Gotham HTF Book"/>
            </a:endParaRPr>
          </a:p>
        </p:txBody>
      </p:sp>
      <p:sp>
        <p:nvSpPr>
          <p:cNvPr id="10" name="Text 7">
            <a:extLst>
              <a:ext uri="{FF2B5EF4-FFF2-40B4-BE49-F238E27FC236}">
                <a16:creationId xmlns:a16="http://schemas.microsoft.com/office/drawing/2014/main" id="{9CE639F0-CA9E-7368-7381-AC1BAB4DE461}"/>
              </a:ext>
            </a:extLst>
          </p:cNvPr>
          <p:cNvSpPr/>
          <p:nvPr/>
        </p:nvSpPr>
        <p:spPr>
          <a:xfrm>
            <a:off x="4868982" y="2960271"/>
            <a:ext cx="2618661" cy="2105858"/>
          </a:xfrm>
          <a:prstGeom prst="rect">
            <a:avLst/>
          </a:prstGeom>
          <a:noFill/>
          <a:ln/>
        </p:spPr>
        <p:txBody>
          <a:bodyPr wrap="square" lIns="0" tIns="0" rIns="0" bIns="0" rtlCol="0" anchor="t"/>
          <a:lstStyle/>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retorno</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reconsulta</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exames</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pós-operatório</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doenças crônicas</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adesão medicamentosa</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reabilitação</a:t>
            </a:r>
            <a:endParaRPr lang="en-US" sz="1600">
              <a:solidFill>
                <a:schemeClr val="bg1"/>
              </a:solidFill>
              <a:latin typeface="Gotham HTF Book"/>
            </a:endParaRPr>
          </a:p>
        </p:txBody>
      </p:sp>
      <p:sp>
        <p:nvSpPr>
          <p:cNvPr id="11" name="Shape 8">
            <a:extLst>
              <a:ext uri="{FF2B5EF4-FFF2-40B4-BE49-F238E27FC236}">
                <a16:creationId xmlns:a16="http://schemas.microsoft.com/office/drawing/2014/main" id="{4D79966A-0A54-0590-79E5-B1AE410228D7}"/>
              </a:ext>
            </a:extLst>
          </p:cNvPr>
          <p:cNvSpPr/>
          <p:nvPr/>
        </p:nvSpPr>
        <p:spPr>
          <a:xfrm>
            <a:off x="7834471" y="2404249"/>
            <a:ext cx="3034665" cy="3129082"/>
          </a:xfrm>
          <a:prstGeom prst="roundRect">
            <a:avLst>
              <a:gd name="adj" fmla="val 9153"/>
            </a:avLst>
          </a:prstGeom>
          <a:solidFill>
            <a:srgbClr val="0A081B"/>
          </a:solidFill>
          <a:ln w="22860">
            <a:solidFill>
              <a:srgbClr val="37A7E7"/>
            </a:solidFill>
            <a:prstDash val="solid"/>
          </a:ln>
        </p:spPr>
        <p:txBody>
          <a:bodyPr/>
          <a:lstStyle/>
          <a:p>
            <a:endParaRPr lang="pt-BR" sz="2000">
              <a:latin typeface="Gotham HTF Book"/>
            </a:endParaRPr>
          </a:p>
        </p:txBody>
      </p:sp>
      <p:sp>
        <p:nvSpPr>
          <p:cNvPr id="12" name="Text 9">
            <a:extLst>
              <a:ext uri="{FF2B5EF4-FFF2-40B4-BE49-F238E27FC236}">
                <a16:creationId xmlns:a16="http://schemas.microsoft.com/office/drawing/2014/main" id="{5DE310BC-5C57-2062-C331-FC979A50044D}"/>
              </a:ext>
            </a:extLst>
          </p:cNvPr>
          <p:cNvSpPr/>
          <p:nvPr/>
        </p:nvSpPr>
        <p:spPr>
          <a:xfrm>
            <a:off x="8042474" y="2612251"/>
            <a:ext cx="2117646" cy="264795"/>
          </a:xfrm>
          <a:prstGeom prst="rect">
            <a:avLst/>
          </a:prstGeom>
          <a:noFill/>
          <a:ln/>
        </p:spPr>
        <p:txBody>
          <a:bodyPr wrap="none" lIns="0" tIns="0" rIns="0" bIns="0" rtlCol="0" anchor="t"/>
          <a:lstStyle/>
          <a:p>
            <a:pPr marL="0" indent="0" algn="l">
              <a:lnSpc>
                <a:spcPts val="2000"/>
              </a:lnSpc>
              <a:buNone/>
            </a:pPr>
            <a:r>
              <a:rPr lang="en-US" b="1">
                <a:solidFill>
                  <a:schemeClr val="bg1"/>
                </a:solidFill>
                <a:latin typeface="Gotham HTF Book"/>
                <a:ea typeface="Spline Sans Bold" pitchFamily="34" charset="-122"/>
                <a:cs typeface="Spline Sans Bold" pitchFamily="34" charset="-120"/>
              </a:rPr>
              <a:t>🚨 Emergência e risco</a:t>
            </a:r>
            <a:endParaRPr lang="en-US">
              <a:solidFill>
                <a:schemeClr val="bg1"/>
              </a:solidFill>
              <a:latin typeface="Gotham HTF Book"/>
            </a:endParaRPr>
          </a:p>
        </p:txBody>
      </p:sp>
      <p:sp>
        <p:nvSpPr>
          <p:cNvPr id="13" name="Text 10">
            <a:extLst>
              <a:ext uri="{FF2B5EF4-FFF2-40B4-BE49-F238E27FC236}">
                <a16:creationId xmlns:a16="http://schemas.microsoft.com/office/drawing/2014/main" id="{9CA32C0B-12B9-05D0-DE09-0193E10B2D33}"/>
              </a:ext>
            </a:extLst>
          </p:cNvPr>
          <p:cNvSpPr/>
          <p:nvPr/>
        </p:nvSpPr>
        <p:spPr>
          <a:xfrm>
            <a:off x="8042474" y="2960271"/>
            <a:ext cx="2618661" cy="1490305"/>
          </a:xfrm>
          <a:prstGeom prst="rect">
            <a:avLst/>
          </a:prstGeom>
          <a:noFill/>
          <a:ln/>
        </p:spPr>
        <p:txBody>
          <a:bodyPr wrap="square" lIns="0" tIns="0" rIns="0" bIns="0" rtlCol="0" anchor="t"/>
          <a:lstStyle/>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sinais de agravamento</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triagem</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red flags</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urgência</a:t>
            </a:r>
            <a:endParaRPr lang="en-US" sz="1600">
              <a:solidFill>
                <a:schemeClr val="bg1"/>
              </a:solidFill>
              <a:latin typeface="Gotham HTF Book"/>
            </a:endParaRPr>
          </a:p>
          <a:p>
            <a:pPr marL="342900" indent="-342900" algn="l">
              <a:lnSpc>
                <a:spcPts val="2000"/>
              </a:lnSpc>
              <a:buSzPct val="100000"/>
              <a:buChar char="•"/>
            </a:pPr>
            <a:r>
              <a:rPr lang="en-US" sz="1600">
                <a:solidFill>
                  <a:schemeClr val="bg1"/>
                </a:solidFill>
                <a:latin typeface="Gotham HTF Book"/>
                <a:ea typeface="Barlow" pitchFamily="34" charset="-122"/>
                <a:cs typeface="Barlow" pitchFamily="34" charset="-120"/>
              </a:rPr>
              <a:t>pronto atendimento</a:t>
            </a:r>
            <a:endParaRPr lang="en-US" sz="1600">
              <a:solidFill>
                <a:schemeClr val="bg1"/>
              </a:solidFill>
              <a:latin typeface="Gotham HTF Book"/>
            </a:endParaRPr>
          </a:p>
        </p:txBody>
      </p:sp>
    </p:spTree>
    <p:extLst>
      <p:ext uri="{BB962C8B-B14F-4D97-AF65-F5344CB8AC3E}">
        <p14:creationId xmlns:p14="http://schemas.microsoft.com/office/powerpoint/2010/main" val="1082543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6E933-2960-17EF-8A3C-600C29CCA2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123E4D-2449-0A81-F2F2-2843EF1BCB7B}"/>
              </a:ext>
            </a:extLst>
          </p:cNvPr>
          <p:cNvSpPr>
            <a:spLocks noGrp="1"/>
          </p:cNvSpPr>
          <p:nvPr>
            <p:ph type="title"/>
          </p:nvPr>
        </p:nvSpPr>
        <p:spPr/>
        <p:txBody>
          <a:bodyPr/>
          <a:lstStyle/>
          <a:p>
            <a:r>
              <a:rPr lang="en-US">
                <a:latin typeface="Spline Sans Bold" pitchFamily="34" charset="0"/>
                <a:ea typeface="Spline Sans Bold" pitchFamily="34" charset="-122"/>
                <a:cs typeface="Spline Sans Bold" pitchFamily="34" charset="-120"/>
              </a:rPr>
              <a:t>ESPAÇOS POSSÍVEIS DA JORNADA</a:t>
            </a:r>
            <a:endParaRPr lang="pt-BR"/>
          </a:p>
        </p:txBody>
      </p:sp>
      <p:sp>
        <p:nvSpPr>
          <p:cNvPr id="4" name="Espaço Reservado para Texto 3">
            <a:extLst>
              <a:ext uri="{FF2B5EF4-FFF2-40B4-BE49-F238E27FC236}">
                <a16:creationId xmlns:a16="http://schemas.microsoft.com/office/drawing/2014/main" id="{70720962-CB63-79DF-C63A-B7EBD80DAB94}"/>
              </a:ext>
            </a:extLst>
          </p:cNvPr>
          <p:cNvSpPr>
            <a:spLocks noGrp="1"/>
          </p:cNvSpPr>
          <p:nvPr>
            <p:ph type="body" sz="quarter" idx="13"/>
          </p:nvPr>
        </p:nvSpPr>
        <p:spPr/>
        <p:txBody>
          <a:bodyPr/>
          <a:lstStyle/>
          <a:p>
            <a:r>
              <a:rPr lang="pt-BR"/>
              <a:t>DESAFIO</a:t>
            </a:r>
          </a:p>
        </p:txBody>
      </p:sp>
      <p:sp>
        <p:nvSpPr>
          <p:cNvPr id="14" name="Shape 11">
            <a:extLst>
              <a:ext uri="{FF2B5EF4-FFF2-40B4-BE49-F238E27FC236}">
                <a16:creationId xmlns:a16="http://schemas.microsoft.com/office/drawing/2014/main" id="{53E22DBF-06FF-75D1-AAF4-EDAC32D5941D}"/>
              </a:ext>
            </a:extLst>
          </p:cNvPr>
          <p:cNvSpPr/>
          <p:nvPr/>
        </p:nvSpPr>
        <p:spPr>
          <a:xfrm>
            <a:off x="1775520" y="2636912"/>
            <a:ext cx="4621411" cy="2562106"/>
          </a:xfrm>
          <a:prstGeom prst="roundRect">
            <a:avLst>
              <a:gd name="adj" fmla="val 10841"/>
            </a:avLst>
          </a:prstGeom>
          <a:solidFill>
            <a:srgbClr val="0A081B"/>
          </a:solidFill>
          <a:ln w="22860">
            <a:solidFill>
              <a:srgbClr val="091231"/>
            </a:solidFill>
            <a:prstDash val="solid"/>
          </a:ln>
        </p:spPr>
        <p:txBody>
          <a:bodyPr/>
          <a:lstStyle/>
          <a:p>
            <a:endParaRPr lang="pt-BR" sz="2000">
              <a:latin typeface="Gotham HTF Book"/>
            </a:endParaRPr>
          </a:p>
        </p:txBody>
      </p:sp>
      <p:sp>
        <p:nvSpPr>
          <p:cNvPr id="15" name="Text 12">
            <a:extLst>
              <a:ext uri="{FF2B5EF4-FFF2-40B4-BE49-F238E27FC236}">
                <a16:creationId xmlns:a16="http://schemas.microsoft.com/office/drawing/2014/main" id="{B22CBA30-3674-76AF-7ABA-48E5C2AE346B}"/>
              </a:ext>
            </a:extLst>
          </p:cNvPr>
          <p:cNvSpPr/>
          <p:nvPr/>
        </p:nvSpPr>
        <p:spPr>
          <a:xfrm>
            <a:off x="1983522" y="2844914"/>
            <a:ext cx="2057400" cy="264795"/>
          </a:xfrm>
          <a:prstGeom prst="rect">
            <a:avLst/>
          </a:prstGeom>
          <a:noFill/>
          <a:ln/>
        </p:spPr>
        <p:txBody>
          <a:bodyPr wrap="none" lIns="0" tIns="0" rIns="0" bIns="0" rtlCol="0" anchor="t"/>
          <a:lstStyle/>
          <a:p>
            <a:pPr marL="0" indent="0" algn="l">
              <a:lnSpc>
                <a:spcPts val="2000"/>
              </a:lnSpc>
              <a:buNone/>
            </a:pPr>
            <a:r>
              <a:rPr lang="en-US" b="1">
                <a:solidFill>
                  <a:srgbClr val="000000"/>
                </a:solidFill>
                <a:latin typeface="Gotham HTF Book"/>
                <a:ea typeface="Spline Sans Bold" pitchFamily="34" charset="-122"/>
                <a:cs typeface="Spline Sans Bold" pitchFamily="34" charset="-120"/>
              </a:rPr>
              <a:t>🤝</a:t>
            </a:r>
            <a:r>
              <a:rPr lang="en-US" b="1">
                <a:solidFill>
                  <a:srgbClr val="E0E4E6"/>
                </a:solidFill>
                <a:latin typeface="Gotham HTF Book"/>
                <a:ea typeface="Spline Sans Bold" pitchFamily="34" charset="-122"/>
                <a:cs typeface="Spline Sans Bold" pitchFamily="34" charset="-120"/>
              </a:rPr>
              <a:t> Relacionamento</a:t>
            </a:r>
            <a:endParaRPr lang="en-US">
              <a:latin typeface="Gotham HTF Book"/>
            </a:endParaRPr>
          </a:p>
        </p:txBody>
      </p:sp>
      <p:sp>
        <p:nvSpPr>
          <p:cNvPr id="16" name="Text 13">
            <a:extLst>
              <a:ext uri="{FF2B5EF4-FFF2-40B4-BE49-F238E27FC236}">
                <a16:creationId xmlns:a16="http://schemas.microsoft.com/office/drawing/2014/main" id="{0A7D0D40-42E7-3C26-F6AD-0CE0D3787EA9}"/>
              </a:ext>
            </a:extLst>
          </p:cNvPr>
          <p:cNvSpPr/>
          <p:nvPr/>
        </p:nvSpPr>
        <p:spPr>
          <a:xfrm>
            <a:off x="1983522" y="3192934"/>
            <a:ext cx="4205407" cy="1798082"/>
          </a:xfrm>
          <a:prstGeom prst="rect">
            <a:avLst/>
          </a:prstGeom>
          <a:noFill/>
          <a:ln/>
        </p:spPr>
        <p:txBody>
          <a:bodyPr wrap="square" lIns="0" tIns="0" rIns="0" bIns="0" rtlCol="0" anchor="t"/>
          <a:lstStyle/>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vínculo com clínica</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educação contínua</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programas de saúde</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assinatura</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benefícios</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comunidade</a:t>
            </a:r>
            <a:endParaRPr lang="en-US" sz="1600">
              <a:latin typeface="Gotham HTF Book"/>
            </a:endParaRPr>
          </a:p>
        </p:txBody>
      </p:sp>
      <p:sp>
        <p:nvSpPr>
          <p:cNvPr id="17" name="Shape 14">
            <a:extLst>
              <a:ext uri="{FF2B5EF4-FFF2-40B4-BE49-F238E27FC236}">
                <a16:creationId xmlns:a16="http://schemas.microsoft.com/office/drawing/2014/main" id="{FD516A73-852A-8FFE-0775-64E7DB4FD86A}"/>
              </a:ext>
            </a:extLst>
          </p:cNvPr>
          <p:cNvSpPr/>
          <p:nvPr/>
        </p:nvSpPr>
        <p:spPr>
          <a:xfrm>
            <a:off x="6535757" y="2636912"/>
            <a:ext cx="4621411" cy="2562106"/>
          </a:xfrm>
          <a:prstGeom prst="roundRect">
            <a:avLst>
              <a:gd name="adj" fmla="val 10841"/>
            </a:avLst>
          </a:prstGeom>
          <a:solidFill>
            <a:srgbClr val="0A081B"/>
          </a:solidFill>
          <a:ln w="22860">
            <a:solidFill>
              <a:srgbClr val="16FFBB"/>
            </a:solidFill>
            <a:prstDash val="solid"/>
          </a:ln>
        </p:spPr>
        <p:txBody>
          <a:bodyPr/>
          <a:lstStyle/>
          <a:p>
            <a:endParaRPr lang="pt-BR" sz="2000">
              <a:latin typeface="Gotham HTF Book"/>
            </a:endParaRPr>
          </a:p>
        </p:txBody>
      </p:sp>
      <p:sp>
        <p:nvSpPr>
          <p:cNvPr id="18" name="Text 15">
            <a:extLst>
              <a:ext uri="{FF2B5EF4-FFF2-40B4-BE49-F238E27FC236}">
                <a16:creationId xmlns:a16="http://schemas.microsoft.com/office/drawing/2014/main" id="{D5E9CD15-784D-C794-2D9D-0ACCC1B85B40}"/>
              </a:ext>
            </a:extLst>
          </p:cNvPr>
          <p:cNvSpPr/>
          <p:nvPr/>
        </p:nvSpPr>
        <p:spPr>
          <a:xfrm>
            <a:off x="6743760" y="2844914"/>
            <a:ext cx="2218015" cy="264795"/>
          </a:xfrm>
          <a:prstGeom prst="rect">
            <a:avLst/>
          </a:prstGeom>
          <a:noFill/>
          <a:ln/>
        </p:spPr>
        <p:txBody>
          <a:bodyPr wrap="none" lIns="0" tIns="0" rIns="0" bIns="0" rtlCol="0" anchor="t"/>
          <a:lstStyle/>
          <a:p>
            <a:pPr marL="0" indent="0" algn="l">
              <a:lnSpc>
                <a:spcPts val="2000"/>
              </a:lnSpc>
              <a:buNone/>
            </a:pPr>
            <a:r>
              <a:rPr lang="en-US" b="1">
                <a:solidFill>
                  <a:srgbClr val="000000"/>
                </a:solidFill>
                <a:latin typeface="Gotham HTF Book"/>
                <a:ea typeface="Spline Sans Bold" pitchFamily="34" charset="-122"/>
                <a:cs typeface="Spline Sans Bold" pitchFamily="34" charset="-120"/>
              </a:rPr>
              <a:t>📊</a:t>
            </a:r>
            <a:r>
              <a:rPr lang="en-US" b="1">
                <a:solidFill>
                  <a:srgbClr val="E0E4E6"/>
                </a:solidFill>
                <a:latin typeface="Gotham HTF Book"/>
                <a:ea typeface="Spline Sans Bold" pitchFamily="34" charset="-122"/>
                <a:cs typeface="Spline Sans Bold" pitchFamily="34" charset="-120"/>
              </a:rPr>
              <a:t> Inteligência e dados</a:t>
            </a:r>
            <a:endParaRPr lang="en-US">
              <a:latin typeface="Gotham HTF Book"/>
            </a:endParaRPr>
          </a:p>
        </p:txBody>
      </p:sp>
      <p:sp>
        <p:nvSpPr>
          <p:cNvPr id="19" name="Text 16">
            <a:extLst>
              <a:ext uri="{FF2B5EF4-FFF2-40B4-BE49-F238E27FC236}">
                <a16:creationId xmlns:a16="http://schemas.microsoft.com/office/drawing/2014/main" id="{1784FF5C-2E34-040E-2B7F-4BC2AF13B49E}"/>
              </a:ext>
            </a:extLst>
          </p:cNvPr>
          <p:cNvSpPr/>
          <p:nvPr/>
        </p:nvSpPr>
        <p:spPr>
          <a:xfrm>
            <a:off x="6743760" y="3192934"/>
            <a:ext cx="4205407" cy="1490305"/>
          </a:xfrm>
          <a:prstGeom prst="rect">
            <a:avLst/>
          </a:prstGeom>
          <a:noFill/>
          <a:ln/>
        </p:spPr>
        <p:txBody>
          <a:bodyPr wrap="square" lIns="0" tIns="0" rIns="0" bIns="0" rtlCol="0" anchor="t"/>
          <a:lstStyle/>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score de risco</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recomendação de próximos passos</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alertas preditivos</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histórico longitudinal</a:t>
            </a:r>
            <a:endParaRPr lang="en-US" sz="1600">
              <a:latin typeface="Gotham HTF Book"/>
            </a:endParaRPr>
          </a:p>
          <a:p>
            <a:pPr marL="342900" indent="-342900" algn="l">
              <a:lnSpc>
                <a:spcPts val="2000"/>
              </a:lnSpc>
              <a:buSzPct val="100000"/>
              <a:buChar char="•"/>
            </a:pPr>
            <a:r>
              <a:rPr lang="en-US" sz="1600">
                <a:solidFill>
                  <a:srgbClr val="E0E4E6"/>
                </a:solidFill>
                <a:latin typeface="Gotham HTF Book"/>
                <a:ea typeface="Barlow" pitchFamily="34" charset="-122"/>
                <a:cs typeface="Barlow" pitchFamily="34" charset="-120"/>
              </a:rPr>
              <a:t>analytics para clínica</a:t>
            </a:r>
            <a:endParaRPr lang="en-US" sz="1600">
              <a:latin typeface="Gotham HTF Book"/>
            </a:endParaRPr>
          </a:p>
        </p:txBody>
      </p:sp>
    </p:spTree>
    <p:extLst>
      <p:ext uri="{BB962C8B-B14F-4D97-AF65-F5344CB8AC3E}">
        <p14:creationId xmlns:p14="http://schemas.microsoft.com/office/powerpoint/2010/main" val="3033946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4B10-0A6E-B7C4-88B3-5AC75E017E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C48F5D-D904-5D7E-B53E-EAA8181A6658}"/>
              </a:ext>
            </a:extLst>
          </p:cNvPr>
          <p:cNvSpPr>
            <a:spLocks noGrp="1"/>
          </p:cNvSpPr>
          <p:nvPr>
            <p:ph type="title"/>
          </p:nvPr>
        </p:nvSpPr>
        <p:spPr>
          <a:xfrm>
            <a:off x="838200" y="365125"/>
            <a:ext cx="11018440" cy="1325563"/>
          </a:xfrm>
        </p:spPr>
        <p:txBody>
          <a:bodyPr/>
          <a:lstStyle/>
          <a:p>
            <a:r>
              <a:rPr lang="en-US">
                <a:latin typeface="Gotham HTF Book"/>
                <a:ea typeface="Spline Sans Bold" pitchFamily="34" charset="-122"/>
                <a:cs typeface="Spline Sans Bold" pitchFamily="34" charset="-120"/>
              </a:rPr>
              <a:t>FORMATOS DE SOLUÇÃO PERMITIDOS</a:t>
            </a:r>
            <a:endParaRPr lang="pt-BR">
              <a:latin typeface="Gotham HTF Book"/>
            </a:endParaRPr>
          </a:p>
        </p:txBody>
      </p:sp>
      <p:sp>
        <p:nvSpPr>
          <p:cNvPr id="4" name="Espaço Reservado para Texto 3">
            <a:extLst>
              <a:ext uri="{FF2B5EF4-FFF2-40B4-BE49-F238E27FC236}">
                <a16:creationId xmlns:a16="http://schemas.microsoft.com/office/drawing/2014/main" id="{E229FADE-C01B-191A-2904-B251253F63CD}"/>
              </a:ext>
            </a:extLst>
          </p:cNvPr>
          <p:cNvSpPr>
            <a:spLocks noGrp="1"/>
          </p:cNvSpPr>
          <p:nvPr>
            <p:ph type="body" sz="quarter" idx="13"/>
          </p:nvPr>
        </p:nvSpPr>
        <p:spPr/>
        <p:txBody>
          <a:bodyPr/>
          <a:lstStyle/>
          <a:p>
            <a:r>
              <a:rPr lang="pt-BR"/>
              <a:t>DESAFIO</a:t>
            </a:r>
          </a:p>
        </p:txBody>
      </p:sp>
      <p:sp>
        <p:nvSpPr>
          <p:cNvPr id="5" name="Text 1">
            <a:extLst>
              <a:ext uri="{FF2B5EF4-FFF2-40B4-BE49-F238E27FC236}">
                <a16:creationId xmlns:a16="http://schemas.microsoft.com/office/drawing/2014/main" id="{55546124-CA38-DC4A-53A4-12E99C516806}"/>
              </a:ext>
            </a:extLst>
          </p:cNvPr>
          <p:cNvSpPr/>
          <p:nvPr/>
        </p:nvSpPr>
        <p:spPr>
          <a:xfrm>
            <a:off x="983432" y="1499056"/>
            <a:ext cx="12118062" cy="376714"/>
          </a:xfrm>
          <a:prstGeom prst="rect">
            <a:avLst/>
          </a:prstGeom>
          <a:noFill/>
          <a:ln/>
        </p:spPr>
        <p:txBody>
          <a:bodyPr wrap="none" lIns="0" tIns="0" rIns="0" bIns="0" rtlCol="0" anchor="t"/>
          <a:lstStyle/>
          <a:p>
            <a:pPr marL="0" indent="0" algn="l">
              <a:lnSpc>
                <a:spcPts val="2950"/>
              </a:lnSpc>
              <a:buNone/>
            </a:pPr>
            <a:r>
              <a:rPr lang="en-US">
                <a:latin typeface="Gotham HTF Book"/>
                <a:ea typeface="Barlow" pitchFamily="34" charset="-122"/>
                <a:cs typeface="Barlow" pitchFamily="34" charset="-120"/>
              </a:rPr>
              <a:t>O </a:t>
            </a:r>
            <a:r>
              <a:rPr lang="en-US" err="1">
                <a:latin typeface="Gotham HTF Book"/>
                <a:ea typeface="Barlow" pitchFamily="34" charset="-122"/>
                <a:cs typeface="Barlow" pitchFamily="34" charset="-120"/>
              </a:rPr>
              <a:t>grupo</a:t>
            </a:r>
            <a:r>
              <a:rPr lang="en-US">
                <a:latin typeface="Gotham HTF Book"/>
                <a:ea typeface="Barlow" pitchFamily="34" charset="-122"/>
                <a:cs typeface="Barlow" pitchFamily="34" charset="-120"/>
              </a:rPr>
              <a:t> tem liberdade para escolher a melhor forma de solução.</a:t>
            </a:r>
            <a:endParaRPr lang="en-US">
              <a:latin typeface="Gotham HTF Book"/>
            </a:endParaRPr>
          </a:p>
        </p:txBody>
      </p:sp>
      <p:sp>
        <p:nvSpPr>
          <p:cNvPr id="6" name="Text 2">
            <a:extLst>
              <a:ext uri="{FF2B5EF4-FFF2-40B4-BE49-F238E27FC236}">
                <a16:creationId xmlns:a16="http://schemas.microsoft.com/office/drawing/2014/main" id="{A6BC2343-E633-858B-9C85-EFBA6592A809}"/>
              </a:ext>
            </a:extLst>
          </p:cNvPr>
          <p:cNvSpPr/>
          <p:nvPr/>
        </p:nvSpPr>
        <p:spPr>
          <a:xfrm>
            <a:off x="983432" y="2014716"/>
            <a:ext cx="12118062" cy="376714"/>
          </a:xfrm>
          <a:prstGeom prst="rect">
            <a:avLst/>
          </a:prstGeom>
          <a:noFill/>
          <a:ln/>
        </p:spPr>
        <p:txBody>
          <a:bodyPr wrap="none" lIns="0" tIns="0" rIns="0" bIns="0" rtlCol="0" anchor="t"/>
          <a:lstStyle/>
          <a:p>
            <a:pPr marL="0" indent="0" algn="l">
              <a:lnSpc>
                <a:spcPts val="2950"/>
              </a:lnSpc>
              <a:buNone/>
            </a:pPr>
            <a:r>
              <a:rPr lang="en-US" b="1">
                <a:latin typeface="Gotham HTF Book"/>
                <a:ea typeface="Barlow" pitchFamily="34" charset="-122"/>
                <a:cs typeface="Barlow" pitchFamily="34" charset="-120"/>
              </a:rPr>
              <a:t>Pode ser, por exemplo:</a:t>
            </a:r>
            <a:endParaRPr lang="en-US" b="1">
              <a:latin typeface="Gotham HTF Book"/>
            </a:endParaRPr>
          </a:p>
        </p:txBody>
      </p:sp>
      <p:pic>
        <p:nvPicPr>
          <p:cNvPr id="7" name="Image 0" descr="preencoded.png">
            <a:extLst>
              <a:ext uri="{FF2B5EF4-FFF2-40B4-BE49-F238E27FC236}">
                <a16:creationId xmlns:a16="http://schemas.microsoft.com/office/drawing/2014/main" id="{D3FB2CF8-7D82-960D-4C72-66AF0B987A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9361" y="2785348"/>
            <a:ext cx="597932" cy="597932"/>
          </a:xfrm>
          <a:prstGeom prst="rect">
            <a:avLst/>
          </a:prstGeom>
        </p:spPr>
      </p:pic>
      <p:sp>
        <p:nvSpPr>
          <p:cNvPr id="8" name="Text 3">
            <a:extLst>
              <a:ext uri="{FF2B5EF4-FFF2-40B4-BE49-F238E27FC236}">
                <a16:creationId xmlns:a16="http://schemas.microsoft.com/office/drawing/2014/main" id="{5E7719A1-1F92-38E0-5F36-66F4F720A648}"/>
              </a:ext>
            </a:extLst>
          </p:cNvPr>
          <p:cNvSpPr/>
          <p:nvPr/>
        </p:nvSpPr>
        <p:spPr>
          <a:xfrm>
            <a:off x="1089361" y="3672840"/>
            <a:ext cx="2657475" cy="332184"/>
          </a:xfrm>
          <a:prstGeom prst="rect">
            <a:avLst/>
          </a:prstGeom>
          <a:noFill/>
          <a:ln/>
        </p:spPr>
        <p:txBody>
          <a:bodyPr wrap="none" lIns="0" tIns="0" rIns="0" bIns="0" rtlCol="0" anchor="t"/>
          <a:lstStyle/>
          <a:p>
            <a:pPr marL="0" indent="0" algn="l">
              <a:lnSpc>
                <a:spcPts val="2600"/>
              </a:lnSpc>
              <a:buNone/>
            </a:pPr>
            <a:r>
              <a:rPr lang="en-US" sz="2000" b="1">
                <a:latin typeface="Gotham HTF Book"/>
                <a:ea typeface="Spline Sans Bold" pitchFamily="34" charset="-122"/>
                <a:cs typeface="Spline Sans Bold" pitchFamily="34" charset="-120"/>
              </a:rPr>
              <a:t>Interfaces digitais</a:t>
            </a:r>
            <a:endParaRPr lang="en-US" sz="2000">
              <a:latin typeface="Gotham HTF Book"/>
            </a:endParaRPr>
          </a:p>
        </p:txBody>
      </p:sp>
      <p:sp>
        <p:nvSpPr>
          <p:cNvPr id="9" name="Text 4">
            <a:extLst>
              <a:ext uri="{FF2B5EF4-FFF2-40B4-BE49-F238E27FC236}">
                <a16:creationId xmlns:a16="http://schemas.microsoft.com/office/drawing/2014/main" id="{04D7F58E-E6F8-6C87-5C35-A926F173024B}"/>
              </a:ext>
            </a:extLst>
          </p:cNvPr>
          <p:cNvSpPr/>
          <p:nvPr/>
        </p:nvSpPr>
        <p:spPr>
          <a:xfrm>
            <a:off x="1089361" y="4143970"/>
            <a:ext cx="3846314" cy="2207895"/>
          </a:xfrm>
          <a:prstGeom prst="rect">
            <a:avLst/>
          </a:prstGeom>
          <a:noFill/>
          <a:ln/>
        </p:spPr>
        <p:txBody>
          <a:bodyPr wrap="square" lIns="0" tIns="0" rIns="0" bIns="0" rtlCol="0" anchor="t"/>
          <a:lstStyle/>
          <a:p>
            <a:pPr marL="342900" indent="-342900" algn="l">
              <a:lnSpc>
                <a:spcPts val="2950"/>
              </a:lnSpc>
              <a:buSzPct val="100000"/>
              <a:buChar char="•"/>
            </a:pPr>
            <a:r>
              <a:rPr lang="en-US">
                <a:latin typeface="Gotham HTF Book"/>
                <a:ea typeface="Barlow" pitchFamily="34" charset="-122"/>
                <a:cs typeface="Barlow" pitchFamily="34" charset="-120"/>
              </a:rPr>
              <a:t>app</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WhatsApp</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IA conversacional</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dashboard para clínica</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assistente para veterinário</a:t>
            </a:r>
            <a:endParaRPr lang="en-US">
              <a:latin typeface="Gotham HTF Book"/>
            </a:endParaRPr>
          </a:p>
        </p:txBody>
      </p:sp>
      <p:pic>
        <p:nvPicPr>
          <p:cNvPr id="10" name="Image 1" descr="preencoded.png">
            <a:extLst>
              <a:ext uri="{FF2B5EF4-FFF2-40B4-BE49-F238E27FC236}">
                <a16:creationId xmlns:a16="http://schemas.microsoft.com/office/drawing/2014/main" id="{7694B6AC-A092-3348-3D86-50F99AF9B4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35675" y="2805569"/>
            <a:ext cx="597932" cy="597932"/>
          </a:xfrm>
          <a:prstGeom prst="rect">
            <a:avLst/>
          </a:prstGeom>
        </p:spPr>
      </p:pic>
      <p:sp>
        <p:nvSpPr>
          <p:cNvPr id="11" name="Text 5">
            <a:extLst>
              <a:ext uri="{FF2B5EF4-FFF2-40B4-BE49-F238E27FC236}">
                <a16:creationId xmlns:a16="http://schemas.microsoft.com/office/drawing/2014/main" id="{12E9EFFB-71C5-EE04-A70D-0001E0DFE7C6}"/>
              </a:ext>
            </a:extLst>
          </p:cNvPr>
          <p:cNvSpPr/>
          <p:nvPr/>
        </p:nvSpPr>
        <p:spPr>
          <a:xfrm>
            <a:off x="4935675" y="3693061"/>
            <a:ext cx="2657475" cy="332184"/>
          </a:xfrm>
          <a:prstGeom prst="rect">
            <a:avLst/>
          </a:prstGeom>
          <a:noFill/>
          <a:ln/>
        </p:spPr>
        <p:txBody>
          <a:bodyPr wrap="none" lIns="0" tIns="0" rIns="0" bIns="0" rtlCol="0" anchor="t"/>
          <a:lstStyle/>
          <a:p>
            <a:pPr marL="0" indent="0" algn="l">
              <a:lnSpc>
                <a:spcPts val="2600"/>
              </a:lnSpc>
              <a:buNone/>
            </a:pPr>
            <a:r>
              <a:rPr lang="en-US" sz="2000" b="1">
                <a:latin typeface="Gotham HTF Book"/>
                <a:ea typeface="Spline Sans Bold" pitchFamily="34" charset="-122"/>
                <a:cs typeface="Spline Sans Bold" pitchFamily="34" charset="-120"/>
              </a:rPr>
              <a:t>Hardware e sensores</a:t>
            </a:r>
            <a:endParaRPr lang="en-US" sz="2000">
              <a:latin typeface="Gotham HTF Book"/>
            </a:endParaRPr>
          </a:p>
        </p:txBody>
      </p:sp>
      <p:sp>
        <p:nvSpPr>
          <p:cNvPr id="12" name="Text 6">
            <a:extLst>
              <a:ext uri="{FF2B5EF4-FFF2-40B4-BE49-F238E27FC236}">
                <a16:creationId xmlns:a16="http://schemas.microsoft.com/office/drawing/2014/main" id="{64E28532-C179-FC46-5619-488605D031DD}"/>
              </a:ext>
            </a:extLst>
          </p:cNvPr>
          <p:cNvSpPr/>
          <p:nvPr/>
        </p:nvSpPr>
        <p:spPr>
          <a:xfrm>
            <a:off x="4935675" y="4164191"/>
            <a:ext cx="3846314" cy="1292304"/>
          </a:xfrm>
          <a:prstGeom prst="rect">
            <a:avLst/>
          </a:prstGeom>
          <a:noFill/>
          <a:ln/>
        </p:spPr>
        <p:txBody>
          <a:bodyPr wrap="square" lIns="0" tIns="0" rIns="0" bIns="0" rtlCol="0" anchor="t"/>
          <a:lstStyle/>
          <a:p>
            <a:pPr marL="342900" indent="-342900" algn="l">
              <a:lnSpc>
                <a:spcPts val="2950"/>
              </a:lnSpc>
              <a:buSzPct val="100000"/>
              <a:buChar char="•"/>
            </a:pPr>
            <a:r>
              <a:rPr lang="en-US">
                <a:latin typeface="Gotham HTF Book"/>
                <a:ea typeface="Barlow" pitchFamily="34" charset="-122"/>
                <a:cs typeface="Barlow" pitchFamily="34" charset="-120"/>
              </a:rPr>
              <a:t>wearable</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sensor</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visão computacional</a:t>
            </a:r>
            <a:endParaRPr lang="en-US">
              <a:latin typeface="Gotham HTF Book"/>
            </a:endParaRPr>
          </a:p>
        </p:txBody>
      </p:sp>
      <p:pic>
        <p:nvPicPr>
          <p:cNvPr id="13" name="Image 2" descr="preencoded.png">
            <a:extLst>
              <a:ext uri="{FF2B5EF4-FFF2-40B4-BE49-F238E27FC236}">
                <a16:creationId xmlns:a16="http://schemas.microsoft.com/office/drawing/2014/main" id="{9C398F67-6D45-7F80-3441-300AEC9F67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81989" y="2438579"/>
            <a:ext cx="597932" cy="597932"/>
          </a:xfrm>
          <a:prstGeom prst="rect">
            <a:avLst/>
          </a:prstGeom>
        </p:spPr>
      </p:pic>
      <p:sp>
        <p:nvSpPr>
          <p:cNvPr id="20" name="Text 7">
            <a:extLst>
              <a:ext uri="{FF2B5EF4-FFF2-40B4-BE49-F238E27FC236}">
                <a16:creationId xmlns:a16="http://schemas.microsoft.com/office/drawing/2014/main" id="{608C7FC3-3A63-A9A8-D374-DC79B02F7B3C}"/>
              </a:ext>
            </a:extLst>
          </p:cNvPr>
          <p:cNvSpPr/>
          <p:nvPr/>
        </p:nvSpPr>
        <p:spPr>
          <a:xfrm>
            <a:off x="8781989" y="3326071"/>
            <a:ext cx="2917746" cy="332184"/>
          </a:xfrm>
          <a:prstGeom prst="rect">
            <a:avLst/>
          </a:prstGeom>
          <a:noFill/>
          <a:ln/>
        </p:spPr>
        <p:txBody>
          <a:bodyPr wrap="none" lIns="0" tIns="0" rIns="0" bIns="0" rtlCol="0" anchor="t"/>
          <a:lstStyle/>
          <a:p>
            <a:pPr marL="0" indent="0" algn="l">
              <a:lnSpc>
                <a:spcPts val="2600"/>
              </a:lnSpc>
              <a:buNone/>
            </a:pPr>
            <a:r>
              <a:rPr lang="en-US" sz="2000" b="1">
                <a:latin typeface="Gotham HTF Book"/>
                <a:ea typeface="Spline Sans Bold" pitchFamily="34" charset="-122"/>
                <a:cs typeface="Spline Sans Bold" pitchFamily="34" charset="-120"/>
              </a:rPr>
              <a:t>Plataformas e negócios</a:t>
            </a:r>
            <a:endParaRPr lang="en-US" sz="2000">
              <a:latin typeface="Gotham HTF Book"/>
            </a:endParaRPr>
          </a:p>
        </p:txBody>
      </p:sp>
      <p:sp>
        <p:nvSpPr>
          <p:cNvPr id="21" name="Text 8">
            <a:extLst>
              <a:ext uri="{FF2B5EF4-FFF2-40B4-BE49-F238E27FC236}">
                <a16:creationId xmlns:a16="http://schemas.microsoft.com/office/drawing/2014/main" id="{169E772A-86A2-E764-4F4B-9DABE44435C6}"/>
              </a:ext>
            </a:extLst>
          </p:cNvPr>
          <p:cNvSpPr/>
          <p:nvPr/>
        </p:nvSpPr>
        <p:spPr>
          <a:xfrm>
            <a:off x="8781989" y="3797201"/>
            <a:ext cx="3846314" cy="3123486"/>
          </a:xfrm>
          <a:prstGeom prst="rect">
            <a:avLst/>
          </a:prstGeom>
          <a:noFill/>
          <a:ln/>
        </p:spPr>
        <p:txBody>
          <a:bodyPr wrap="square" lIns="0" tIns="0" rIns="0" bIns="0" rtlCol="0" anchor="t"/>
          <a:lstStyle/>
          <a:p>
            <a:pPr marL="342900" indent="-342900" algn="l">
              <a:lnSpc>
                <a:spcPts val="2950"/>
              </a:lnSpc>
              <a:buSzPct val="100000"/>
              <a:buChar char="•"/>
            </a:pPr>
            <a:r>
              <a:rPr lang="en-US">
                <a:latin typeface="Gotham HTF Book"/>
                <a:ea typeface="Barlow" pitchFamily="34" charset="-122"/>
                <a:cs typeface="Barlow" pitchFamily="34" charset="-120"/>
              </a:rPr>
              <a:t>plataforma B2B</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plano de assinatura</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algoritmo de recomendação</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marketplace de serviços</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produto de dados</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CRM clínico</a:t>
            </a:r>
            <a:endParaRPr lang="en-US">
              <a:latin typeface="Gotham HTF Book"/>
            </a:endParaRPr>
          </a:p>
          <a:p>
            <a:pPr marL="342900" indent="-342900" algn="l">
              <a:lnSpc>
                <a:spcPts val="2950"/>
              </a:lnSpc>
              <a:buSzPct val="100000"/>
              <a:buChar char="•"/>
            </a:pPr>
            <a:r>
              <a:rPr lang="en-US">
                <a:latin typeface="Gotham HTF Book"/>
                <a:ea typeface="Barlow" pitchFamily="34" charset="-122"/>
                <a:cs typeface="Barlow" pitchFamily="34" charset="-120"/>
              </a:rPr>
              <a:t>ecossistema de parceiros</a:t>
            </a:r>
            <a:endParaRPr lang="en-US">
              <a:latin typeface="Gotham HTF Book"/>
            </a:endParaRPr>
          </a:p>
        </p:txBody>
      </p:sp>
    </p:spTree>
    <p:extLst>
      <p:ext uri="{BB962C8B-B14F-4D97-AF65-F5344CB8AC3E}">
        <p14:creationId xmlns:p14="http://schemas.microsoft.com/office/powerpoint/2010/main" val="130089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7AA58-683A-7AB4-1A47-C1E98652EE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ECDA38-D8CE-74DA-4501-6AE969CDCB95}"/>
              </a:ext>
            </a:extLst>
          </p:cNvPr>
          <p:cNvSpPr>
            <a:spLocks noGrp="1"/>
          </p:cNvSpPr>
          <p:nvPr>
            <p:ph type="title"/>
          </p:nvPr>
        </p:nvSpPr>
        <p:spPr/>
        <p:txBody>
          <a:bodyPr/>
          <a:lstStyle/>
          <a:p>
            <a:r>
              <a:rPr lang="en-US">
                <a:latin typeface="Gotham HTF Book"/>
                <a:ea typeface="Spline Sans Bold" pitchFamily="34" charset="-122"/>
                <a:cs typeface="Spline Sans Bold" pitchFamily="34" charset="-120"/>
              </a:rPr>
              <a:t>CRITÉRIOS DE AVALIAÇÃO</a:t>
            </a:r>
            <a:endParaRPr lang="pt-BR">
              <a:latin typeface="Gotham HTF Book"/>
            </a:endParaRPr>
          </a:p>
        </p:txBody>
      </p:sp>
      <p:sp>
        <p:nvSpPr>
          <p:cNvPr id="4" name="Espaço Reservado para Texto 3">
            <a:extLst>
              <a:ext uri="{FF2B5EF4-FFF2-40B4-BE49-F238E27FC236}">
                <a16:creationId xmlns:a16="http://schemas.microsoft.com/office/drawing/2014/main" id="{6B1B7B68-E686-2B95-24DB-E0F54479F223}"/>
              </a:ext>
            </a:extLst>
          </p:cNvPr>
          <p:cNvSpPr>
            <a:spLocks noGrp="1"/>
          </p:cNvSpPr>
          <p:nvPr>
            <p:ph type="body" sz="quarter" idx="13"/>
          </p:nvPr>
        </p:nvSpPr>
        <p:spPr/>
        <p:txBody>
          <a:bodyPr/>
          <a:lstStyle/>
          <a:p>
            <a:r>
              <a:rPr lang="pt-BR">
                <a:latin typeface="Gotham HTF Book"/>
              </a:rPr>
              <a:t>DESAFIO</a:t>
            </a:r>
          </a:p>
        </p:txBody>
      </p:sp>
      <p:sp>
        <p:nvSpPr>
          <p:cNvPr id="16" name="Text 1">
            <a:extLst>
              <a:ext uri="{FF2B5EF4-FFF2-40B4-BE49-F238E27FC236}">
                <a16:creationId xmlns:a16="http://schemas.microsoft.com/office/drawing/2014/main" id="{1E69EFC3-7FF2-5BA4-9155-217E7C1C0C37}"/>
              </a:ext>
            </a:extLst>
          </p:cNvPr>
          <p:cNvSpPr/>
          <p:nvPr/>
        </p:nvSpPr>
        <p:spPr>
          <a:xfrm>
            <a:off x="837426" y="1628800"/>
            <a:ext cx="12508944" cy="395049"/>
          </a:xfrm>
          <a:prstGeom prst="rect">
            <a:avLst/>
          </a:prstGeom>
          <a:noFill/>
          <a:ln/>
        </p:spPr>
        <p:txBody>
          <a:bodyPr wrap="none" lIns="0" tIns="0" rIns="0" bIns="0" rtlCol="0" anchor="t"/>
          <a:lstStyle/>
          <a:p>
            <a:pPr marL="0" indent="0" algn="l">
              <a:lnSpc>
                <a:spcPts val="3100"/>
              </a:lnSpc>
              <a:buNone/>
            </a:pPr>
            <a:r>
              <a:rPr lang="en-US" sz="1900">
                <a:latin typeface="Gotham HTF Book"/>
                <a:ea typeface="Barlow" pitchFamily="34" charset="-122"/>
                <a:cs typeface="Barlow" pitchFamily="34" charset="-120"/>
              </a:rPr>
              <a:t>A CLYVO VET avaliará:</a:t>
            </a:r>
            <a:endParaRPr lang="en-US" sz="1900">
              <a:latin typeface="Gotham HTF Book"/>
            </a:endParaRPr>
          </a:p>
        </p:txBody>
      </p:sp>
      <p:sp>
        <p:nvSpPr>
          <p:cNvPr id="17" name="Shape 2">
            <a:extLst>
              <a:ext uri="{FF2B5EF4-FFF2-40B4-BE49-F238E27FC236}">
                <a16:creationId xmlns:a16="http://schemas.microsoft.com/office/drawing/2014/main" id="{1BF4B954-53FB-4433-6BD0-DEE10B3CF29C}"/>
              </a:ext>
            </a:extLst>
          </p:cNvPr>
          <p:cNvSpPr/>
          <p:nvPr/>
        </p:nvSpPr>
        <p:spPr>
          <a:xfrm>
            <a:off x="837426" y="2301503"/>
            <a:ext cx="4005024" cy="1835706"/>
          </a:xfrm>
          <a:prstGeom prst="roundRect">
            <a:avLst>
              <a:gd name="adj" fmla="val 7970"/>
            </a:avLst>
          </a:prstGeom>
          <a:solidFill>
            <a:srgbClr val="0A081B">
              <a:alpha val="75000"/>
            </a:srgbClr>
          </a:solidFill>
          <a:ln w="30480">
            <a:solidFill>
              <a:srgbClr val="16FFBB"/>
            </a:solidFill>
            <a:prstDash val="solid"/>
          </a:ln>
        </p:spPr>
        <p:txBody>
          <a:bodyPr/>
          <a:lstStyle/>
          <a:p>
            <a:endParaRPr lang="pt-BR" sz="1600">
              <a:latin typeface="Gotham HTF Book"/>
            </a:endParaRPr>
          </a:p>
        </p:txBody>
      </p:sp>
      <p:sp>
        <p:nvSpPr>
          <p:cNvPr id="18" name="Shape 3">
            <a:extLst>
              <a:ext uri="{FF2B5EF4-FFF2-40B4-BE49-F238E27FC236}">
                <a16:creationId xmlns:a16="http://schemas.microsoft.com/office/drawing/2014/main" id="{7A76B5EE-7BFB-7783-7BF8-DC7E555CBA36}"/>
              </a:ext>
            </a:extLst>
          </p:cNvPr>
          <p:cNvSpPr/>
          <p:nvPr/>
        </p:nvSpPr>
        <p:spPr>
          <a:xfrm>
            <a:off x="806946" y="2301503"/>
            <a:ext cx="121920" cy="1835706"/>
          </a:xfrm>
          <a:prstGeom prst="roundRect">
            <a:avLst>
              <a:gd name="adj" fmla="val 303750"/>
            </a:avLst>
          </a:prstGeom>
          <a:solidFill>
            <a:srgbClr val="16FFBB"/>
          </a:solidFill>
          <a:ln/>
        </p:spPr>
        <p:txBody>
          <a:bodyPr/>
          <a:lstStyle/>
          <a:p>
            <a:endParaRPr lang="pt-BR" sz="1600">
              <a:latin typeface="Gotham HTF Book"/>
            </a:endParaRPr>
          </a:p>
        </p:txBody>
      </p:sp>
      <p:sp>
        <p:nvSpPr>
          <p:cNvPr id="19" name="Text 4">
            <a:extLst>
              <a:ext uri="{FF2B5EF4-FFF2-40B4-BE49-F238E27FC236}">
                <a16:creationId xmlns:a16="http://schemas.microsoft.com/office/drawing/2014/main" id="{C181A82A-6702-EC8A-8A08-5FF3AFFBCA2C}"/>
              </a:ext>
            </a:extLst>
          </p:cNvPr>
          <p:cNvSpPr/>
          <p:nvPr/>
        </p:nvSpPr>
        <p:spPr>
          <a:xfrm>
            <a:off x="1206162" y="2578800"/>
            <a:ext cx="3358991" cy="685800"/>
          </a:xfrm>
          <a:prstGeom prst="rect">
            <a:avLst/>
          </a:prstGeom>
          <a:noFill/>
          <a:ln/>
        </p:spPr>
        <p:txBody>
          <a:bodyPr wrap="square" lIns="0" tIns="0" rIns="0" bIns="0" rtlCol="0" anchor="t"/>
          <a:lstStyle/>
          <a:p>
            <a:pPr marL="0" indent="0" algn="l">
              <a:lnSpc>
                <a:spcPts val="2700"/>
              </a:lnSpc>
              <a:buNone/>
            </a:pPr>
            <a:r>
              <a:rPr lang="en-US" sz="2000" b="1">
                <a:solidFill>
                  <a:srgbClr val="E0E4E6"/>
                </a:solidFill>
                <a:latin typeface="Gotham HTF Book"/>
                <a:ea typeface="Spline Sans Bold" pitchFamily="34" charset="-122"/>
                <a:cs typeface="Spline Sans Bold" pitchFamily="34" charset="-120"/>
              </a:rPr>
              <a:t>Clareza do problema escolhido</a:t>
            </a:r>
            <a:endParaRPr lang="en-US" sz="2000">
              <a:latin typeface="Gotham HTF Book"/>
            </a:endParaRPr>
          </a:p>
        </p:txBody>
      </p:sp>
      <p:sp>
        <p:nvSpPr>
          <p:cNvPr id="20" name="Text 5">
            <a:extLst>
              <a:ext uri="{FF2B5EF4-FFF2-40B4-BE49-F238E27FC236}">
                <a16:creationId xmlns:a16="http://schemas.microsoft.com/office/drawing/2014/main" id="{FB72106F-FC41-32BF-608F-A9D30902CD22}"/>
              </a:ext>
            </a:extLst>
          </p:cNvPr>
          <p:cNvSpPr/>
          <p:nvPr/>
        </p:nvSpPr>
        <p:spPr>
          <a:xfrm>
            <a:off x="1206162" y="3412714"/>
            <a:ext cx="3358991" cy="395049"/>
          </a:xfrm>
          <a:prstGeom prst="rect">
            <a:avLst/>
          </a:prstGeom>
          <a:noFill/>
          <a:ln/>
        </p:spPr>
        <p:txBody>
          <a:bodyPr wrap="none" lIns="0" tIns="0" rIns="0" bIns="0" rtlCol="0" anchor="t"/>
          <a:lstStyle/>
          <a:p>
            <a:pPr marL="0" indent="0" algn="l">
              <a:lnSpc>
                <a:spcPts val="3100"/>
              </a:lnSpc>
              <a:buNone/>
            </a:pPr>
            <a:r>
              <a:rPr lang="en-US">
                <a:solidFill>
                  <a:srgbClr val="E0E4E6"/>
                </a:solidFill>
                <a:latin typeface="Gotham HTF Book"/>
                <a:ea typeface="Barlow" pitchFamily="34" charset="-122"/>
                <a:cs typeface="Barlow" pitchFamily="34" charset="-120"/>
              </a:rPr>
              <a:t>profundidade da dor</a:t>
            </a:r>
            <a:endParaRPr lang="en-US">
              <a:latin typeface="Gotham HTF Book"/>
            </a:endParaRPr>
          </a:p>
        </p:txBody>
      </p:sp>
      <p:sp>
        <p:nvSpPr>
          <p:cNvPr id="21" name="Shape 6">
            <a:extLst>
              <a:ext uri="{FF2B5EF4-FFF2-40B4-BE49-F238E27FC236}">
                <a16:creationId xmlns:a16="http://schemas.microsoft.com/office/drawing/2014/main" id="{2E48AB69-D5D7-1D7E-CD18-571B01BF1E76}"/>
              </a:ext>
            </a:extLst>
          </p:cNvPr>
          <p:cNvSpPr/>
          <p:nvPr/>
        </p:nvSpPr>
        <p:spPr>
          <a:xfrm>
            <a:off x="5089268" y="2301503"/>
            <a:ext cx="3111936" cy="1835706"/>
          </a:xfrm>
          <a:prstGeom prst="roundRect">
            <a:avLst>
              <a:gd name="adj" fmla="val 7970"/>
            </a:avLst>
          </a:prstGeom>
          <a:solidFill>
            <a:srgbClr val="0A081B">
              <a:alpha val="75000"/>
            </a:srgbClr>
          </a:solidFill>
          <a:ln w="30480">
            <a:solidFill>
              <a:srgbClr val="29DDDA"/>
            </a:solidFill>
            <a:prstDash val="solid"/>
          </a:ln>
        </p:spPr>
        <p:txBody>
          <a:bodyPr/>
          <a:lstStyle/>
          <a:p>
            <a:endParaRPr lang="pt-BR" sz="1600">
              <a:latin typeface="Gotham HTF Book"/>
            </a:endParaRPr>
          </a:p>
        </p:txBody>
      </p:sp>
      <p:sp>
        <p:nvSpPr>
          <p:cNvPr id="22" name="Shape 7">
            <a:extLst>
              <a:ext uri="{FF2B5EF4-FFF2-40B4-BE49-F238E27FC236}">
                <a16:creationId xmlns:a16="http://schemas.microsoft.com/office/drawing/2014/main" id="{F04784A7-8AD8-750C-DEDC-1D9B8AF87265}"/>
              </a:ext>
            </a:extLst>
          </p:cNvPr>
          <p:cNvSpPr/>
          <p:nvPr/>
        </p:nvSpPr>
        <p:spPr>
          <a:xfrm>
            <a:off x="5058787" y="2301503"/>
            <a:ext cx="121920" cy="1835706"/>
          </a:xfrm>
          <a:prstGeom prst="roundRect">
            <a:avLst>
              <a:gd name="adj" fmla="val 303750"/>
            </a:avLst>
          </a:prstGeom>
          <a:solidFill>
            <a:srgbClr val="29DDDA"/>
          </a:solidFill>
          <a:ln/>
        </p:spPr>
        <p:txBody>
          <a:bodyPr/>
          <a:lstStyle/>
          <a:p>
            <a:endParaRPr lang="pt-BR" sz="1600">
              <a:latin typeface="Gotham HTF Book"/>
            </a:endParaRPr>
          </a:p>
        </p:txBody>
      </p:sp>
      <p:sp>
        <p:nvSpPr>
          <p:cNvPr id="23" name="Text 8">
            <a:extLst>
              <a:ext uri="{FF2B5EF4-FFF2-40B4-BE49-F238E27FC236}">
                <a16:creationId xmlns:a16="http://schemas.microsoft.com/office/drawing/2014/main" id="{9EBE14C2-55FE-3502-BD59-689AEC262101}"/>
              </a:ext>
            </a:extLst>
          </p:cNvPr>
          <p:cNvSpPr/>
          <p:nvPr/>
        </p:nvSpPr>
        <p:spPr>
          <a:xfrm>
            <a:off x="5458003" y="2578800"/>
            <a:ext cx="2743200" cy="342900"/>
          </a:xfrm>
          <a:prstGeom prst="rect">
            <a:avLst/>
          </a:prstGeom>
          <a:noFill/>
          <a:ln/>
        </p:spPr>
        <p:txBody>
          <a:bodyPr wrap="none" lIns="0" tIns="0" rIns="0" bIns="0" rtlCol="0" anchor="t"/>
          <a:lstStyle/>
          <a:p>
            <a:pPr marL="0" indent="0" algn="l">
              <a:lnSpc>
                <a:spcPts val="2700"/>
              </a:lnSpc>
              <a:buNone/>
            </a:pPr>
            <a:r>
              <a:rPr lang="en-US" sz="2000" b="1">
                <a:solidFill>
                  <a:srgbClr val="E0E4E6"/>
                </a:solidFill>
                <a:latin typeface="Gotham HTF Book"/>
                <a:ea typeface="Spline Sans Bold" pitchFamily="34" charset="-122"/>
                <a:cs typeface="Spline Sans Bold" pitchFamily="34" charset="-120"/>
              </a:rPr>
              <a:t>Inovação</a:t>
            </a:r>
            <a:endParaRPr lang="en-US" sz="2000">
              <a:latin typeface="Gotham HTF Book"/>
            </a:endParaRPr>
          </a:p>
        </p:txBody>
      </p:sp>
      <p:sp>
        <p:nvSpPr>
          <p:cNvPr id="24" name="Text 9">
            <a:extLst>
              <a:ext uri="{FF2B5EF4-FFF2-40B4-BE49-F238E27FC236}">
                <a16:creationId xmlns:a16="http://schemas.microsoft.com/office/drawing/2014/main" id="{84C36587-C1AE-F575-F49E-AE7C392285E9}"/>
              </a:ext>
            </a:extLst>
          </p:cNvPr>
          <p:cNvSpPr/>
          <p:nvPr/>
        </p:nvSpPr>
        <p:spPr>
          <a:xfrm>
            <a:off x="5458003" y="3069814"/>
            <a:ext cx="3359110" cy="395049"/>
          </a:xfrm>
          <a:prstGeom prst="rect">
            <a:avLst/>
          </a:prstGeom>
          <a:noFill/>
          <a:ln/>
        </p:spPr>
        <p:txBody>
          <a:bodyPr wrap="none" lIns="0" tIns="0" rIns="0" bIns="0" rtlCol="0" anchor="t"/>
          <a:lstStyle/>
          <a:p>
            <a:pPr marL="0" indent="0" algn="l">
              <a:lnSpc>
                <a:spcPts val="3100"/>
              </a:lnSpc>
              <a:buNone/>
            </a:pPr>
            <a:r>
              <a:rPr lang="en-US">
                <a:solidFill>
                  <a:srgbClr val="E0E4E6"/>
                </a:solidFill>
                <a:latin typeface="Gotham HTF Book"/>
                <a:ea typeface="Barlow" pitchFamily="34" charset="-122"/>
                <a:cs typeface="Barlow" pitchFamily="34" charset="-120"/>
              </a:rPr>
              <a:t>potencial de escala</a:t>
            </a:r>
            <a:endParaRPr lang="en-US">
              <a:latin typeface="Gotham HTF Book"/>
            </a:endParaRPr>
          </a:p>
        </p:txBody>
      </p:sp>
      <p:sp>
        <p:nvSpPr>
          <p:cNvPr id="25" name="Shape 10">
            <a:extLst>
              <a:ext uri="{FF2B5EF4-FFF2-40B4-BE49-F238E27FC236}">
                <a16:creationId xmlns:a16="http://schemas.microsoft.com/office/drawing/2014/main" id="{6DB1A3A1-9779-C738-46DA-CDF1C8C4728B}"/>
              </a:ext>
            </a:extLst>
          </p:cNvPr>
          <p:cNvSpPr/>
          <p:nvPr/>
        </p:nvSpPr>
        <p:spPr>
          <a:xfrm>
            <a:off x="8478072" y="2271023"/>
            <a:ext cx="3605807" cy="1835706"/>
          </a:xfrm>
          <a:prstGeom prst="roundRect">
            <a:avLst>
              <a:gd name="adj" fmla="val 7970"/>
            </a:avLst>
          </a:prstGeom>
          <a:solidFill>
            <a:srgbClr val="0A081B">
              <a:alpha val="75000"/>
            </a:srgbClr>
          </a:solidFill>
          <a:ln w="30480">
            <a:solidFill>
              <a:srgbClr val="37A7E7"/>
            </a:solidFill>
            <a:prstDash val="solid"/>
          </a:ln>
        </p:spPr>
        <p:txBody>
          <a:bodyPr/>
          <a:lstStyle/>
          <a:p>
            <a:endParaRPr lang="pt-BR" sz="1600">
              <a:latin typeface="Gotham HTF Book"/>
            </a:endParaRPr>
          </a:p>
        </p:txBody>
      </p:sp>
      <p:sp>
        <p:nvSpPr>
          <p:cNvPr id="26" name="Shape 11">
            <a:extLst>
              <a:ext uri="{FF2B5EF4-FFF2-40B4-BE49-F238E27FC236}">
                <a16:creationId xmlns:a16="http://schemas.microsoft.com/office/drawing/2014/main" id="{0234BE70-7B08-E433-88FE-8188E5C1DB9F}"/>
              </a:ext>
            </a:extLst>
          </p:cNvPr>
          <p:cNvSpPr/>
          <p:nvPr/>
        </p:nvSpPr>
        <p:spPr>
          <a:xfrm>
            <a:off x="8447592" y="2271023"/>
            <a:ext cx="121920" cy="1835706"/>
          </a:xfrm>
          <a:prstGeom prst="roundRect">
            <a:avLst>
              <a:gd name="adj" fmla="val 303750"/>
            </a:avLst>
          </a:prstGeom>
          <a:solidFill>
            <a:srgbClr val="37A7E7"/>
          </a:solidFill>
          <a:ln/>
        </p:spPr>
        <p:txBody>
          <a:bodyPr/>
          <a:lstStyle/>
          <a:p>
            <a:endParaRPr lang="pt-BR" sz="1600">
              <a:latin typeface="Gotham HTF Book"/>
            </a:endParaRPr>
          </a:p>
        </p:txBody>
      </p:sp>
      <p:sp>
        <p:nvSpPr>
          <p:cNvPr id="27" name="Text 12">
            <a:extLst>
              <a:ext uri="{FF2B5EF4-FFF2-40B4-BE49-F238E27FC236}">
                <a16:creationId xmlns:a16="http://schemas.microsoft.com/office/drawing/2014/main" id="{78BA9369-94F5-1FCB-B254-94E91AFBA02D}"/>
              </a:ext>
            </a:extLst>
          </p:cNvPr>
          <p:cNvSpPr/>
          <p:nvPr/>
        </p:nvSpPr>
        <p:spPr>
          <a:xfrm>
            <a:off x="8846808" y="2548320"/>
            <a:ext cx="2743200" cy="342900"/>
          </a:xfrm>
          <a:prstGeom prst="rect">
            <a:avLst/>
          </a:prstGeom>
          <a:noFill/>
          <a:ln/>
        </p:spPr>
        <p:txBody>
          <a:bodyPr wrap="none" lIns="0" tIns="0" rIns="0" bIns="0" rtlCol="0" anchor="t"/>
          <a:lstStyle/>
          <a:p>
            <a:pPr marL="0" indent="0" algn="l">
              <a:lnSpc>
                <a:spcPts val="2700"/>
              </a:lnSpc>
              <a:buNone/>
            </a:pPr>
            <a:r>
              <a:rPr lang="en-US" sz="2000" b="1">
                <a:solidFill>
                  <a:srgbClr val="E0E4E6"/>
                </a:solidFill>
                <a:latin typeface="Gotham HTF Book"/>
                <a:ea typeface="Spline Sans Bold" pitchFamily="34" charset="-122"/>
                <a:cs typeface="Spline Sans Bold" pitchFamily="34" charset="-120"/>
              </a:rPr>
              <a:t>Aplicabilidade real</a:t>
            </a:r>
            <a:endParaRPr lang="en-US" sz="2000">
              <a:latin typeface="Gotham HTF Book"/>
            </a:endParaRPr>
          </a:p>
        </p:txBody>
      </p:sp>
      <p:sp>
        <p:nvSpPr>
          <p:cNvPr id="28" name="Text 13">
            <a:extLst>
              <a:ext uri="{FF2B5EF4-FFF2-40B4-BE49-F238E27FC236}">
                <a16:creationId xmlns:a16="http://schemas.microsoft.com/office/drawing/2014/main" id="{E0EC4498-872D-0DE0-EB7C-6CA1ACA545A8}"/>
              </a:ext>
            </a:extLst>
          </p:cNvPr>
          <p:cNvSpPr/>
          <p:nvPr/>
        </p:nvSpPr>
        <p:spPr>
          <a:xfrm>
            <a:off x="8846808" y="3039334"/>
            <a:ext cx="3358991" cy="790099"/>
          </a:xfrm>
          <a:prstGeom prst="rect">
            <a:avLst/>
          </a:prstGeom>
          <a:noFill/>
          <a:ln/>
        </p:spPr>
        <p:txBody>
          <a:bodyPr wrap="square" lIns="0" tIns="0" rIns="0" bIns="0" rtlCol="0" anchor="t"/>
          <a:lstStyle/>
          <a:p>
            <a:pPr marL="0" indent="0" algn="l">
              <a:lnSpc>
                <a:spcPts val="3100"/>
              </a:lnSpc>
              <a:buNone/>
            </a:pPr>
            <a:r>
              <a:rPr lang="en-US">
                <a:solidFill>
                  <a:srgbClr val="E0E4E6"/>
                </a:solidFill>
                <a:latin typeface="Gotham HTF Book"/>
                <a:ea typeface="Barlow" pitchFamily="34" charset="-122"/>
                <a:cs typeface="Barlow" pitchFamily="34" charset="-120"/>
              </a:rPr>
              <a:t>experiência do </a:t>
            </a:r>
            <a:r>
              <a:rPr lang="en-US" err="1">
                <a:solidFill>
                  <a:srgbClr val="E0E4E6"/>
                </a:solidFill>
                <a:latin typeface="Gotham HTF Book"/>
                <a:ea typeface="Barlow" pitchFamily="34" charset="-122"/>
                <a:cs typeface="Barlow" pitchFamily="34" charset="-120"/>
              </a:rPr>
              <a:t>responsável</a:t>
            </a:r>
            <a:r>
              <a:rPr lang="en-US">
                <a:solidFill>
                  <a:srgbClr val="E0E4E6"/>
                </a:solidFill>
                <a:latin typeface="Gotham HTF Book"/>
                <a:ea typeface="Barlow" pitchFamily="34" charset="-122"/>
                <a:cs typeface="Barlow" pitchFamily="34" charset="-120"/>
              </a:rPr>
              <a:t> </a:t>
            </a:r>
          </a:p>
          <a:p>
            <a:pPr marL="0" indent="0" algn="l">
              <a:lnSpc>
                <a:spcPts val="3100"/>
              </a:lnSpc>
              <a:buNone/>
            </a:pPr>
            <a:r>
              <a:rPr lang="en-US" err="1">
                <a:solidFill>
                  <a:srgbClr val="E0E4E6"/>
                </a:solidFill>
                <a:latin typeface="Gotham HTF Book"/>
                <a:ea typeface="Barlow" pitchFamily="34" charset="-122"/>
                <a:cs typeface="Barlow" pitchFamily="34" charset="-120"/>
              </a:rPr>
              <a:t>pelo</a:t>
            </a:r>
            <a:r>
              <a:rPr lang="en-US">
                <a:solidFill>
                  <a:srgbClr val="E0E4E6"/>
                </a:solidFill>
                <a:latin typeface="Gotham HTF Book"/>
                <a:ea typeface="Barlow" pitchFamily="34" charset="-122"/>
                <a:cs typeface="Barlow" pitchFamily="34" charset="-120"/>
              </a:rPr>
              <a:t> pet</a:t>
            </a:r>
            <a:endParaRPr lang="en-US">
              <a:latin typeface="Gotham HTF Book"/>
            </a:endParaRPr>
          </a:p>
        </p:txBody>
      </p:sp>
      <p:sp>
        <p:nvSpPr>
          <p:cNvPr id="29" name="Shape 14">
            <a:extLst>
              <a:ext uri="{FF2B5EF4-FFF2-40B4-BE49-F238E27FC236}">
                <a16:creationId xmlns:a16="http://schemas.microsoft.com/office/drawing/2014/main" id="{67799E0F-8530-5F5A-8915-B7E9E5A4924C}"/>
              </a:ext>
            </a:extLst>
          </p:cNvPr>
          <p:cNvSpPr/>
          <p:nvPr/>
        </p:nvSpPr>
        <p:spPr>
          <a:xfrm>
            <a:off x="837426" y="4384026"/>
            <a:ext cx="4005024" cy="1440656"/>
          </a:xfrm>
          <a:prstGeom prst="roundRect">
            <a:avLst>
              <a:gd name="adj" fmla="val 10155"/>
            </a:avLst>
          </a:prstGeom>
          <a:solidFill>
            <a:srgbClr val="0A081B">
              <a:alpha val="75000"/>
            </a:srgbClr>
          </a:solidFill>
          <a:ln w="30480">
            <a:solidFill>
              <a:srgbClr val="091231"/>
            </a:solidFill>
            <a:prstDash val="solid"/>
          </a:ln>
        </p:spPr>
        <p:txBody>
          <a:bodyPr/>
          <a:lstStyle/>
          <a:p>
            <a:endParaRPr lang="pt-BR" sz="1600">
              <a:latin typeface="Gotham HTF Book"/>
            </a:endParaRPr>
          </a:p>
        </p:txBody>
      </p:sp>
      <p:sp>
        <p:nvSpPr>
          <p:cNvPr id="30" name="Shape 15">
            <a:extLst>
              <a:ext uri="{FF2B5EF4-FFF2-40B4-BE49-F238E27FC236}">
                <a16:creationId xmlns:a16="http://schemas.microsoft.com/office/drawing/2014/main" id="{D4206F0A-7B58-C468-FEDD-3C9FE53526F6}"/>
              </a:ext>
            </a:extLst>
          </p:cNvPr>
          <p:cNvSpPr/>
          <p:nvPr/>
        </p:nvSpPr>
        <p:spPr>
          <a:xfrm>
            <a:off x="806946" y="4384026"/>
            <a:ext cx="121920" cy="1440656"/>
          </a:xfrm>
          <a:prstGeom prst="roundRect">
            <a:avLst>
              <a:gd name="adj" fmla="val 303750"/>
            </a:avLst>
          </a:prstGeom>
          <a:solidFill>
            <a:srgbClr val="091231"/>
          </a:solidFill>
          <a:ln/>
        </p:spPr>
        <p:txBody>
          <a:bodyPr/>
          <a:lstStyle/>
          <a:p>
            <a:endParaRPr lang="pt-BR" sz="1600">
              <a:latin typeface="Gotham HTF Book"/>
            </a:endParaRPr>
          </a:p>
        </p:txBody>
      </p:sp>
      <p:sp>
        <p:nvSpPr>
          <p:cNvPr id="31" name="Text 16">
            <a:extLst>
              <a:ext uri="{FF2B5EF4-FFF2-40B4-BE49-F238E27FC236}">
                <a16:creationId xmlns:a16="http://schemas.microsoft.com/office/drawing/2014/main" id="{FC2E73AB-FCE1-4BC4-7C2C-1750D68427AF}"/>
              </a:ext>
            </a:extLst>
          </p:cNvPr>
          <p:cNvSpPr/>
          <p:nvPr/>
        </p:nvSpPr>
        <p:spPr>
          <a:xfrm>
            <a:off x="1206162" y="4661322"/>
            <a:ext cx="2743200" cy="342900"/>
          </a:xfrm>
          <a:prstGeom prst="rect">
            <a:avLst/>
          </a:prstGeom>
          <a:noFill/>
          <a:ln/>
        </p:spPr>
        <p:txBody>
          <a:bodyPr wrap="none" lIns="0" tIns="0" rIns="0" bIns="0" rtlCol="0" anchor="t"/>
          <a:lstStyle/>
          <a:p>
            <a:pPr marL="0" indent="0" algn="l">
              <a:lnSpc>
                <a:spcPts val="2700"/>
              </a:lnSpc>
              <a:buNone/>
            </a:pPr>
            <a:r>
              <a:rPr lang="en-US" sz="2000" b="1">
                <a:solidFill>
                  <a:srgbClr val="E0E4E6"/>
                </a:solidFill>
                <a:latin typeface="Gotham HTF Book"/>
                <a:ea typeface="Spline Sans Bold" pitchFamily="34" charset="-122"/>
                <a:cs typeface="Spline Sans Bold" pitchFamily="34" charset="-120"/>
              </a:rPr>
              <a:t>Geração de retenção</a:t>
            </a:r>
            <a:endParaRPr lang="en-US" sz="2000">
              <a:latin typeface="Gotham HTF Book"/>
            </a:endParaRPr>
          </a:p>
        </p:txBody>
      </p:sp>
      <p:sp>
        <p:nvSpPr>
          <p:cNvPr id="32" name="Text 17">
            <a:extLst>
              <a:ext uri="{FF2B5EF4-FFF2-40B4-BE49-F238E27FC236}">
                <a16:creationId xmlns:a16="http://schemas.microsoft.com/office/drawing/2014/main" id="{B54A0088-5127-A5C9-CD3D-0E7BF64E236C}"/>
              </a:ext>
            </a:extLst>
          </p:cNvPr>
          <p:cNvSpPr/>
          <p:nvPr/>
        </p:nvSpPr>
        <p:spPr>
          <a:xfrm>
            <a:off x="1206162" y="5152336"/>
            <a:ext cx="3358991" cy="395049"/>
          </a:xfrm>
          <a:prstGeom prst="rect">
            <a:avLst/>
          </a:prstGeom>
          <a:noFill/>
          <a:ln/>
        </p:spPr>
        <p:txBody>
          <a:bodyPr wrap="none" lIns="0" tIns="0" rIns="0" bIns="0" rtlCol="0" anchor="t"/>
          <a:lstStyle/>
          <a:p>
            <a:pPr marL="0" indent="0" algn="l">
              <a:lnSpc>
                <a:spcPts val="3100"/>
              </a:lnSpc>
              <a:buNone/>
            </a:pPr>
            <a:r>
              <a:rPr lang="en-US">
                <a:solidFill>
                  <a:srgbClr val="E0E4E6"/>
                </a:solidFill>
                <a:latin typeface="Gotham HTF Book"/>
                <a:ea typeface="Barlow" pitchFamily="34" charset="-122"/>
                <a:cs typeface="Barlow" pitchFamily="34" charset="-120"/>
              </a:rPr>
              <a:t>monetização</a:t>
            </a:r>
            <a:endParaRPr lang="en-US">
              <a:latin typeface="Gotham HTF Book"/>
            </a:endParaRPr>
          </a:p>
        </p:txBody>
      </p:sp>
      <p:sp>
        <p:nvSpPr>
          <p:cNvPr id="33" name="Shape 18">
            <a:extLst>
              <a:ext uri="{FF2B5EF4-FFF2-40B4-BE49-F238E27FC236}">
                <a16:creationId xmlns:a16="http://schemas.microsoft.com/office/drawing/2014/main" id="{1E6A67B5-5EB7-3872-F512-6BCA616E1CCB}"/>
              </a:ext>
            </a:extLst>
          </p:cNvPr>
          <p:cNvSpPr/>
          <p:nvPr/>
        </p:nvSpPr>
        <p:spPr>
          <a:xfrm>
            <a:off x="5089267" y="4384026"/>
            <a:ext cx="4005143" cy="1440656"/>
          </a:xfrm>
          <a:prstGeom prst="roundRect">
            <a:avLst>
              <a:gd name="adj" fmla="val 10155"/>
            </a:avLst>
          </a:prstGeom>
          <a:solidFill>
            <a:srgbClr val="0A081B">
              <a:alpha val="75000"/>
            </a:srgbClr>
          </a:solidFill>
          <a:ln w="30480">
            <a:solidFill>
              <a:srgbClr val="16FFBB"/>
            </a:solidFill>
            <a:prstDash val="solid"/>
          </a:ln>
        </p:spPr>
        <p:txBody>
          <a:bodyPr/>
          <a:lstStyle/>
          <a:p>
            <a:endParaRPr lang="pt-BR" sz="1600">
              <a:latin typeface="Gotham HTF Book"/>
            </a:endParaRPr>
          </a:p>
        </p:txBody>
      </p:sp>
      <p:sp>
        <p:nvSpPr>
          <p:cNvPr id="34" name="Shape 19">
            <a:extLst>
              <a:ext uri="{FF2B5EF4-FFF2-40B4-BE49-F238E27FC236}">
                <a16:creationId xmlns:a16="http://schemas.microsoft.com/office/drawing/2014/main" id="{9B7A47EE-AD7C-C466-5F73-991EE5B85BF4}"/>
              </a:ext>
            </a:extLst>
          </p:cNvPr>
          <p:cNvSpPr/>
          <p:nvPr/>
        </p:nvSpPr>
        <p:spPr>
          <a:xfrm>
            <a:off x="5058787" y="4384026"/>
            <a:ext cx="121920" cy="1440656"/>
          </a:xfrm>
          <a:prstGeom prst="roundRect">
            <a:avLst>
              <a:gd name="adj" fmla="val 303750"/>
            </a:avLst>
          </a:prstGeom>
          <a:solidFill>
            <a:srgbClr val="16FFBB"/>
          </a:solidFill>
          <a:ln/>
        </p:spPr>
        <p:txBody>
          <a:bodyPr/>
          <a:lstStyle/>
          <a:p>
            <a:endParaRPr lang="pt-BR" sz="1600">
              <a:latin typeface="Gotham HTF Book"/>
            </a:endParaRPr>
          </a:p>
        </p:txBody>
      </p:sp>
      <p:sp>
        <p:nvSpPr>
          <p:cNvPr id="35" name="Text 20">
            <a:extLst>
              <a:ext uri="{FF2B5EF4-FFF2-40B4-BE49-F238E27FC236}">
                <a16:creationId xmlns:a16="http://schemas.microsoft.com/office/drawing/2014/main" id="{28C8199A-9008-3463-9B83-EB7B979133D1}"/>
              </a:ext>
            </a:extLst>
          </p:cNvPr>
          <p:cNvSpPr/>
          <p:nvPr/>
        </p:nvSpPr>
        <p:spPr>
          <a:xfrm>
            <a:off x="5458003" y="4661322"/>
            <a:ext cx="3026093" cy="342900"/>
          </a:xfrm>
          <a:prstGeom prst="rect">
            <a:avLst/>
          </a:prstGeom>
          <a:noFill/>
          <a:ln/>
        </p:spPr>
        <p:txBody>
          <a:bodyPr wrap="none" lIns="0" tIns="0" rIns="0" bIns="0" rtlCol="0" anchor="t"/>
          <a:lstStyle/>
          <a:p>
            <a:pPr marL="0" indent="0" algn="l">
              <a:lnSpc>
                <a:spcPts val="2700"/>
              </a:lnSpc>
              <a:buNone/>
            </a:pPr>
            <a:r>
              <a:rPr lang="en-US" sz="2000" b="1">
                <a:solidFill>
                  <a:srgbClr val="E0E4E6"/>
                </a:solidFill>
                <a:latin typeface="Gotham HTF Book"/>
                <a:ea typeface="Spline Sans Bold" pitchFamily="34" charset="-122"/>
                <a:cs typeface="Spline Sans Bold" pitchFamily="34" charset="-120"/>
              </a:rPr>
              <a:t>Diferencial competitivo</a:t>
            </a:r>
            <a:endParaRPr lang="en-US" sz="2000">
              <a:latin typeface="Gotham HTF Book"/>
            </a:endParaRPr>
          </a:p>
        </p:txBody>
      </p:sp>
      <p:sp>
        <p:nvSpPr>
          <p:cNvPr id="36" name="Text 21">
            <a:extLst>
              <a:ext uri="{FF2B5EF4-FFF2-40B4-BE49-F238E27FC236}">
                <a16:creationId xmlns:a16="http://schemas.microsoft.com/office/drawing/2014/main" id="{812BFC3D-0430-4AFB-1B74-65DB78F57363}"/>
              </a:ext>
            </a:extLst>
          </p:cNvPr>
          <p:cNvSpPr/>
          <p:nvPr/>
        </p:nvSpPr>
        <p:spPr>
          <a:xfrm>
            <a:off x="5458003" y="5152336"/>
            <a:ext cx="3359110" cy="395049"/>
          </a:xfrm>
          <a:prstGeom prst="rect">
            <a:avLst/>
          </a:prstGeom>
          <a:noFill/>
          <a:ln/>
        </p:spPr>
        <p:txBody>
          <a:bodyPr wrap="none" lIns="0" tIns="0" rIns="0" bIns="0" rtlCol="0" anchor="t"/>
          <a:lstStyle/>
          <a:p>
            <a:pPr marL="0" indent="0" algn="l">
              <a:lnSpc>
                <a:spcPts val="3100"/>
              </a:lnSpc>
              <a:buNone/>
            </a:pPr>
            <a:r>
              <a:rPr lang="en-US">
                <a:solidFill>
                  <a:srgbClr val="E0E4E6"/>
                </a:solidFill>
                <a:latin typeface="Gotham HTF Book"/>
                <a:ea typeface="Barlow" pitchFamily="34" charset="-122"/>
                <a:cs typeface="Barlow" pitchFamily="34" charset="-120"/>
              </a:rPr>
              <a:t>uso inteligente de IA e dados</a:t>
            </a:r>
            <a:endParaRPr lang="en-US">
              <a:latin typeface="Gotham HTF Book"/>
            </a:endParaRPr>
          </a:p>
        </p:txBody>
      </p:sp>
    </p:spTree>
    <p:extLst>
      <p:ext uri="{BB962C8B-B14F-4D97-AF65-F5344CB8AC3E}">
        <p14:creationId xmlns:p14="http://schemas.microsoft.com/office/powerpoint/2010/main" val="2700496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62B14-E99C-2D2E-881B-C078526676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6FDA7D-0681-00D2-6F64-757939A4E69F}"/>
              </a:ext>
            </a:extLst>
          </p:cNvPr>
          <p:cNvSpPr>
            <a:spLocks noGrp="1"/>
          </p:cNvSpPr>
          <p:nvPr>
            <p:ph type="title"/>
          </p:nvPr>
        </p:nvSpPr>
        <p:spPr/>
        <p:txBody>
          <a:bodyPr/>
          <a:lstStyle/>
          <a:p>
            <a:r>
              <a:rPr lang="en-US">
                <a:latin typeface="Gotham HTF Book"/>
                <a:ea typeface="Spline Sans Bold" pitchFamily="34" charset="-122"/>
                <a:cs typeface="Spline Sans Bold" pitchFamily="34" charset="-120"/>
              </a:rPr>
              <a:t>PERGUNTAS NORTEADORAS</a:t>
            </a:r>
            <a:endParaRPr lang="pt-BR">
              <a:latin typeface="Gotham HTF Book"/>
            </a:endParaRPr>
          </a:p>
        </p:txBody>
      </p:sp>
      <p:sp>
        <p:nvSpPr>
          <p:cNvPr id="4" name="Espaço Reservado para Texto 3">
            <a:extLst>
              <a:ext uri="{FF2B5EF4-FFF2-40B4-BE49-F238E27FC236}">
                <a16:creationId xmlns:a16="http://schemas.microsoft.com/office/drawing/2014/main" id="{198E0530-602C-B4AC-3858-536B8C9ACC82}"/>
              </a:ext>
            </a:extLst>
          </p:cNvPr>
          <p:cNvSpPr>
            <a:spLocks noGrp="1"/>
          </p:cNvSpPr>
          <p:nvPr>
            <p:ph type="body" sz="quarter" idx="13"/>
          </p:nvPr>
        </p:nvSpPr>
        <p:spPr/>
        <p:txBody>
          <a:bodyPr/>
          <a:lstStyle/>
          <a:p>
            <a:r>
              <a:rPr lang="pt-BR"/>
              <a:t>DESAFIO</a:t>
            </a:r>
          </a:p>
        </p:txBody>
      </p:sp>
      <p:sp>
        <p:nvSpPr>
          <p:cNvPr id="5" name="Text 1">
            <a:extLst>
              <a:ext uri="{FF2B5EF4-FFF2-40B4-BE49-F238E27FC236}">
                <a16:creationId xmlns:a16="http://schemas.microsoft.com/office/drawing/2014/main" id="{4FE42EE9-7AF2-989F-A7AB-6BBE0AA89721}"/>
              </a:ext>
            </a:extLst>
          </p:cNvPr>
          <p:cNvSpPr/>
          <p:nvPr/>
        </p:nvSpPr>
        <p:spPr>
          <a:xfrm>
            <a:off x="1238305" y="1578055"/>
            <a:ext cx="9968032" cy="282654"/>
          </a:xfrm>
          <a:prstGeom prst="rect">
            <a:avLst/>
          </a:prstGeom>
          <a:noFill/>
          <a:ln/>
        </p:spPr>
        <p:txBody>
          <a:bodyPr wrap="none" lIns="0" tIns="0" rIns="0" bIns="0" rtlCol="0" anchor="t"/>
          <a:lstStyle/>
          <a:p>
            <a:pPr marL="0" indent="0" algn="l">
              <a:lnSpc>
                <a:spcPts val="2200"/>
              </a:lnSpc>
              <a:buNone/>
            </a:pPr>
            <a:r>
              <a:rPr lang="en-US" sz="1500">
                <a:latin typeface="Gotham HTF Book"/>
                <a:ea typeface="Barlow" pitchFamily="34" charset="-122"/>
                <a:cs typeface="Barlow" pitchFamily="34" charset="-120"/>
              </a:rPr>
              <a:t>Os squads devem responder:</a:t>
            </a:r>
            <a:endParaRPr lang="en-US" sz="1500">
              <a:latin typeface="Gotham HTF Book"/>
            </a:endParaRPr>
          </a:p>
        </p:txBody>
      </p:sp>
      <p:sp>
        <p:nvSpPr>
          <p:cNvPr id="6" name="Shape 2">
            <a:extLst>
              <a:ext uri="{FF2B5EF4-FFF2-40B4-BE49-F238E27FC236}">
                <a16:creationId xmlns:a16="http://schemas.microsoft.com/office/drawing/2014/main" id="{20EF8682-D390-966A-7DAD-EBFD07240715}"/>
              </a:ext>
            </a:extLst>
          </p:cNvPr>
          <p:cNvSpPr/>
          <p:nvPr/>
        </p:nvSpPr>
        <p:spPr>
          <a:xfrm>
            <a:off x="1234832" y="2503866"/>
            <a:ext cx="442555" cy="442555"/>
          </a:xfrm>
          <a:prstGeom prst="roundRect">
            <a:avLst>
              <a:gd name="adj" fmla="val 66683"/>
            </a:avLst>
          </a:prstGeom>
          <a:solidFill>
            <a:srgbClr val="0A081B"/>
          </a:solidFill>
          <a:ln w="22860">
            <a:solidFill>
              <a:srgbClr val="16FFBB"/>
            </a:solidFill>
            <a:prstDash val="solid"/>
          </a:ln>
        </p:spPr>
        <p:txBody>
          <a:bodyPr/>
          <a:lstStyle/>
          <a:p>
            <a:endParaRPr lang="pt-BR">
              <a:solidFill>
                <a:schemeClr val="bg1"/>
              </a:solidFill>
              <a:latin typeface="Gotham HTF Book"/>
            </a:endParaRPr>
          </a:p>
        </p:txBody>
      </p:sp>
      <p:sp>
        <p:nvSpPr>
          <p:cNvPr id="7" name="Text 3">
            <a:extLst>
              <a:ext uri="{FF2B5EF4-FFF2-40B4-BE49-F238E27FC236}">
                <a16:creationId xmlns:a16="http://schemas.microsoft.com/office/drawing/2014/main" id="{4667C63D-2FBB-0684-30E9-62060CC5DF91}"/>
              </a:ext>
            </a:extLst>
          </p:cNvPr>
          <p:cNvSpPr/>
          <p:nvPr/>
        </p:nvSpPr>
        <p:spPr>
          <a:xfrm>
            <a:off x="1324902" y="2561135"/>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1</a:t>
            </a:r>
            <a:endParaRPr lang="en-US" sz="2050">
              <a:solidFill>
                <a:schemeClr val="bg1"/>
              </a:solidFill>
              <a:latin typeface="Gotham HTF Book"/>
            </a:endParaRPr>
          </a:p>
        </p:txBody>
      </p:sp>
      <p:sp>
        <p:nvSpPr>
          <p:cNvPr id="8" name="Text 4">
            <a:extLst>
              <a:ext uri="{FF2B5EF4-FFF2-40B4-BE49-F238E27FC236}">
                <a16:creationId xmlns:a16="http://schemas.microsoft.com/office/drawing/2014/main" id="{B074FF9F-6CB9-7147-9E42-9770196C7EFF}"/>
              </a:ext>
            </a:extLst>
          </p:cNvPr>
          <p:cNvSpPr/>
          <p:nvPr/>
        </p:nvSpPr>
        <p:spPr>
          <a:xfrm>
            <a:off x="1834073" y="2571493"/>
            <a:ext cx="4723448"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Qual problema da jornada tem maior impacto?</a:t>
            </a:r>
            <a:endParaRPr lang="en-US" sz="1700">
              <a:latin typeface="Gotham HTF Book"/>
            </a:endParaRPr>
          </a:p>
        </p:txBody>
      </p:sp>
      <p:sp>
        <p:nvSpPr>
          <p:cNvPr id="9" name="Shape 5">
            <a:extLst>
              <a:ext uri="{FF2B5EF4-FFF2-40B4-BE49-F238E27FC236}">
                <a16:creationId xmlns:a16="http://schemas.microsoft.com/office/drawing/2014/main" id="{C54C45D1-4B67-D793-E344-BB789147A3F1}"/>
              </a:ext>
            </a:extLst>
          </p:cNvPr>
          <p:cNvSpPr/>
          <p:nvPr/>
        </p:nvSpPr>
        <p:spPr>
          <a:xfrm>
            <a:off x="1234832" y="3259913"/>
            <a:ext cx="442555" cy="442555"/>
          </a:xfrm>
          <a:prstGeom prst="roundRect">
            <a:avLst>
              <a:gd name="adj" fmla="val 66683"/>
            </a:avLst>
          </a:prstGeom>
          <a:solidFill>
            <a:srgbClr val="0A081B"/>
          </a:solidFill>
          <a:ln w="22860">
            <a:solidFill>
              <a:srgbClr val="29DDDA"/>
            </a:solidFill>
            <a:prstDash val="solid"/>
          </a:ln>
        </p:spPr>
        <p:txBody>
          <a:bodyPr/>
          <a:lstStyle/>
          <a:p>
            <a:endParaRPr lang="pt-BR">
              <a:solidFill>
                <a:schemeClr val="bg1"/>
              </a:solidFill>
              <a:latin typeface="Gotham HTF Book"/>
            </a:endParaRPr>
          </a:p>
        </p:txBody>
      </p:sp>
      <p:sp>
        <p:nvSpPr>
          <p:cNvPr id="10" name="Text 6">
            <a:extLst>
              <a:ext uri="{FF2B5EF4-FFF2-40B4-BE49-F238E27FC236}">
                <a16:creationId xmlns:a16="http://schemas.microsoft.com/office/drawing/2014/main" id="{7E68100D-EC93-2289-64E7-749B29C4D9FD}"/>
              </a:ext>
            </a:extLst>
          </p:cNvPr>
          <p:cNvSpPr/>
          <p:nvPr/>
        </p:nvSpPr>
        <p:spPr>
          <a:xfrm>
            <a:off x="1324902" y="3317182"/>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2</a:t>
            </a:r>
            <a:endParaRPr lang="en-US" sz="2050">
              <a:solidFill>
                <a:schemeClr val="bg1"/>
              </a:solidFill>
              <a:latin typeface="Gotham HTF Book"/>
            </a:endParaRPr>
          </a:p>
        </p:txBody>
      </p:sp>
      <p:sp>
        <p:nvSpPr>
          <p:cNvPr id="11" name="Text 7">
            <a:extLst>
              <a:ext uri="{FF2B5EF4-FFF2-40B4-BE49-F238E27FC236}">
                <a16:creationId xmlns:a16="http://schemas.microsoft.com/office/drawing/2014/main" id="{C1B649ED-CEFB-9B40-D568-EB5CF68B4329}"/>
              </a:ext>
            </a:extLst>
          </p:cNvPr>
          <p:cNvSpPr/>
          <p:nvPr/>
        </p:nvSpPr>
        <p:spPr>
          <a:xfrm>
            <a:off x="1834073" y="3327540"/>
            <a:ext cx="3296960"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Por que esse problema é crítico?</a:t>
            </a:r>
            <a:endParaRPr lang="en-US" sz="1700">
              <a:latin typeface="Gotham HTF Book"/>
            </a:endParaRPr>
          </a:p>
        </p:txBody>
      </p:sp>
      <p:sp>
        <p:nvSpPr>
          <p:cNvPr id="12" name="Shape 8">
            <a:extLst>
              <a:ext uri="{FF2B5EF4-FFF2-40B4-BE49-F238E27FC236}">
                <a16:creationId xmlns:a16="http://schemas.microsoft.com/office/drawing/2014/main" id="{B4150111-C958-900B-E493-5941E9EB886F}"/>
              </a:ext>
            </a:extLst>
          </p:cNvPr>
          <p:cNvSpPr/>
          <p:nvPr/>
        </p:nvSpPr>
        <p:spPr>
          <a:xfrm>
            <a:off x="1234832" y="4015960"/>
            <a:ext cx="442555" cy="442555"/>
          </a:xfrm>
          <a:prstGeom prst="roundRect">
            <a:avLst>
              <a:gd name="adj" fmla="val 66683"/>
            </a:avLst>
          </a:prstGeom>
          <a:solidFill>
            <a:srgbClr val="0A081B"/>
          </a:solidFill>
          <a:ln w="22860">
            <a:solidFill>
              <a:srgbClr val="37A7E7"/>
            </a:solidFill>
            <a:prstDash val="solid"/>
          </a:ln>
        </p:spPr>
        <p:txBody>
          <a:bodyPr/>
          <a:lstStyle/>
          <a:p>
            <a:endParaRPr lang="pt-BR">
              <a:solidFill>
                <a:schemeClr val="bg1"/>
              </a:solidFill>
              <a:latin typeface="Gotham HTF Book"/>
            </a:endParaRPr>
          </a:p>
        </p:txBody>
      </p:sp>
      <p:sp>
        <p:nvSpPr>
          <p:cNvPr id="13" name="Text 9">
            <a:extLst>
              <a:ext uri="{FF2B5EF4-FFF2-40B4-BE49-F238E27FC236}">
                <a16:creationId xmlns:a16="http://schemas.microsoft.com/office/drawing/2014/main" id="{3E37BA2C-D157-C8CB-9D27-49928642A4AE}"/>
              </a:ext>
            </a:extLst>
          </p:cNvPr>
          <p:cNvSpPr/>
          <p:nvPr/>
        </p:nvSpPr>
        <p:spPr>
          <a:xfrm>
            <a:off x="1324902" y="4073229"/>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3</a:t>
            </a:r>
            <a:endParaRPr lang="en-US" sz="2050">
              <a:solidFill>
                <a:schemeClr val="bg1"/>
              </a:solidFill>
              <a:latin typeface="Gotham HTF Book"/>
            </a:endParaRPr>
          </a:p>
        </p:txBody>
      </p:sp>
      <p:sp>
        <p:nvSpPr>
          <p:cNvPr id="20" name="Text 10">
            <a:extLst>
              <a:ext uri="{FF2B5EF4-FFF2-40B4-BE49-F238E27FC236}">
                <a16:creationId xmlns:a16="http://schemas.microsoft.com/office/drawing/2014/main" id="{834A6631-8F9D-84D4-2F01-D59BDBBCDAC2}"/>
              </a:ext>
            </a:extLst>
          </p:cNvPr>
          <p:cNvSpPr/>
          <p:nvPr/>
        </p:nvSpPr>
        <p:spPr>
          <a:xfrm>
            <a:off x="1834073" y="4083587"/>
            <a:ext cx="3945136"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Como a solução melhora a vida do pet?</a:t>
            </a:r>
            <a:endParaRPr lang="en-US" sz="1700">
              <a:latin typeface="Gotham HTF Book"/>
            </a:endParaRPr>
          </a:p>
        </p:txBody>
      </p:sp>
      <p:sp>
        <p:nvSpPr>
          <p:cNvPr id="21" name="Shape 11">
            <a:extLst>
              <a:ext uri="{FF2B5EF4-FFF2-40B4-BE49-F238E27FC236}">
                <a16:creationId xmlns:a16="http://schemas.microsoft.com/office/drawing/2014/main" id="{6630B979-0D89-4965-1F48-327A22EE7A01}"/>
              </a:ext>
            </a:extLst>
          </p:cNvPr>
          <p:cNvSpPr/>
          <p:nvPr/>
        </p:nvSpPr>
        <p:spPr>
          <a:xfrm>
            <a:off x="1234832" y="4772007"/>
            <a:ext cx="442555" cy="442555"/>
          </a:xfrm>
          <a:prstGeom prst="roundRect">
            <a:avLst>
              <a:gd name="adj" fmla="val 66683"/>
            </a:avLst>
          </a:prstGeom>
          <a:solidFill>
            <a:srgbClr val="0A081B"/>
          </a:solidFill>
          <a:ln w="22860">
            <a:solidFill>
              <a:srgbClr val="091231"/>
            </a:solidFill>
            <a:prstDash val="solid"/>
          </a:ln>
        </p:spPr>
        <p:txBody>
          <a:bodyPr/>
          <a:lstStyle/>
          <a:p>
            <a:endParaRPr lang="pt-BR">
              <a:solidFill>
                <a:schemeClr val="bg1"/>
              </a:solidFill>
              <a:latin typeface="Gotham HTF Book"/>
            </a:endParaRPr>
          </a:p>
        </p:txBody>
      </p:sp>
      <p:sp>
        <p:nvSpPr>
          <p:cNvPr id="22" name="Text 12">
            <a:extLst>
              <a:ext uri="{FF2B5EF4-FFF2-40B4-BE49-F238E27FC236}">
                <a16:creationId xmlns:a16="http://schemas.microsoft.com/office/drawing/2014/main" id="{59C1840C-C5DB-E72C-4602-C20F6B339D17}"/>
              </a:ext>
            </a:extLst>
          </p:cNvPr>
          <p:cNvSpPr/>
          <p:nvPr/>
        </p:nvSpPr>
        <p:spPr>
          <a:xfrm>
            <a:off x="1324902" y="4829276"/>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4</a:t>
            </a:r>
            <a:endParaRPr lang="en-US" sz="2050">
              <a:solidFill>
                <a:schemeClr val="bg1"/>
              </a:solidFill>
              <a:latin typeface="Gotham HTF Book"/>
            </a:endParaRPr>
          </a:p>
        </p:txBody>
      </p:sp>
      <p:sp>
        <p:nvSpPr>
          <p:cNvPr id="23" name="Text 13">
            <a:extLst>
              <a:ext uri="{FF2B5EF4-FFF2-40B4-BE49-F238E27FC236}">
                <a16:creationId xmlns:a16="http://schemas.microsoft.com/office/drawing/2014/main" id="{6CD5F421-54E7-2B35-D150-67195F20D3D1}"/>
              </a:ext>
            </a:extLst>
          </p:cNvPr>
          <p:cNvSpPr/>
          <p:nvPr/>
        </p:nvSpPr>
        <p:spPr>
          <a:xfrm>
            <a:off x="1834073" y="4839634"/>
            <a:ext cx="4632246"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Como melhora a experiência do responsável?</a:t>
            </a:r>
            <a:endParaRPr lang="en-US" sz="1700">
              <a:latin typeface="Gotham HTF Book"/>
            </a:endParaRPr>
          </a:p>
        </p:txBody>
      </p:sp>
      <p:sp>
        <p:nvSpPr>
          <p:cNvPr id="24" name="Shape 14">
            <a:extLst>
              <a:ext uri="{FF2B5EF4-FFF2-40B4-BE49-F238E27FC236}">
                <a16:creationId xmlns:a16="http://schemas.microsoft.com/office/drawing/2014/main" id="{B43C53B5-84EF-93DD-7EE2-8BD82F9C16E2}"/>
              </a:ext>
            </a:extLst>
          </p:cNvPr>
          <p:cNvSpPr/>
          <p:nvPr/>
        </p:nvSpPr>
        <p:spPr>
          <a:xfrm>
            <a:off x="1234832" y="5528053"/>
            <a:ext cx="442555" cy="442555"/>
          </a:xfrm>
          <a:prstGeom prst="roundRect">
            <a:avLst>
              <a:gd name="adj" fmla="val 66683"/>
            </a:avLst>
          </a:prstGeom>
          <a:solidFill>
            <a:srgbClr val="0A081B"/>
          </a:solidFill>
          <a:ln w="22860">
            <a:solidFill>
              <a:srgbClr val="16FFBB"/>
            </a:solidFill>
            <a:prstDash val="solid"/>
          </a:ln>
        </p:spPr>
        <p:txBody>
          <a:bodyPr/>
          <a:lstStyle/>
          <a:p>
            <a:endParaRPr lang="pt-BR">
              <a:solidFill>
                <a:schemeClr val="bg1"/>
              </a:solidFill>
              <a:latin typeface="Gotham HTF Book"/>
            </a:endParaRPr>
          </a:p>
        </p:txBody>
      </p:sp>
      <p:sp>
        <p:nvSpPr>
          <p:cNvPr id="25" name="Text 15">
            <a:extLst>
              <a:ext uri="{FF2B5EF4-FFF2-40B4-BE49-F238E27FC236}">
                <a16:creationId xmlns:a16="http://schemas.microsoft.com/office/drawing/2014/main" id="{C4B644FB-9594-6E0F-F086-CFB28E61A778}"/>
              </a:ext>
            </a:extLst>
          </p:cNvPr>
          <p:cNvSpPr/>
          <p:nvPr/>
        </p:nvSpPr>
        <p:spPr>
          <a:xfrm>
            <a:off x="1324902" y="5585323"/>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5</a:t>
            </a:r>
            <a:endParaRPr lang="en-US" sz="2050">
              <a:solidFill>
                <a:schemeClr val="bg1"/>
              </a:solidFill>
              <a:latin typeface="Gotham HTF Book"/>
            </a:endParaRPr>
          </a:p>
        </p:txBody>
      </p:sp>
      <p:sp>
        <p:nvSpPr>
          <p:cNvPr id="26" name="Text 16">
            <a:extLst>
              <a:ext uri="{FF2B5EF4-FFF2-40B4-BE49-F238E27FC236}">
                <a16:creationId xmlns:a16="http://schemas.microsoft.com/office/drawing/2014/main" id="{8148A46B-F0F3-FE86-D0B7-0F3D09F1CB25}"/>
              </a:ext>
            </a:extLst>
          </p:cNvPr>
          <p:cNvSpPr/>
          <p:nvPr/>
        </p:nvSpPr>
        <p:spPr>
          <a:xfrm>
            <a:off x="1834073" y="5595681"/>
            <a:ext cx="3133011"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Como gera valor para clínicas?</a:t>
            </a:r>
            <a:endParaRPr lang="en-US" sz="1700">
              <a:latin typeface="Gotham HTF Book"/>
            </a:endParaRPr>
          </a:p>
        </p:txBody>
      </p:sp>
      <p:sp>
        <p:nvSpPr>
          <p:cNvPr id="27" name="Shape 17">
            <a:extLst>
              <a:ext uri="{FF2B5EF4-FFF2-40B4-BE49-F238E27FC236}">
                <a16:creationId xmlns:a16="http://schemas.microsoft.com/office/drawing/2014/main" id="{5D589D83-F8C5-1300-F4B2-5F9C560644D0}"/>
              </a:ext>
            </a:extLst>
          </p:cNvPr>
          <p:cNvSpPr/>
          <p:nvPr/>
        </p:nvSpPr>
        <p:spPr>
          <a:xfrm>
            <a:off x="7368967" y="2534048"/>
            <a:ext cx="442555" cy="442555"/>
          </a:xfrm>
          <a:prstGeom prst="roundRect">
            <a:avLst>
              <a:gd name="adj" fmla="val 66683"/>
            </a:avLst>
          </a:prstGeom>
          <a:solidFill>
            <a:srgbClr val="0A081B"/>
          </a:solidFill>
          <a:ln w="22860">
            <a:solidFill>
              <a:srgbClr val="29DDDA"/>
            </a:solidFill>
            <a:prstDash val="solid"/>
          </a:ln>
        </p:spPr>
        <p:txBody>
          <a:bodyPr/>
          <a:lstStyle/>
          <a:p>
            <a:endParaRPr lang="pt-BR">
              <a:solidFill>
                <a:schemeClr val="bg1"/>
              </a:solidFill>
              <a:latin typeface="Gotham HTF Book"/>
            </a:endParaRPr>
          </a:p>
        </p:txBody>
      </p:sp>
      <p:sp>
        <p:nvSpPr>
          <p:cNvPr id="28" name="Text 18">
            <a:extLst>
              <a:ext uri="{FF2B5EF4-FFF2-40B4-BE49-F238E27FC236}">
                <a16:creationId xmlns:a16="http://schemas.microsoft.com/office/drawing/2014/main" id="{9892E7AF-7357-128F-1A0C-EF349E4AB5BF}"/>
              </a:ext>
            </a:extLst>
          </p:cNvPr>
          <p:cNvSpPr/>
          <p:nvPr/>
        </p:nvSpPr>
        <p:spPr>
          <a:xfrm>
            <a:off x="7459037" y="2591317"/>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6</a:t>
            </a:r>
            <a:endParaRPr lang="en-US" sz="2050">
              <a:solidFill>
                <a:schemeClr val="bg1"/>
              </a:solidFill>
              <a:latin typeface="Gotham HTF Book"/>
            </a:endParaRPr>
          </a:p>
        </p:txBody>
      </p:sp>
      <p:sp>
        <p:nvSpPr>
          <p:cNvPr id="29" name="Text 19">
            <a:extLst>
              <a:ext uri="{FF2B5EF4-FFF2-40B4-BE49-F238E27FC236}">
                <a16:creationId xmlns:a16="http://schemas.microsoft.com/office/drawing/2014/main" id="{4E78710E-4805-7CB5-E30B-2B72D0D82BAE}"/>
              </a:ext>
            </a:extLst>
          </p:cNvPr>
          <p:cNvSpPr/>
          <p:nvPr/>
        </p:nvSpPr>
        <p:spPr>
          <a:xfrm>
            <a:off x="7968208" y="2601676"/>
            <a:ext cx="3627120"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Como gera moat para a CLYVO VET?</a:t>
            </a:r>
            <a:endParaRPr lang="en-US" sz="1700">
              <a:latin typeface="Gotham HTF Book"/>
            </a:endParaRPr>
          </a:p>
        </p:txBody>
      </p:sp>
      <p:sp>
        <p:nvSpPr>
          <p:cNvPr id="30" name="Shape 20">
            <a:extLst>
              <a:ext uri="{FF2B5EF4-FFF2-40B4-BE49-F238E27FC236}">
                <a16:creationId xmlns:a16="http://schemas.microsoft.com/office/drawing/2014/main" id="{F7FD5DDB-3D55-8592-B2EF-207E99FA62A1}"/>
              </a:ext>
            </a:extLst>
          </p:cNvPr>
          <p:cNvSpPr/>
          <p:nvPr/>
        </p:nvSpPr>
        <p:spPr>
          <a:xfrm>
            <a:off x="7368967" y="3290095"/>
            <a:ext cx="442555" cy="442555"/>
          </a:xfrm>
          <a:prstGeom prst="roundRect">
            <a:avLst>
              <a:gd name="adj" fmla="val 66683"/>
            </a:avLst>
          </a:prstGeom>
          <a:solidFill>
            <a:srgbClr val="0A081B"/>
          </a:solidFill>
          <a:ln w="22860">
            <a:solidFill>
              <a:srgbClr val="37A7E7"/>
            </a:solidFill>
            <a:prstDash val="solid"/>
          </a:ln>
        </p:spPr>
        <p:txBody>
          <a:bodyPr/>
          <a:lstStyle/>
          <a:p>
            <a:endParaRPr lang="pt-BR">
              <a:solidFill>
                <a:schemeClr val="bg1"/>
              </a:solidFill>
              <a:latin typeface="Gotham HTF Book"/>
            </a:endParaRPr>
          </a:p>
        </p:txBody>
      </p:sp>
      <p:sp>
        <p:nvSpPr>
          <p:cNvPr id="31" name="Text 21">
            <a:extLst>
              <a:ext uri="{FF2B5EF4-FFF2-40B4-BE49-F238E27FC236}">
                <a16:creationId xmlns:a16="http://schemas.microsoft.com/office/drawing/2014/main" id="{D89CAA42-7905-E3AA-0E25-6F00C3BA916E}"/>
              </a:ext>
            </a:extLst>
          </p:cNvPr>
          <p:cNvSpPr/>
          <p:nvPr/>
        </p:nvSpPr>
        <p:spPr>
          <a:xfrm>
            <a:off x="7459037" y="3347364"/>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7</a:t>
            </a:r>
            <a:endParaRPr lang="en-US" sz="2050">
              <a:solidFill>
                <a:schemeClr val="bg1"/>
              </a:solidFill>
              <a:latin typeface="Gotham HTF Book"/>
            </a:endParaRPr>
          </a:p>
        </p:txBody>
      </p:sp>
      <p:sp>
        <p:nvSpPr>
          <p:cNvPr id="32" name="Text 22">
            <a:extLst>
              <a:ext uri="{FF2B5EF4-FFF2-40B4-BE49-F238E27FC236}">
                <a16:creationId xmlns:a16="http://schemas.microsoft.com/office/drawing/2014/main" id="{9DD57D57-44A8-2F02-90D4-478B689F866A}"/>
              </a:ext>
            </a:extLst>
          </p:cNvPr>
          <p:cNvSpPr/>
          <p:nvPr/>
        </p:nvSpPr>
        <p:spPr>
          <a:xfrm>
            <a:off x="7968208" y="3357723"/>
            <a:ext cx="2185988"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Como escala?</a:t>
            </a:r>
            <a:endParaRPr lang="en-US" sz="1700">
              <a:latin typeface="Gotham HTF Book"/>
            </a:endParaRPr>
          </a:p>
        </p:txBody>
      </p:sp>
      <p:sp>
        <p:nvSpPr>
          <p:cNvPr id="33" name="Shape 23">
            <a:extLst>
              <a:ext uri="{FF2B5EF4-FFF2-40B4-BE49-F238E27FC236}">
                <a16:creationId xmlns:a16="http://schemas.microsoft.com/office/drawing/2014/main" id="{6734A0C4-14A0-043C-EC71-60D2BB7F76E4}"/>
              </a:ext>
            </a:extLst>
          </p:cNvPr>
          <p:cNvSpPr/>
          <p:nvPr/>
        </p:nvSpPr>
        <p:spPr>
          <a:xfrm>
            <a:off x="7368967" y="4046142"/>
            <a:ext cx="442555" cy="442555"/>
          </a:xfrm>
          <a:prstGeom prst="roundRect">
            <a:avLst>
              <a:gd name="adj" fmla="val 66683"/>
            </a:avLst>
          </a:prstGeom>
          <a:solidFill>
            <a:srgbClr val="0A081B"/>
          </a:solidFill>
          <a:ln w="22860">
            <a:solidFill>
              <a:srgbClr val="091231"/>
            </a:solidFill>
            <a:prstDash val="solid"/>
          </a:ln>
        </p:spPr>
        <p:txBody>
          <a:bodyPr/>
          <a:lstStyle/>
          <a:p>
            <a:endParaRPr lang="pt-BR">
              <a:solidFill>
                <a:schemeClr val="bg1"/>
              </a:solidFill>
              <a:latin typeface="Gotham HTF Book"/>
            </a:endParaRPr>
          </a:p>
        </p:txBody>
      </p:sp>
      <p:sp>
        <p:nvSpPr>
          <p:cNvPr id="34" name="Text 24">
            <a:extLst>
              <a:ext uri="{FF2B5EF4-FFF2-40B4-BE49-F238E27FC236}">
                <a16:creationId xmlns:a16="http://schemas.microsoft.com/office/drawing/2014/main" id="{2BCA62CE-17D6-5B1D-2C94-C9EC98A903A1}"/>
              </a:ext>
            </a:extLst>
          </p:cNvPr>
          <p:cNvSpPr/>
          <p:nvPr/>
        </p:nvSpPr>
        <p:spPr>
          <a:xfrm>
            <a:off x="7459037" y="4103411"/>
            <a:ext cx="262295" cy="327898"/>
          </a:xfrm>
          <a:prstGeom prst="rect">
            <a:avLst/>
          </a:prstGeom>
          <a:noFill/>
          <a:ln/>
        </p:spPr>
        <p:txBody>
          <a:bodyPr wrap="none" lIns="0" tIns="0" rIns="0" bIns="0" rtlCol="0" anchor="t"/>
          <a:lstStyle/>
          <a:p>
            <a:pPr marL="0" indent="0" algn="ctr">
              <a:lnSpc>
                <a:spcPts val="2050"/>
              </a:lnSpc>
              <a:buNone/>
            </a:pPr>
            <a:r>
              <a:rPr lang="en-US" sz="2050" b="1">
                <a:solidFill>
                  <a:schemeClr val="bg1"/>
                </a:solidFill>
                <a:latin typeface="Gotham HTF Book"/>
                <a:ea typeface="Spline Sans Bold" pitchFamily="34" charset="-122"/>
                <a:cs typeface="Spline Sans Bold" pitchFamily="34" charset="-120"/>
              </a:rPr>
              <a:t>8</a:t>
            </a:r>
            <a:endParaRPr lang="en-US" sz="2050">
              <a:solidFill>
                <a:schemeClr val="bg1"/>
              </a:solidFill>
              <a:latin typeface="Gotham HTF Book"/>
            </a:endParaRPr>
          </a:p>
        </p:txBody>
      </p:sp>
      <p:sp>
        <p:nvSpPr>
          <p:cNvPr id="35" name="Text 25">
            <a:extLst>
              <a:ext uri="{FF2B5EF4-FFF2-40B4-BE49-F238E27FC236}">
                <a16:creationId xmlns:a16="http://schemas.microsoft.com/office/drawing/2014/main" id="{72222BF0-BA5A-6624-160A-C829DD5FBEAA}"/>
              </a:ext>
            </a:extLst>
          </p:cNvPr>
          <p:cNvSpPr/>
          <p:nvPr/>
        </p:nvSpPr>
        <p:spPr>
          <a:xfrm>
            <a:off x="7968208" y="4113770"/>
            <a:ext cx="2185988" cy="273248"/>
          </a:xfrm>
          <a:prstGeom prst="rect">
            <a:avLst/>
          </a:prstGeom>
          <a:noFill/>
          <a:ln/>
        </p:spPr>
        <p:txBody>
          <a:bodyPr wrap="none" lIns="0" tIns="0" rIns="0" bIns="0" rtlCol="0" anchor="t"/>
          <a:lstStyle/>
          <a:p>
            <a:pPr marL="0" indent="0" algn="l">
              <a:lnSpc>
                <a:spcPts val="2150"/>
              </a:lnSpc>
              <a:buNone/>
            </a:pPr>
            <a:r>
              <a:rPr lang="en-US" sz="1700" b="1">
                <a:latin typeface="Gotham HTF Book"/>
                <a:ea typeface="Spline Sans Bold" pitchFamily="34" charset="-122"/>
                <a:cs typeface="Spline Sans Bold" pitchFamily="34" charset="-120"/>
              </a:rPr>
              <a:t>Como monetiza?</a:t>
            </a:r>
            <a:endParaRPr lang="en-US" sz="1700">
              <a:latin typeface="Gotham HTF Book"/>
            </a:endParaRPr>
          </a:p>
        </p:txBody>
      </p:sp>
    </p:spTree>
    <p:extLst>
      <p:ext uri="{BB962C8B-B14F-4D97-AF65-F5344CB8AC3E}">
        <p14:creationId xmlns:p14="http://schemas.microsoft.com/office/powerpoint/2010/main" val="3388852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2FD98D5-2530-604C-6119-007C3F113C99}"/>
              </a:ext>
            </a:extLst>
          </p:cNvPr>
          <p:cNvSpPr>
            <a:spLocks noGrp="1"/>
          </p:cNvSpPr>
          <p:nvPr>
            <p:ph type="ctrTitle"/>
          </p:nvPr>
        </p:nvSpPr>
        <p:spPr>
          <a:xfrm>
            <a:off x="1524000" y="1916832"/>
            <a:ext cx="9144000" cy="2387600"/>
          </a:xfrm>
        </p:spPr>
        <p:txBody>
          <a:bodyPr/>
          <a:lstStyle/>
          <a:p>
            <a:r>
              <a:rPr lang="pt-BR"/>
              <a:t>REGRAS DO </a:t>
            </a:r>
            <a:br>
              <a:rPr lang="pt-BR"/>
            </a:br>
            <a:r>
              <a:rPr lang="pt-BR"/>
              <a:t>CHALLENGE</a:t>
            </a:r>
          </a:p>
        </p:txBody>
      </p:sp>
    </p:spTree>
    <p:extLst>
      <p:ext uri="{BB962C8B-B14F-4D97-AF65-F5344CB8AC3E}">
        <p14:creationId xmlns:p14="http://schemas.microsoft.com/office/powerpoint/2010/main" val="4157043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4F86BC-79A0-BC20-C676-19E2FEE9D4B2}"/>
              </a:ext>
            </a:extLst>
          </p:cNvPr>
          <p:cNvSpPr>
            <a:spLocks noGrp="1"/>
          </p:cNvSpPr>
          <p:nvPr>
            <p:ph type="title"/>
          </p:nvPr>
        </p:nvSpPr>
        <p:spPr/>
        <p:txBody>
          <a:bodyPr/>
          <a:lstStyle/>
          <a:p>
            <a:r>
              <a:rPr lang="pt-BR"/>
              <a:t>TIMES</a:t>
            </a:r>
          </a:p>
        </p:txBody>
      </p:sp>
      <p:sp>
        <p:nvSpPr>
          <p:cNvPr id="3" name="Espaço Reservado para Conteúdo 2">
            <a:extLst>
              <a:ext uri="{FF2B5EF4-FFF2-40B4-BE49-F238E27FC236}">
                <a16:creationId xmlns:a16="http://schemas.microsoft.com/office/drawing/2014/main" id="{780290D5-B3CD-0A2D-3BBA-F6D3EBDAF3C9}"/>
              </a:ext>
            </a:extLst>
          </p:cNvPr>
          <p:cNvSpPr>
            <a:spLocks noGrp="1"/>
          </p:cNvSpPr>
          <p:nvPr>
            <p:ph idx="1"/>
          </p:nvPr>
        </p:nvSpPr>
        <p:spPr>
          <a:xfrm>
            <a:off x="838200" y="1825625"/>
            <a:ext cx="11090448" cy="4351338"/>
          </a:xfrm>
        </p:spPr>
        <p:txBody>
          <a:bodyPr>
            <a:normAutofit fontScale="92500" lnSpcReduction="10000"/>
          </a:bodyPr>
          <a:lstStyle/>
          <a:p>
            <a:pPr>
              <a:lnSpc>
                <a:spcPct val="150000"/>
              </a:lnSpc>
            </a:pPr>
            <a:r>
              <a:rPr lang="pt-BR" sz="2000"/>
              <a:t>Máximo de </a:t>
            </a:r>
            <a:r>
              <a:rPr lang="pt-BR" sz="2000" b="1">
                <a:solidFill>
                  <a:srgbClr val="FF2A65"/>
                </a:solidFill>
              </a:rPr>
              <a:t>5 integrantes</a:t>
            </a:r>
            <a:r>
              <a:rPr lang="pt-BR" sz="2000"/>
              <a:t>;</a:t>
            </a:r>
          </a:p>
          <a:p>
            <a:pPr>
              <a:lnSpc>
                <a:spcPct val="150000"/>
              </a:lnSpc>
            </a:pPr>
            <a:r>
              <a:rPr lang="pt-BR" sz="2000" b="1"/>
              <a:t>Não</a:t>
            </a:r>
            <a:r>
              <a:rPr lang="pt-BR" sz="2000"/>
              <a:t> é permitido o </a:t>
            </a:r>
            <a:r>
              <a:rPr lang="pt-BR" sz="2000" b="1">
                <a:solidFill>
                  <a:srgbClr val="FF2A65"/>
                </a:solidFill>
              </a:rPr>
              <a:t>desenvolvimento individual do projeto</a:t>
            </a:r>
            <a:r>
              <a:rPr lang="pt-BR" sz="2000"/>
              <a:t>;</a:t>
            </a:r>
          </a:p>
          <a:p>
            <a:pPr>
              <a:lnSpc>
                <a:spcPct val="150000"/>
              </a:lnSpc>
            </a:pPr>
            <a:r>
              <a:rPr lang="pt-BR" sz="2000"/>
              <a:t>É recomendado que os grupos sejam </a:t>
            </a:r>
            <a:r>
              <a:rPr lang="pt-BR" sz="2000" b="1">
                <a:solidFill>
                  <a:srgbClr val="FF2A65"/>
                </a:solidFill>
              </a:rPr>
              <a:t>compostos preferencialmente por alunos da mesma turma</a:t>
            </a:r>
            <a:r>
              <a:rPr lang="pt-BR" sz="2000"/>
              <a:t>. No entanto, é permitido formar grupos com alunos de turmas diferentes, desde que estejam cientes e aceitem os possíveis inconvenientes, como horários de apresentação distintos (manhã/noite), diferentes professores, entre outros.</a:t>
            </a:r>
          </a:p>
          <a:p>
            <a:pPr>
              <a:lnSpc>
                <a:spcPct val="150000"/>
              </a:lnSpc>
            </a:pPr>
            <a:r>
              <a:rPr lang="pt-BR" sz="2000">
                <a:solidFill>
                  <a:srgbClr val="000000"/>
                </a:solidFill>
                <a:latin typeface="Gotham HTF Book"/>
              </a:rPr>
              <a:t>As trocas de integrantes só poderão ocorrer até 15 dias antes das entregas, em comunicado do representante ao Scrum Master do desafio, estando todos os integrantes cientes da alteração.</a:t>
            </a:r>
            <a:endParaRPr lang="pt-BR" sz="2000"/>
          </a:p>
          <a:p>
            <a:pPr>
              <a:lnSpc>
                <a:spcPct val="150000"/>
              </a:lnSpc>
            </a:pPr>
            <a:r>
              <a:rPr lang="pt-BR" sz="2000" b="1">
                <a:solidFill>
                  <a:srgbClr val="FF2A65"/>
                </a:solidFill>
              </a:rPr>
              <a:t>Não é permitido formar grupos com alunos de outros cursos ou anos</a:t>
            </a:r>
            <a:r>
              <a:rPr lang="pt-BR" sz="2000"/>
              <a:t>.</a:t>
            </a:r>
          </a:p>
          <a:p>
            <a:pPr marL="0" indent="0">
              <a:lnSpc>
                <a:spcPct val="150000"/>
              </a:lnSpc>
              <a:buNone/>
            </a:pPr>
            <a:endParaRPr lang="pt-BR" sz="2000"/>
          </a:p>
        </p:txBody>
      </p:sp>
      <p:sp>
        <p:nvSpPr>
          <p:cNvPr id="4" name="Espaço Reservado para Texto 3">
            <a:extLst>
              <a:ext uri="{FF2B5EF4-FFF2-40B4-BE49-F238E27FC236}">
                <a16:creationId xmlns:a16="http://schemas.microsoft.com/office/drawing/2014/main" id="{4BC408F3-2DAD-2FB2-EF8F-197B8ACFD6C2}"/>
              </a:ext>
            </a:extLst>
          </p:cNvPr>
          <p:cNvSpPr>
            <a:spLocks noGrp="1"/>
          </p:cNvSpPr>
          <p:nvPr>
            <p:ph type="body" sz="quarter" idx="13"/>
          </p:nvPr>
        </p:nvSpPr>
        <p:spPr/>
        <p:txBody>
          <a:bodyPr/>
          <a:lstStyle/>
          <a:p>
            <a:r>
              <a:rPr lang="pt-BR"/>
              <a:t>COMPOSIÇÃO DOS GRUPOS</a:t>
            </a:r>
          </a:p>
        </p:txBody>
      </p:sp>
    </p:spTree>
    <p:extLst>
      <p:ext uri="{BB962C8B-B14F-4D97-AF65-F5344CB8AC3E}">
        <p14:creationId xmlns:p14="http://schemas.microsoft.com/office/powerpoint/2010/main" val="1380519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CDFF6-38AB-EC29-997D-867E4AC184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BC896B-3CB3-0A5E-4706-DDF7E84112EE}"/>
              </a:ext>
            </a:extLst>
          </p:cNvPr>
          <p:cNvSpPr>
            <a:spLocks noGrp="1"/>
          </p:cNvSpPr>
          <p:nvPr>
            <p:ph type="title"/>
          </p:nvPr>
        </p:nvSpPr>
        <p:spPr/>
        <p:txBody>
          <a:bodyPr/>
          <a:lstStyle/>
          <a:p>
            <a:r>
              <a:rPr lang="pt-BR"/>
              <a:t>ENTREGAS</a:t>
            </a:r>
          </a:p>
        </p:txBody>
      </p:sp>
      <p:sp>
        <p:nvSpPr>
          <p:cNvPr id="3" name="Espaço Reservado para Conteúdo 2">
            <a:extLst>
              <a:ext uri="{FF2B5EF4-FFF2-40B4-BE49-F238E27FC236}">
                <a16:creationId xmlns:a16="http://schemas.microsoft.com/office/drawing/2014/main" id="{96FADF2F-62C7-9379-2659-B47D1D44E049}"/>
              </a:ext>
            </a:extLst>
          </p:cNvPr>
          <p:cNvSpPr>
            <a:spLocks noGrp="1"/>
          </p:cNvSpPr>
          <p:nvPr>
            <p:ph idx="1"/>
          </p:nvPr>
        </p:nvSpPr>
        <p:spPr>
          <a:xfrm>
            <a:off x="838200" y="1690688"/>
            <a:ext cx="11090448" cy="4486275"/>
          </a:xfrm>
        </p:spPr>
        <p:txBody>
          <a:bodyPr>
            <a:normAutofit fontScale="92500" lnSpcReduction="10000"/>
          </a:bodyPr>
          <a:lstStyle/>
          <a:p>
            <a:pPr>
              <a:lnSpc>
                <a:spcPct val="150000"/>
              </a:lnSpc>
            </a:pPr>
            <a:r>
              <a:rPr lang="pt-BR" sz="2000"/>
              <a:t>Os grupos devem </a:t>
            </a:r>
            <a:r>
              <a:rPr lang="pt-BR" sz="2000" b="1">
                <a:solidFill>
                  <a:srgbClr val="FF2A65"/>
                </a:solidFill>
              </a:rPr>
              <a:t>idealizar os projetos </a:t>
            </a:r>
            <a:r>
              <a:rPr lang="pt-BR" sz="2000"/>
              <a:t>a serem desenvolvidos ao longo do ano letivo, dividido em </a:t>
            </a:r>
            <a:r>
              <a:rPr lang="pt-BR" sz="2000" b="1">
                <a:solidFill>
                  <a:srgbClr val="FF2A65"/>
                </a:solidFill>
              </a:rPr>
              <a:t>entregas parciais durante o 1º. e 2º. semestre;</a:t>
            </a:r>
          </a:p>
          <a:p>
            <a:pPr>
              <a:lnSpc>
                <a:spcPct val="150000"/>
              </a:lnSpc>
            </a:pPr>
            <a:r>
              <a:rPr lang="pt-BR" sz="2000"/>
              <a:t>Haverá um total de </a:t>
            </a:r>
            <a:r>
              <a:rPr lang="pt-BR" sz="2000" b="1">
                <a:solidFill>
                  <a:srgbClr val="FF2A65"/>
                </a:solidFill>
              </a:rPr>
              <a:t>4 sprints (4 entregas ao longo do ano);</a:t>
            </a:r>
            <a:endParaRPr lang="pt-BR" sz="2000"/>
          </a:p>
          <a:p>
            <a:pPr>
              <a:lnSpc>
                <a:spcPct val="150000"/>
              </a:lnSpc>
            </a:pPr>
            <a:r>
              <a:rPr lang="pt-BR" sz="2000"/>
              <a:t>No </a:t>
            </a:r>
            <a:r>
              <a:rPr lang="pt-BR" sz="2000" b="1">
                <a:solidFill>
                  <a:srgbClr val="FF2A65"/>
                </a:solidFill>
              </a:rPr>
              <a:t>1º semestre</a:t>
            </a:r>
            <a:r>
              <a:rPr lang="pt-BR" sz="2000"/>
              <a:t>, será realizada </a:t>
            </a:r>
            <a:r>
              <a:rPr lang="pt-BR" sz="2000" b="1">
                <a:solidFill>
                  <a:srgbClr val="FF2A65"/>
                </a:solidFill>
              </a:rPr>
              <a:t>uma única entrega</a:t>
            </a:r>
            <a:r>
              <a:rPr lang="pt-BR" sz="2000"/>
              <a:t>, que deverá ser </a:t>
            </a:r>
            <a:r>
              <a:rPr lang="pt-BR" sz="2000" b="1">
                <a:solidFill>
                  <a:srgbClr val="FF2A65"/>
                </a:solidFill>
              </a:rPr>
              <a:t>apresentada nas duas sprints </a:t>
            </a:r>
            <a:r>
              <a:rPr lang="pt-BR" sz="2000" b="1"/>
              <a:t>(Sprint 1 e Sprint 2)</a:t>
            </a:r>
            <a:r>
              <a:rPr lang="pt-BR" sz="2000"/>
              <a:t>, </a:t>
            </a:r>
            <a:r>
              <a:rPr lang="pt-BR" sz="2000" b="1">
                <a:solidFill>
                  <a:srgbClr val="C00000"/>
                </a:solidFill>
                <a:highlight>
                  <a:srgbClr val="FFFF00"/>
                </a:highlight>
              </a:rPr>
              <a:t>para o grupo receber a nota nas duas sprints é necessário realizar a entrega nas duas sprints.</a:t>
            </a:r>
            <a:endParaRPr lang="pt-BR" sz="2000">
              <a:highlight>
                <a:srgbClr val="FFFF00"/>
              </a:highlight>
            </a:endParaRPr>
          </a:p>
          <a:p>
            <a:pPr>
              <a:lnSpc>
                <a:spcPct val="150000"/>
              </a:lnSpc>
            </a:pPr>
            <a:r>
              <a:rPr lang="pt-BR" sz="2000"/>
              <a:t>No </a:t>
            </a:r>
            <a:r>
              <a:rPr lang="pt-BR" sz="2000" b="1">
                <a:solidFill>
                  <a:srgbClr val="FF2A65"/>
                </a:solidFill>
              </a:rPr>
              <a:t>2º semestre</a:t>
            </a:r>
            <a:r>
              <a:rPr lang="pt-BR" sz="2000"/>
              <a:t>, serão realizadas </a:t>
            </a:r>
            <a:r>
              <a:rPr lang="pt-BR" sz="2000" b="1">
                <a:solidFill>
                  <a:srgbClr val="FF2A65"/>
                </a:solidFill>
              </a:rPr>
              <a:t>duas entregas distintas</a:t>
            </a:r>
            <a:r>
              <a:rPr lang="pt-BR" sz="2000" b="1"/>
              <a:t> (Sprint 3 e Sprint 4)</a:t>
            </a:r>
            <a:r>
              <a:rPr lang="pt-BR" sz="2000"/>
              <a:t>, com evolução do projeto em relação ao que foi desenvolvido anteriormente;.</a:t>
            </a:r>
          </a:p>
          <a:p>
            <a:pPr>
              <a:lnSpc>
                <a:spcPct val="150000"/>
              </a:lnSpc>
            </a:pPr>
            <a:r>
              <a:rPr lang="pt-BR" sz="2000"/>
              <a:t>Cada sprint terá os seus entregáveis de </a:t>
            </a:r>
            <a:r>
              <a:rPr lang="pt-BR" sz="2000" b="1">
                <a:solidFill>
                  <a:srgbClr val="FF2A65"/>
                </a:solidFill>
              </a:rPr>
              <a:t>cada disciplina</a:t>
            </a:r>
            <a:r>
              <a:rPr lang="pt-BR" sz="2000"/>
              <a:t>, especificados pelos respectivos professores no </a:t>
            </a:r>
            <a:r>
              <a:rPr lang="pt-BR" sz="2000" b="1">
                <a:solidFill>
                  <a:srgbClr val="FF2A65"/>
                </a:solidFill>
              </a:rPr>
              <a:t>portal e neste documento</a:t>
            </a:r>
            <a:r>
              <a:rPr lang="pt-BR" sz="2000"/>
              <a:t>;</a:t>
            </a:r>
          </a:p>
          <a:p>
            <a:pPr marL="0" indent="0">
              <a:lnSpc>
                <a:spcPct val="150000"/>
              </a:lnSpc>
              <a:buNone/>
            </a:pPr>
            <a:endParaRPr lang="pt-BR" sz="2000"/>
          </a:p>
        </p:txBody>
      </p:sp>
      <p:sp>
        <p:nvSpPr>
          <p:cNvPr id="4" name="Espaço Reservado para Texto 3">
            <a:extLst>
              <a:ext uri="{FF2B5EF4-FFF2-40B4-BE49-F238E27FC236}">
                <a16:creationId xmlns:a16="http://schemas.microsoft.com/office/drawing/2014/main" id="{00380E68-125F-452D-95E6-3959DF95BB90}"/>
              </a:ext>
            </a:extLst>
          </p:cNvPr>
          <p:cNvSpPr>
            <a:spLocks noGrp="1"/>
          </p:cNvSpPr>
          <p:nvPr>
            <p:ph type="body" sz="quarter" idx="13"/>
          </p:nvPr>
        </p:nvSpPr>
        <p:spPr/>
        <p:txBody>
          <a:bodyPr/>
          <a:lstStyle/>
          <a:p>
            <a:r>
              <a:rPr lang="pt-BR"/>
              <a:t>ENTREGAS DAS SPRINTS</a:t>
            </a:r>
          </a:p>
        </p:txBody>
      </p:sp>
    </p:spTree>
    <p:extLst>
      <p:ext uri="{BB962C8B-B14F-4D97-AF65-F5344CB8AC3E}">
        <p14:creationId xmlns:p14="http://schemas.microsoft.com/office/powerpoint/2010/main" val="1991359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79127-ABEA-09C8-AAE6-02EF1C407E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CC083B-D0FB-974F-9B1E-F89A6322B354}"/>
              </a:ext>
            </a:extLst>
          </p:cNvPr>
          <p:cNvSpPr>
            <a:spLocks noGrp="1"/>
          </p:cNvSpPr>
          <p:nvPr>
            <p:ph type="title"/>
          </p:nvPr>
        </p:nvSpPr>
        <p:spPr/>
        <p:txBody>
          <a:bodyPr/>
          <a:lstStyle/>
          <a:p>
            <a:r>
              <a:rPr lang="pt-BR"/>
              <a:t>ENTREGAS</a:t>
            </a:r>
          </a:p>
        </p:txBody>
      </p:sp>
      <p:sp>
        <p:nvSpPr>
          <p:cNvPr id="3" name="Espaço Reservado para Conteúdo 2">
            <a:extLst>
              <a:ext uri="{FF2B5EF4-FFF2-40B4-BE49-F238E27FC236}">
                <a16:creationId xmlns:a16="http://schemas.microsoft.com/office/drawing/2014/main" id="{21662B8B-9CF0-9518-55C0-FCED31EF3C38}"/>
              </a:ext>
            </a:extLst>
          </p:cNvPr>
          <p:cNvSpPr>
            <a:spLocks noGrp="1"/>
          </p:cNvSpPr>
          <p:nvPr>
            <p:ph idx="1"/>
          </p:nvPr>
        </p:nvSpPr>
        <p:spPr>
          <a:xfrm>
            <a:off x="901763" y="1576313"/>
            <a:ext cx="11090448" cy="4351338"/>
          </a:xfrm>
        </p:spPr>
        <p:txBody>
          <a:bodyPr>
            <a:normAutofit/>
          </a:bodyPr>
          <a:lstStyle/>
          <a:p>
            <a:pPr>
              <a:lnSpc>
                <a:spcPct val="150000"/>
              </a:lnSpc>
            </a:pPr>
            <a:r>
              <a:rPr lang="pt-BR" sz="2000"/>
              <a:t>Entrega de cada </a:t>
            </a:r>
            <a:r>
              <a:rPr lang="pt-BR" sz="2000" b="1">
                <a:solidFill>
                  <a:srgbClr val="FF2A65"/>
                </a:solidFill>
              </a:rPr>
              <a:t>sprint será realizada por disciplina</a:t>
            </a:r>
            <a:r>
              <a:rPr lang="pt-BR" sz="2000"/>
              <a:t>;</a:t>
            </a:r>
          </a:p>
          <a:p>
            <a:pPr>
              <a:lnSpc>
                <a:spcPct val="150000"/>
              </a:lnSpc>
            </a:pPr>
            <a:r>
              <a:rPr lang="pt-BR" sz="2000"/>
              <a:t>Cada disciplina disponibilizou os </a:t>
            </a:r>
            <a:r>
              <a:rPr lang="pt-BR" sz="2000" b="1">
                <a:solidFill>
                  <a:srgbClr val="FF2A65"/>
                </a:solidFill>
              </a:rPr>
              <a:t>requisitos no portal e nesta documentação</a:t>
            </a:r>
            <a:r>
              <a:rPr lang="pt-BR" sz="2000"/>
              <a:t>;</a:t>
            </a:r>
          </a:p>
          <a:p>
            <a:pPr>
              <a:lnSpc>
                <a:spcPct val="150000"/>
              </a:lnSpc>
            </a:pPr>
            <a:r>
              <a:rPr lang="pt-BR" sz="2000"/>
              <a:t>Entrega de todas as disciplinas serão realizadas através do </a:t>
            </a:r>
            <a:r>
              <a:rPr lang="pt-BR" sz="2000" b="1">
                <a:solidFill>
                  <a:srgbClr val="FF2A65"/>
                </a:solidFill>
              </a:rPr>
              <a:t>portal FIAP</a:t>
            </a:r>
            <a:r>
              <a:rPr lang="pt-BR" sz="2000"/>
              <a:t>.</a:t>
            </a:r>
          </a:p>
          <a:p>
            <a:pPr marL="0" indent="0">
              <a:lnSpc>
                <a:spcPct val="150000"/>
              </a:lnSpc>
              <a:buNone/>
            </a:pPr>
            <a:endParaRPr lang="pt-BR" sz="2000"/>
          </a:p>
        </p:txBody>
      </p:sp>
      <p:sp>
        <p:nvSpPr>
          <p:cNvPr id="4" name="Espaço Reservado para Texto 3">
            <a:extLst>
              <a:ext uri="{FF2B5EF4-FFF2-40B4-BE49-F238E27FC236}">
                <a16:creationId xmlns:a16="http://schemas.microsoft.com/office/drawing/2014/main" id="{E2945426-8018-00CC-37BA-B6D73EF48DBF}"/>
              </a:ext>
            </a:extLst>
          </p:cNvPr>
          <p:cNvSpPr>
            <a:spLocks noGrp="1"/>
          </p:cNvSpPr>
          <p:nvPr>
            <p:ph type="body" sz="quarter" idx="13"/>
          </p:nvPr>
        </p:nvSpPr>
        <p:spPr/>
        <p:txBody>
          <a:bodyPr/>
          <a:lstStyle/>
          <a:p>
            <a:r>
              <a:rPr lang="pt-BR"/>
              <a:t>ENTREGAS 1º SEMESTRE</a:t>
            </a:r>
          </a:p>
        </p:txBody>
      </p:sp>
      <p:sp>
        <p:nvSpPr>
          <p:cNvPr id="6" name="Retângulo 5">
            <a:extLst>
              <a:ext uri="{FF2B5EF4-FFF2-40B4-BE49-F238E27FC236}">
                <a16:creationId xmlns:a16="http://schemas.microsoft.com/office/drawing/2014/main" id="{02616E3C-48E6-2D44-730E-94398C20AD30}"/>
              </a:ext>
            </a:extLst>
          </p:cNvPr>
          <p:cNvSpPr/>
          <p:nvPr/>
        </p:nvSpPr>
        <p:spPr>
          <a:xfrm>
            <a:off x="4799856" y="3702754"/>
            <a:ext cx="2423160" cy="1202607"/>
          </a:xfrm>
          <a:prstGeom prst="rect">
            <a:avLst/>
          </a:prstGeom>
          <a:solidFill>
            <a:srgbClr val="FF2A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pt-BR"/>
          </a:p>
        </p:txBody>
      </p:sp>
      <p:sp>
        <p:nvSpPr>
          <p:cNvPr id="7" name="Google Shape;119;p18">
            <a:extLst>
              <a:ext uri="{FF2B5EF4-FFF2-40B4-BE49-F238E27FC236}">
                <a16:creationId xmlns:a16="http://schemas.microsoft.com/office/drawing/2014/main" id="{861A126D-8C0C-8766-8AE7-6CB6948145C5}"/>
              </a:ext>
            </a:extLst>
          </p:cNvPr>
          <p:cNvSpPr txBox="1">
            <a:spLocks noGrp="1"/>
          </p:cNvSpPr>
          <p:nvPr/>
        </p:nvSpPr>
        <p:spPr>
          <a:xfrm>
            <a:off x="5203748" y="3770624"/>
            <a:ext cx="2440805" cy="12766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2"/>
              </a:buClr>
              <a:buSzPts val="2000"/>
              <a:buFont typeface="Montserrat"/>
              <a:buChar char="▣"/>
              <a:defRPr sz="2000" b="0" i="0" u="none" strike="noStrike" cap="none">
                <a:solidFill>
                  <a:schemeClr val="dk1"/>
                </a:solidFill>
                <a:latin typeface="Montserrat"/>
                <a:ea typeface="Montserrat"/>
                <a:cs typeface="Montserrat"/>
                <a:sym typeface="Montserrat"/>
              </a:defRPr>
            </a:lvl1pPr>
            <a:lvl2pPr marL="914400" marR="0" lvl="1" indent="-355600" algn="l" rtl="0">
              <a:lnSpc>
                <a:spcPct val="100000"/>
              </a:lnSpc>
              <a:spcBef>
                <a:spcPts val="0"/>
              </a:spcBef>
              <a:spcAft>
                <a:spcPts val="0"/>
              </a:spcAft>
              <a:buClr>
                <a:schemeClr val="accent2"/>
              </a:buClr>
              <a:buSzPts val="2000"/>
              <a:buFont typeface="Montserrat"/>
              <a:buChar char="□"/>
              <a:defRPr sz="2000" b="0" i="0" u="none" strike="noStrike" cap="none">
                <a:solidFill>
                  <a:schemeClr val="dk1"/>
                </a:solidFill>
                <a:latin typeface="Montserrat"/>
                <a:ea typeface="Montserrat"/>
                <a:cs typeface="Montserrat"/>
                <a:sym typeface="Montserrat"/>
              </a:defRPr>
            </a:lvl2pPr>
            <a:lvl3pPr marL="1371600" marR="0" lvl="2" indent="-355600" algn="l" rtl="0">
              <a:lnSpc>
                <a:spcPct val="100000"/>
              </a:lnSpc>
              <a:spcBef>
                <a:spcPts val="0"/>
              </a:spcBef>
              <a:spcAft>
                <a:spcPts val="0"/>
              </a:spcAft>
              <a:buClr>
                <a:schemeClr val="accent2"/>
              </a:buClr>
              <a:buSzPts val="2000"/>
              <a:buFont typeface="Montserrat"/>
              <a:buChar char="■"/>
              <a:defRPr sz="2000" b="0" i="0" u="none" strike="noStrike" cap="none">
                <a:solidFill>
                  <a:schemeClr val="dk1"/>
                </a:solidFill>
                <a:latin typeface="Montserrat"/>
                <a:ea typeface="Montserrat"/>
                <a:cs typeface="Montserrat"/>
                <a:sym typeface="Montserrat"/>
              </a:defRPr>
            </a:lvl3pPr>
            <a:lvl4pPr marL="1828800" marR="0" lvl="3" indent="-355600" algn="l" rtl="0">
              <a:lnSpc>
                <a:spcPct val="100000"/>
              </a:lnSpc>
              <a:spcBef>
                <a:spcPts val="0"/>
              </a:spcBef>
              <a:spcAft>
                <a:spcPts val="0"/>
              </a:spcAft>
              <a:buClr>
                <a:schemeClr val="dk1"/>
              </a:buClr>
              <a:buSzPts val="2000"/>
              <a:buFont typeface="Montserrat"/>
              <a:buChar char="●"/>
              <a:defRPr sz="2000" b="0" i="0" u="none" strike="noStrike" cap="none">
                <a:solidFill>
                  <a:schemeClr val="dk1"/>
                </a:solidFill>
                <a:latin typeface="Montserrat"/>
                <a:ea typeface="Montserrat"/>
                <a:cs typeface="Montserrat"/>
                <a:sym typeface="Montserrat"/>
              </a:defRPr>
            </a:lvl4pPr>
            <a:lvl5pPr marL="2286000" marR="0" lvl="4" indent="-355600" algn="l" rtl="0">
              <a:lnSpc>
                <a:spcPct val="100000"/>
              </a:lnSpc>
              <a:spcBef>
                <a:spcPts val="0"/>
              </a:spcBef>
              <a:spcAft>
                <a:spcPts val="0"/>
              </a:spcAft>
              <a:buClr>
                <a:schemeClr val="dk1"/>
              </a:buClr>
              <a:buSzPts val="2000"/>
              <a:buFont typeface="Montserrat"/>
              <a:buChar char="○"/>
              <a:defRPr sz="2000" b="0" i="0" u="none" strike="noStrike" cap="none">
                <a:solidFill>
                  <a:schemeClr val="dk1"/>
                </a:solidFill>
                <a:latin typeface="Montserrat"/>
                <a:ea typeface="Montserrat"/>
                <a:cs typeface="Montserrat"/>
                <a:sym typeface="Montserrat"/>
              </a:defRPr>
            </a:lvl5pPr>
            <a:lvl6pPr marL="2743200" marR="0" lvl="5" indent="-355600" algn="l" rtl="0">
              <a:lnSpc>
                <a:spcPct val="100000"/>
              </a:lnSpc>
              <a:spcBef>
                <a:spcPts val="0"/>
              </a:spcBef>
              <a:spcAft>
                <a:spcPts val="0"/>
              </a:spcAft>
              <a:buClr>
                <a:schemeClr val="dk1"/>
              </a:buClr>
              <a:buSzPts val="2000"/>
              <a:buFont typeface="Montserrat"/>
              <a:buChar char="■"/>
              <a:defRPr sz="2000" b="0" i="0" u="none" strike="noStrike" cap="none">
                <a:solidFill>
                  <a:schemeClr val="dk1"/>
                </a:solidFill>
                <a:latin typeface="Montserrat"/>
                <a:ea typeface="Montserrat"/>
                <a:cs typeface="Montserrat"/>
                <a:sym typeface="Montserrat"/>
              </a:defRPr>
            </a:lvl6pPr>
            <a:lvl7pPr marL="3200400" marR="0" lvl="6" indent="-355600" algn="l" rtl="0">
              <a:lnSpc>
                <a:spcPct val="100000"/>
              </a:lnSpc>
              <a:spcBef>
                <a:spcPts val="0"/>
              </a:spcBef>
              <a:spcAft>
                <a:spcPts val="0"/>
              </a:spcAft>
              <a:buClr>
                <a:schemeClr val="dk1"/>
              </a:buClr>
              <a:buSzPts val="2000"/>
              <a:buFont typeface="Montserrat"/>
              <a:buChar char="●"/>
              <a:defRPr sz="2000" b="0" i="0" u="none" strike="noStrike" cap="none">
                <a:solidFill>
                  <a:schemeClr val="dk1"/>
                </a:solidFill>
                <a:latin typeface="Montserrat"/>
                <a:ea typeface="Montserrat"/>
                <a:cs typeface="Montserrat"/>
                <a:sym typeface="Montserrat"/>
              </a:defRPr>
            </a:lvl7pPr>
            <a:lvl8pPr marL="3657600" marR="0" lvl="7" indent="-355600" algn="l" rtl="0">
              <a:lnSpc>
                <a:spcPct val="100000"/>
              </a:lnSpc>
              <a:spcBef>
                <a:spcPts val="0"/>
              </a:spcBef>
              <a:spcAft>
                <a:spcPts val="0"/>
              </a:spcAft>
              <a:buClr>
                <a:schemeClr val="dk1"/>
              </a:buClr>
              <a:buSzPts val="2000"/>
              <a:buFont typeface="Montserrat"/>
              <a:buChar char="○"/>
              <a:defRPr sz="2000" b="0" i="0" u="none" strike="noStrike" cap="none">
                <a:solidFill>
                  <a:schemeClr val="dk1"/>
                </a:solidFill>
                <a:latin typeface="Montserrat"/>
                <a:ea typeface="Montserrat"/>
                <a:cs typeface="Montserrat"/>
                <a:sym typeface="Montserrat"/>
              </a:defRPr>
            </a:lvl8pPr>
            <a:lvl9pPr marL="4114800" marR="0" lvl="8" indent="-355600" algn="l" rtl="0">
              <a:lnSpc>
                <a:spcPct val="100000"/>
              </a:lnSpc>
              <a:spcBef>
                <a:spcPts val="0"/>
              </a:spcBef>
              <a:spcAft>
                <a:spcPts val="0"/>
              </a:spcAft>
              <a:buClr>
                <a:schemeClr val="dk1"/>
              </a:buClr>
              <a:buSzPts val="2000"/>
              <a:buFont typeface="Montserrat"/>
              <a:buChar char="■"/>
              <a:defRPr sz="2000" b="0" i="0" u="none" strike="noStrike" cap="none">
                <a:solidFill>
                  <a:schemeClr val="dk1"/>
                </a:solidFill>
                <a:latin typeface="Montserrat"/>
                <a:ea typeface="Montserrat"/>
                <a:cs typeface="Montserrat"/>
                <a:sym typeface="Montserrat"/>
              </a:defRPr>
            </a:lvl9pPr>
          </a:lstStyle>
          <a:p>
            <a:pPr marL="0" lvl="0" indent="0" algn="l" rtl="0">
              <a:spcBef>
                <a:spcPts val="600"/>
              </a:spcBef>
              <a:spcAft>
                <a:spcPts val="0"/>
              </a:spcAft>
              <a:buNone/>
            </a:pPr>
            <a:r>
              <a:rPr lang="en" b="1"/>
              <a:t> Entrega</a:t>
            </a:r>
            <a:endParaRPr b="1"/>
          </a:p>
          <a:p>
            <a:pPr marL="0" lvl="0" indent="0" algn="l" rtl="0">
              <a:spcBef>
                <a:spcPts val="600"/>
              </a:spcBef>
              <a:spcAft>
                <a:spcPts val="0"/>
              </a:spcAft>
              <a:buNone/>
            </a:pPr>
            <a:r>
              <a:rPr lang="en" b="1"/>
              <a:t>24/05/2025</a:t>
            </a:r>
            <a:endParaRPr b="1"/>
          </a:p>
        </p:txBody>
      </p:sp>
      <p:sp>
        <p:nvSpPr>
          <p:cNvPr id="9" name="Espaço Reservado para Conteúdo 2">
            <a:extLst>
              <a:ext uri="{FF2B5EF4-FFF2-40B4-BE49-F238E27FC236}">
                <a16:creationId xmlns:a16="http://schemas.microsoft.com/office/drawing/2014/main" id="{74D92683-BD50-663E-948E-DA0859221EA8}"/>
              </a:ext>
            </a:extLst>
          </p:cNvPr>
          <p:cNvSpPr txBox="1">
            <a:spLocks/>
          </p:cNvSpPr>
          <p:nvPr/>
        </p:nvSpPr>
        <p:spPr>
          <a:xfrm>
            <a:off x="767408" y="5600462"/>
            <a:ext cx="1109044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otham HTF Book"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otham HTF Book"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otham HTF Book"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otham HTF Book"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otham HTF Book"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pt-BR" sz="2000"/>
              <a:t>Nesta data, </a:t>
            </a:r>
            <a:r>
              <a:rPr lang="pt-BR" sz="2000" b="1">
                <a:solidFill>
                  <a:srgbClr val="FF2A65"/>
                </a:solidFill>
              </a:rPr>
              <a:t>o grupo deverá entregar o mesmo projeto nas duas Sprints (Sprint 1 e Sprint 2)</a:t>
            </a:r>
            <a:r>
              <a:rPr lang="pt-BR" sz="2000"/>
              <a:t>, para que possa receber a nota nas duas sprints.</a:t>
            </a:r>
          </a:p>
          <a:p>
            <a:pPr marL="0" indent="0">
              <a:lnSpc>
                <a:spcPct val="150000"/>
              </a:lnSpc>
              <a:buFont typeface="Arial" panose="020B0604020202020204" pitchFamily="34" charset="0"/>
              <a:buNone/>
            </a:pPr>
            <a:endParaRPr lang="pt-BR" sz="2000"/>
          </a:p>
        </p:txBody>
      </p:sp>
    </p:spTree>
    <p:extLst>
      <p:ext uri="{BB962C8B-B14F-4D97-AF65-F5344CB8AC3E}">
        <p14:creationId xmlns:p14="http://schemas.microsoft.com/office/powerpoint/2010/main" val="3733940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44BB1-4C38-2E83-CD00-7252DAB2A60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7F1C10A2-E8A1-C620-EE76-C1E6D35B9664}"/>
              </a:ext>
            </a:extLst>
          </p:cNvPr>
          <p:cNvSpPr>
            <a:spLocks noGrp="1"/>
          </p:cNvSpPr>
          <p:nvPr>
            <p:ph type="ctrTitle"/>
          </p:nvPr>
        </p:nvSpPr>
        <p:spPr>
          <a:xfrm>
            <a:off x="1631504" y="1340768"/>
            <a:ext cx="9144000" cy="2387600"/>
          </a:xfrm>
        </p:spPr>
        <p:txBody>
          <a:bodyPr/>
          <a:lstStyle/>
          <a:p>
            <a:r>
              <a:rPr lang="pt-BR"/>
              <a:t>RESPONSABILIDADES</a:t>
            </a:r>
          </a:p>
        </p:txBody>
      </p:sp>
    </p:spTree>
    <p:extLst>
      <p:ext uri="{BB962C8B-B14F-4D97-AF65-F5344CB8AC3E}">
        <p14:creationId xmlns:p14="http://schemas.microsoft.com/office/powerpoint/2010/main" val="2073442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6943-28B8-CF5C-842E-CCB9A29A3F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196106-EC91-F007-51E3-14E38DA3C9B7}"/>
              </a:ext>
            </a:extLst>
          </p:cNvPr>
          <p:cNvSpPr>
            <a:spLocks noGrp="1"/>
          </p:cNvSpPr>
          <p:nvPr>
            <p:ph type="title"/>
          </p:nvPr>
        </p:nvSpPr>
        <p:spPr/>
        <p:txBody>
          <a:bodyPr/>
          <a:lstStyle/>
          <a:p>
            <a:r>
              <a:rPr lang="pt-BR"/>
              <a:t>ALUNOS</a:t>
            </a:r>
          </a:p>
        </p:txBody>
      </p:sp>
      <p:sp>
        <p:nvSpPr>
          <p:cNvPr id="3" name="Espaço Reservado para Conteúdo 2">
            <a:extLst>
              <a:ext uri="{FF2B5EF4-FFF2-40B4-BE49-F238E27FC236}">
                <a16:creationId xmlns:a16="http://schemas.microsoft.com/office/drawing/2014/main" id="{1F45D6F7-5AEA-7D8D-E1D7-920A36482A94}"/>
              </a:ext>
            </a:extLst>
          </p:cNvPr>
          <p:cNvSpPr>
            <a:spLocks noGrp="1"/>
          </p:cNvSpPr>
          <p:nvPr>
            <p:ph idx="1"/>
          </p:nvPr>
        </p:nvSpPr>
        <p:spPr>
          <a:xfrm>
            <a:off x="838200" y="1825625"/>
            <a:ext cx="11090448" cy="4351338"/>
          </a:xfrm>
        </p:spPr>
        <p:txBody>
          <a:bodyPr>
            <a:normAutofit/>
          </a:bodyPr>
          <a:lstStyle/>
          <a:p>
            <a:pPr>
              <a:lnSpc>
                <a:spcPct val="150000"/>
              </a:lnSpc>
            </a:pPr>
            <a:r>
              <a:rPr lang="pt-BR" sz="2000"/>
              <a:t>Ter </a:t>
            </a:r>
            <a:r>
              <a:rPr lang="pt-BR" sz="2000" b="1">
                <a:solidFill>
                  <a:srgbClr val="FF2A65"/>
                </a:solidFill>
              </a:rPr>
              <a:t>ciência do documento do </a:t>
            </a:r>
            <a:r>
              <a:rPr lang="pt-BR" sz="2000" b="1" err="1">
                <a:solidFill>
                  <a:srgbClr val="FF2A65"/>
                </a:solidFill>
              </a:rPr>
              <a:t>Challenge</a:t>
            </a:r>
            <a:r>
              <a:rPr lang="pt-BR" sz="2000" b="1">
                <a:solidFill>
                  <a:srgbClr val="FF2A65"/>
                </a:solidFill>
              </a:rPr>
              <a:t> </a:t>
            </a:r>
            <a:r>
              <a:rPr lang="pt-BR" sz="2000"/>
              <a:t>e cumprir as entregas conforme orientação dos professores;</a:t>
            </a:r>
          </a:p>
          <a:p>
            <a:pPr>
              <a:lnSpc>
                <a:spcPct val="150000"/>
              </a:lnSpc>
            </a:pPr>
            <a:r>
              <a:rPr lang="pt-BR" sz="2000"/>
              <a:t>Realizar a </a:t>
            </a:r>
            <a:r>
              <a:rPr lang="pt-BR" sz="2000" b="1">
                <a:solidFill>
                  <a:srgbClr val="FF2A65"/>
                </a:solidFill>
              </a:rPr>
              <a:t>organização e gestão do grupo</a:t>
            </a:r>
            <a:r>
              <a:rPr lang="pt-BR" sz="2000"/>
              <a:t>, incluindo planejamento e prazos internos;</a:t>
            </a:r>
          </a:p>
          <a:p>
            <a:pPr>
              <a:lnSpc>
                <a:spcPct val="150000"/>
              </a:lnSpc>
            </a:pPr>
            <a:r>
              <a:rPr lang="pt-BR" sz="2000"/>
              <a:t>Garantir a </a:t>
            </a:r>
            <a:r>
              <a:rPr lang="pt-BR" sz="2000" b="1">
                <a:solidFill>
                  <a:srgbClr val="FF2A65"/>
                </a:solidFill>
              </a:rPr>
              <a:t>qualidade no desenvolvimento dos entregáveis</a:t>
            </a:r>
            <a:r>
              <a:rPr lang="pt-BR" sz="2000"/>
              <a:t>, buscando soluções bem estruturadas;</a:t>
            </a:r>
          </a:p>
          <a:p>
            <a:pPr marL="0" indent="0">
              <a:lnSpc>
                <a:spcPct val="150000"/>
              </a:lnSpc>
              <a:buNone/>
            </a:pPr>
            <a:endParaRPr lang="pt-BR" sz="2000"/>
          </a:p>
        </p:txBody>
      </p:sp>
      <p:sp>
        <p:nvSpPr>
          <p:cNvPr id="4" name="Espaço Reservado para Texto 3">
            <a:extLst>
              <a:ext uri="{FF2B5EF4-FFF2-40B4-BE49-F238E27FC236}">
                <a16:creationId xmlns:a16="http://schemas.microsoft.com/office/drawing/2014/main" id="{2C8F6B08-11CD-4921-AE4F-718FA5146738}"/>
              </a:ext>
            </a:extLst>
          </p:cNvPr>
          <p:cNvSpPr>
            <a:spLocks noGrp="1"/>
          </p:cNvSpPr>
          <p:nvPr>
            <p:ph type="body" sz="quarter" idx="13"/>
          </p:nvPr>
        </p:nvSpPr>
        <p:spPr/>
        <p:txBody>
          <a:bodyPr/>
          <a:lstStyle/>
          <a:p>
            <a:r>
              <a:rPr lang="pt-BR"/>
              <a:t>RESPONSABILIDADES</a:t>
            </a:r>
          </a:p>
        </p:txBody>
      </p:sp>
    </p:spTree>
    <p:extLst>
      <p:ext uri="{BB962C8B-B14F-4D97-AF65-F5344CB8AC3E}">
        <p14:creationId xmlns:p14="http://schemas.microsoft.com/office/powerpoint/2010/main" val="345619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3F310-F2B5-B8E9-D9AE-CA01FEBBD1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A8B27F-D3A7-1C89-D1FA-CA079E0658E2}"/>
              </a:ext>
            </a:extLst>
          </p:cNvPr>
          <p:cNvSpPr>
            <a:spLocks noGrp="1"/>
          </p:cNvSpPr>
          <p:nvPr>
            <p:ph type="title"/>
          </p:nvPr>
        </p:nvSpPr>
        <p:spPr/>
        <p:txBody>
          <a:bodyPr/>
          <a:lstStyle/>
          <a:p>
            <a:r>
              <a:rPr lang="pt-BR"/>
              <a:t>PROFESSORES</a:t>
            </a:r>
          </a:p>
        </p:txBody>
      </p:sp>
      <p:sp>
        <p:nvSpPr>
          <p:cNvPr id="3" name="Espaço Reservado para Conteúdo 2">
            <a:extLst>
              <a:ext uri="{FF2B5EF4-FFF2-40B4-BE49-F238E27FC236}">
                <a16:creationId xmlns:a16="http://schemas.microsoft.com/office/drawing/2014/main" id="{2E8325EF-7C5C-5E08-13B2-31A5B24D9F01}"/>
              </a:ext>
            </a:extLst>
          </p:cNvPr>
          <p:cNvSpPr>
            <a:spLocks noGrp="1"/>
          </p:cNvSpPr>
          <p:nvPr>
            <p:ph idx="1"/>
          </p:nvPr>
        </p:nvSpPr>
        <p:spPr>
          <a:xfrm>
            <a:off x="838200" y="1825625"/>
            <a:ext cx="11090448" cy="4351338"/>
          </a:xfrm>
        </p:spPr>
        <p:txBody>
          <a:bodyPr>
            <a:normAutofit/>
          </a:bodyPr>
          <a:lstStyle/>
          <a:p>
            <a:pPr>
              <a:lnSpc>
                <a:spcPct val="150000"/>
              </a:lnSpc>
            </a:pPr>
            <a:r>
              <a:rPr lang="pt-BR" sz="2000"/>
              <a:t>Orientar o </a:t>
            </a:r>
            <a:r>
              <a:rPr lang="pt-BR" sz="2000" b="1">
                <a:solidFill>
                  <a:srgbClr val="FF2A65"/>
                </a:solidFill>
              </a:rPr>
              <a:t>desenvolvimento do projeto </a:t>
            </a:r>
            <a:r>
              <a:rPr lang="pt-BR" sz="2000"/>
              <a:t>em suas disciplinas;</a:t>
            </a:r>
          </a:p>
          <a:p>
            <a:pPr>
              <a:lnSpc>
                <a:spcPct val="150000"/>
              </a:lnSpc>
            </a:pPr>
            <a:r>
              <a:rPr lang="pt-BR" sz="2000"/>
              <a:t>Manter os </a:t>
            </a:r>
            <a:r>
              <a:rPr lang="pt-BR" sz="2000" b="1">
                <a:solidFill>
                  <a:srgbClr val="FF2A65"/>
                </a:solidFill>
              </a:rPr>
              <a:t>requisitos e entregáveis atualizados</a:t>
            </a:r>
            <a:r>
              <a:rPr lang="pt-BR" sz="2000">
                <a:solidFill>
                  <a:srgbClr val="FF2A65"/>
                </a:solidFill>
              </a:rPr>
              <a:t> </a:t>
            </a:r>
            <a:r>
              <a:rPr lang="pt-BR" sz="2000"/>
              <a:t>para alunos e equipe docente;</a:t>
            </a:r>
          </a:p>
          <a:p>
            <a:pPr>
              <a:lnSpc>
                <a:spcPct val="150000"/>
              </a:lnSpc>
            </a:pPr>
            <a:r>
              <a:rPr lang="pt-BR" sz="2000"/>
              <a:t>Explicar de forma clara os </a:t>
            </a:r>
            <a:r>
              <a:rPr lang="pt-BR" sz="2000" b="1">
                <a:solidFill>
                  <a:srgbClr val="FF2A65"/>
                </a:solidFill>
              </a:rPr>
              <a:t>critérios de avaliação e expectativas de cada entrega</a:t>
            </a:r>
            <a:r>
              <a:rPr lang="pt-BR" sz="2000">
                <a:solidFill>
                  <a:srgbClr val="FF2A65"/>
                </a:solidFill>
              </a:rPr>
              <a:t>;</a:t>
            </a:r>
          </a:p>
          <a:p>
            <a:pPr>
              <a:lnSpc>
                <a:spcPct val="150000"/>
              </a:lnSpc>
            </a:pPr>
            <a:r>
              <a:rPr lang="pt-BR" sz="2000"/>
              <a:t>Realizar a </a:t>
            </a:r>
            <a:r>
              <a:rPr lang="pt-BR" sz="2000" b="1">
                <a:solidFill>
                  <a:srgbClr val="FF2A65"/>
                </a:solidFill>
              </a:rPr>
              <a:t>correção dos entregáveis e atribuição de notas </a:t>
            </a:r>
            <a:r>
              <a:rPr lang="pt-BR" sz="2000"/>
              <a:t>por disciplina;</a:t>
            </a:r>
          </a:p>
          <a:p>
            <a:pPr>
              <a:lnSpc>
                <a:spcPct val="150000"/>
              </a:lnSpc>
            </a:pPr>
            <a:r>
              <a:rPr lang="pt-BR" sz="2000"/>
              <a:t>Disponibilizar </a:t>
            </a:r>
            <a:r>
              <a:rPr lang="pt-BR" sz="2000" b="1">
                <a:solidFill>
                  <a:srgbClr val="FF2A65"/>
                </a:solidFill>
              </a:rPr>
              <a:t>feedback e justificativas de avaliação;</a:t>
            </a:r>
            <a:endParaRPr lang="pt-BR" sz="2000"/>
          </a:p>
        </p:txBody>
      </p:sp>
      <p:sp>
        <p:nvSpPr>
          <p:cNvPr id="4" name="Espaço Reservado para Texto 3">
            <a:extLst>
              <a:ext uri="{FF2B5EF4-FFF2-40B4-BE49-F238E27FC236}">
                <a16:creationId xmlns:a16="http://schemas.microsoft.com/office/drawing/2014/main" id="{86BC62D0-CAB9-9AF3-9B7A-F88AA3464D8B}"/>
              </a:ext>
            </a:extLst>
          </p:cNvPr>
          <p:cNvSpPr>
            <a:spLocks noGrp="1"/>
          </p:cNvSpPr>
          <p:nvPr>
            <p:ph type="body" sz="quarter" idx="13"/>
          </p:nvPr>
        </p:nvSpPr>
        <p:spPr/>
        <p:txBody>
          <a:bodyPr/>
          <a:lstStyle/>
          <a:p>
            <a:r>
              <a:rPr lang="pt-BR"/>
              <a:t>RESPONSABILIDADES</a:t>
            </a:r>
          </a:p>
        </p:txBody>
      </p:sp>
    </p:spTree>
    <p:extLst>
      <p:ext uri="{BB962C8B-B14F-4D97-AF65-F5344CB8AC3E}">
        <p14:creationId xmlns:p14="http://schemas.microsoft.com/office/powerpoint/2010/main" val="1294209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83C52-6085-CAF1-5279-C6B695CC4B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0BFAEC-3F95-8B1C-15B6-7BCB70ADF314}"/>
              </a:ext>
            </a:extLst>
          </p:cNvPr>
          <p:cNvSpPr>
            <a:spLocks noGrp="1"/>
          </p:cNvSpPr>
          <p:nvPr>
            <p:ph type="title"/>
          </p:nvPr>
        </p:nvSpPr>
        <p:spPr/>
        <p:txBody>
          <a:bodyPr/>
          <a:lstStyle/>
          <a:p>
            <a:r>
              <a:rPr lang="pt-BR"/>
              <a:t>SCRUM MASTER</a:t>
            </a:r>
          </a:p>
        </p:txBody>
      </p:sp>
      <p:sp>
        <p:nvSpPr>
          <p:cNvPr id="3" name="Espaço Reservado para Conteúdo 2">
            <a:extLst>
              <a:ext uri="{FF2B5EF4-FFF2-40B4-BE49-F238E27FC236}">
                <a16:creationId xmlns:a16="http://schemas.microsoft.com/office/drawing/2014/main" id="{A8D184EF-F028-AB91-D64E-B59BF67CD263}"/>
              </a:ext>
            </a:extLst>
          </p:cNvPr>
          <p:cNvSpPr>
            <a:spLocks noGrp="1"/>
          </p:cNvSpPr>
          <p:nvPr>
            <p:ph idx="1"/>
          </p:nvPr>
        </p:nvSpPr>
        <p:spPr>
          <a:xfrm>
            <a:off x="838200" y="1825625"/>
            <a:ext cx="11090448" cy="4351338"/>
          </a:xfrm>
        </p:spPr>
        <p:txBody>
          <a:bodyPr>
            <a:normAutofit/>
          </a:bodyPr>
          <a:lstStyle/>
          <a:p>
            <a:pPr>
              <a:lnSpc>
                <a:spcPct val="150000"/>
              </a:lnSpc>
            </a:pPr>
            <a:r>
              <a:rPr lang="pt-BR" sz="2000"/>
              <a:t>Atuar como ponto de contato entre </a:t>
            </a:r>
            <a:r>
              <a:rPr lang="pt-BR" sz="2000" b="1">
                <a:solidFill>
                  <a:srgbClr val="FF2A65"/>
                </a:solidFill>
              </a:rPr>
              <a:t>alunos, professores e empresa parceira;</a:t>
            </a:r>
          </a:p>
          <a:p>
            <a:pPr>
              <a:lnSpc>
                <a:spcPct val="150000"/>
              </a:lnSpc>
            </a:pPr>
            <a:r>
              <a:rPr lang="pt-BR" sz="2000"/>
              <a:t>Organizar e agendar eventos do projeto, como </a:t>
            </a:r>
            <a:r>
              <a:rPr lang="pt-BR" sz="2000" b="1" err="1">
                <a:solidFill>
                  <a:srgbClr val="FF2A65"/>
                </a:solidFill>
              </a:rPr>
              <a:t>kickoff</a:t>
            </a:r>
            <a:r>
              <a:rPr lang="pt-BR" sz="2000" b="1">
                <a:solidFill>
                  <a:srgbClr val="FF2A65"/>
                </a:solidFill>
              </a:rPr>
              <a:t>, mentorias e apresentações;</a:t>
            </a:r>
          </a:p>
          <a:p>
            <a:pPr>
              <a:lnSpc>
                <a:spcPct val="150000"/>
              </a:lnSpc>
            </a:pPr>
            <a:r>
              <a:rPr lang="pt-BR" sz="2000"/>
              <a:t>Para garantir organização e alinhamento, </a:t>
            </a:r>
            <a:r>
              <a:rPr lang="pt-BR" sz="2000" b="1">
                <a:solidFill>
                  <a:srgbClr val="FF2A65"/>
                </a:solidFill>
              </a:rPr>
              <a:t>toda comunicação dos alunos com a empresa parceira </a:t>
            </a:r>
            <a:r>
              <a:rPr lang="pt-BR" sz="2000"/>
              <a:t>deve ser feita exclusivamente por meio do </a:t>
            </a:r>
            <a:r>
              <a:rPr lang="pt-BR" sz="2000" b="1">
                <a:solidFill>
                  <a:srgbClr val="FF2A65"/>
                </a:solidFill>
              </a:rPr>
              <a:t>Scrum Master.</a:t>
            </a:r>
          </a:p>
          <a:p>
            <a:pPr>
              <a:lnSpc>
                <a:spcPct val="150000"/>
              </a:lnSpc>
            </a:pPr>
            <a:endParaRPr lang="pt-BR" sz="2000" b="1">
              <a:solidFill>
                <a:srgbClr val="FF2A65"/>
              </a:solidFill>
            </a:endParaRPr>
          </a:p>
          <a:p>
            <a:pPr marL="0" indent="0">
              <a:lnSpc>
                <a:spcPct val="150000"/>
              </a:lnSpc>
              <a:buNone/>
            </a:pPr>
            <a:endParaRPr lang="pt-BR" sz="2000"/>
          </a:p>
        </p:txBody>
      </p:sp>
      <p:sp>
        <p:nvSpPr>
          <p:cNvPr id="4" name="Espaço Reservado para Texto 3">
            <a:extLst>
              <a:ext uri="{FF2B5EF4-FFF2-40B4-BE49-F238E27FC236}">
                <a16:creationId xmlns:a16="http://schemas.microsoft.com/office/drawing/2014/main" id="{CD64DB50-0C26-188F-AA49-39386AF57BAE}"/>
              </a:ext>
            </a:extLst>
          </p:cNvPr>
          <p:cNvSpPr>
            <a:spLocks noGrp="1"/>
          </p:cNvSpPr>
          <p:nvPr>
            <p:ph type="body" sz="quarter" idx="13"/>
          </p:nvPr>
        </p:nvSpPr>
        <p:spPr/>
        <p:txBody>
          <a:bodyPr/>
          <a:lstStyle/>
          <a:p>
            <a:r>
              <a:rPr lang="pt-BR"/>
              <a:t>RESPONSABILIDADES</a:t>
            </a:r>
          </a:p>
        </p:txBody>
      </p:sp>
    </p:spTree>
    <p:extLst>
      <p:ext uri="{BB962C8B-B14F-4D97-AF65-F5344CB8AC3E}">
        <p14:creationId xmlns:p14="http://schemas.microsoft.com/office/powerpoint/2010/main" val="632623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6674B-4194-D937-57BD-C99053B2BD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EEFED2-19D8-B8F9-37B3-0FADF76E4073}"/>
              </a:ext>
            </a:extLst>
          </p:cNvPr>
          <p:cNvSpPr>
            <a:spLocks noGrp="1"/>
          </p:cNvSpPr>
          <p:nvPr>
            <p:ph type="title"/>
          </p:nvPr>
        </p:nvSpPr>
        <p:spPr/>
        <p:txBody>
          <a:bodyPr/>
          <a:lstStyle/>
          <a:p>
            <a:r>
              <a:rPr lang="en-US">
                <a:latin typeface="Gotham HTF Book"/>
              </a:rPr>
              <a:t>DEVOPS TOOLS &amp; CLOUD COMPUTING </a:t>
            </a:r>
            <a:r>
              <a:rPr lang="en-US" sz="2400">
                <a:latin typeface="Gotham HTF Book"/>
              </a:rPr>
              <a:t>1/5</a:t>
            </a:r>
            <a:endParaRPr lang="pt-BR" sz="2400"/>
          </a:p>
        </p:txBody>
      </p:sp>
      <p:sp>
        <p:nvSpPr>
          <p:cNvPr id="3" name="Espaço Reservado para Conteúdo 2">
            <a:extLst>
              <a:ext uri="{FF2B5EF4-FFF2-40B4-BE49-F238E27FC236}">
                <a16:creationId xmlns:a16="http://schemas.microsoft.com/office/drawing/2014/main" id="{0BAAF8D7-56F6-19E4-9BDF-E109BFCD7B17}"/>
              </a:ext>
            </a:extLst>
          </p:cNvPr>
          <p:cNvSpPr>
            <a:spLocks noGrp="1"/>
          </p:cNvSpPr>
          <p:nvPr>
            <p:ph idx="1"/>
          </p:nvPr>
        </p:nvSpPr>
        <p:spPr>
          <a:xfrm>
            <a:off x="838199" y="1829876"/>
            <a:ext cx="11224853" cy="4054476"/>
          </a:xfrm>
        </p:spPr>
        <p:txBody>
          <a:bodyPr vert="horz" lIns="91440" tIns="45720" rIns="91440" bIns="45720" rtlCol="0" anchor="t">
            <a:noAutofit/>
          </a:bodyPr>
          <a:lstStyle/>
          <a:p>
            <a:pPr marL="0" indent="0" algn="just">
              <a:buNone/>
            </a:pPr>
            <a:r>
              <a:rPr lang="pt-BR" sz="1600" b="1">
                <a:latin typeface="Gotham HTF Book"/>
              </a:rPr>
              <a:t>Objetivo</a:t>
            </a:r>
          </a:p>
          <a:p>
            <a:pPr marL="0" indent="0" algn="just">
              <a:buNone/>
            </a:pPr>
            <a:r>
              <a:rPr lang="pt-BR" sz="1600">
                <a:latin typeface="Gotham HTF Book"/>
              </a:rPr>
              <a:t>Realizar a Conteinerização em nuvem da solução proposta de uma das disciplinas: ADVANCED BUSINESS DEVELOPMENT WITH .NET ou JAVA ADVANCED</a:t>
            </a:r>
          </a:p>
          <a:p>
            <a:pPr marL="0" indent="0" algn="just">
              <a:buNone/>
            </a:pPr>
            <a:endParaRPr lang="pt-BR" sz="1600">
              <a:latin typeface="Gotham HTF Book"/>
            </a:endParaRPr>
          </a:p>
          <a:p>
            <a:pPr algn="just">
              <a:buNone/>
            </a:pPr>
            <a:r>
              <a:rPr lang="pt-BR" sz="1600" b="1">
                <a:latin typeface="Gotham HTF Book"/>
              </a:rPr>
              <a:t>Regras gerais</a:t>
            </a:r>
          </a:p>
          <a:p>
            <a:pPr algn="just"/>
            <a:r>
              <a:rPr lang="pt-BR" sz="1600">
                <a:latin typeface="Gotham HTF Book"/>
              </a:rPr>
              <a:t>Apresentar um CRUD (GET, POST, PUT, DELETE) com pelo menos 2 </a:t>
            </a:r>
            <a:r>
              <a:rPr lang="pt-BR" sz="1600" err="1">
                <a:latin typeface="Gotham HTF Book"/>
              </a:rPr>
              <a:t>inserts</a:t>
            </a:r>
            <a:r>
              <a:rPr lang="pt-BR" sz="1600">
                <a:latin typeface="Gotham HTF Book"/>
              </a:rPr>
              <a:t> com conteúdo significativo</a:t>
            </a:r>
          </a:p>
          <a:p>
            <a:pPr algn="just"/>
            <a:r>
              <a:rPr lang="pt-BR" sz="1600">
                <a:latin typeface="Gotham HTF Book"/>
              </a:rPr>
              <a:t>Persistência de dados com Banco H2 ou Oracle</a:t>
            </a:r>
          </a:p>
          <a:p>
            <a:pPr algn="just"/>
            <a:r>
              <a:rPr lang="pt-BR" sz="1600">
                <a:latin typeface="Gotham HTF Book"/>
              </a:rPr>
              <a:t>Implementação do </a:t>
            </a:r>
            <a:r>
              <a:rPr lang="pt-BR" sz="1600" err="1">
                <a:latin typeface="Gotham HTF Book"/>
              </a:rPr>
              <a:t>Readme</a:t>
            </a:r>
            <a:r>
              <a:rPr lang="pt-BR" sz="1600">
                <a:latin typeface="Gotham HTF Book"/>
              </a:rPr>
              <a:t> no GitHub do projeto apresentando: Descrição do projeto, Benefícios para o Negócio, Desenho Macro da Arquitetura, Rotas, Instalação da solução (</a:t>
            </a:r>
            <a:r>
              <a:rPr lang="pt-BR" sz="1600" err="1">
                <a:latin typeface="Gotham HTF Book"/>
              </a:rPr>
              <a:t>How</a:t>
            </a:r>
            <a:r>
              <a:rPr lang="pt-BR" sz="1600">
                <a:latin typeface="Gotham HTF Book"/>
              </a:rPr>
              <a:t> </a:t>
            </a:r>
            <a:r>
              <a:rPr lang="pt-BR" sz="1600" err="1">
                <a:latin typeface="Gotham HTF Book"/>
              </a:rPr>
              <a:t>to</a:t>
            </a:r>
            <a:r>
              <a:rPr lang="pt-BR" sz="1600">
                <a:latin typeface="Gotham HTF Book"/>
              </a:rPr>
              <a:t>), </a:t>
            </a:r>
            <a:r>
              <a:rPr lang="pt-BR" sz="1600" err="1">
                <a:latin typeface="Gotham HTF Book"/>
              </a:rPr>
              <a:t>Dockerfile</a:t>
            </a:r>
            <a:r>
              <a:rPr lang="pt-BR" sz="1600">
                <a:latin typeface="Gotham HTF Book"/>
              </a:rPr>
              <a:t> ou Arquivo YAML do Docker </a:t>
            </a:r>
            <a:r>
              <a:rPr lang="pt-BR" sz="1600" err="1">
                <a:latin typeface="Gotham HTF Book"/>
              </a:rPr>
              <a:t>Compose</a:t>
            </a:r>
            <a:r>
              <a:rPr lang="pt-BR" sz="1600">
                <a:latin typeface="Gotham HTF Book"/>
              </a:rPr>
              <a:t> e scripts do Azure CLI</a:t>
            </a:r>
          </a:p>
          <a:p>
            <a:pPr marL="0" indent="0" algn="just">
              <a:buNone/>
            </a:pPr>
            <a:endParaRPr lang="pt-BR" sz="1600">
              <a:latin typeface="Gotham HTF Book"/>
            </a:endParaRPr>
          </a:p>
          <a:p>
            <a:pPr algn="just">
              <a:buNone/>
            </a:pPr>
            <a:r>
              <a:rPr lang="pt-BR" sz="1600">
                <a:latin typeface="Gotham HTF Book"/>
              </a:rPr>
              <a:t>A nota irá variar de acordo com a completude da entrega e, </a:t>
            </a:r>
            <a:r>
              <a:rPr lang="pt-BR" sz="1600">
                <a:solidFill>
                  <a:srgbClr val="FF0000"/>
                </a:solidFill>
                <a:latin typeface="Gotham HTF Book"/>
              </a:rPr>
              <a:t>se a entrega não funcionar em nuvem, não poderá ser avaliada</a:t>
            </a:r>
            <a:r>
              <a:rPr lang="pt-BR" sz="1600">
                <a:latin typeface="Gotham HTF Book"/>
              </a:rPr>
              <a:t>, ficando apenas a parte do GitHub e Arquitetura para análise e totalização da nota</a:t>
            </a:r>
          </a:p>
          <a:p>
            <a:pPr algn="just">
              <a:buNone/>
            </a:pPr>
            <a:endParaRPr lang="pt-BR" sz="1600">
              <a:latin typeface="Gotham HTF Book"/>
            </a:endParaRPr>
          </a:p>
        </p:txBody>
      </p:sp>
      <p:sp>
        <p:nvSpPr>
          <p:cNvPr id="4" name="Espaço Reservado para Texto 3">
            <a:extLst>
              <a:ext uri="{FF2B5EF4-FFF2-40B4-BE49-F238E27FC236}">
                <a16:creationId xmlns:a16="http://schemas.microsoft.com/office/drawing/2014/main" id="{2963366C-E215-7FE9-08CC-CEFA00F3B66B}"/>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1088356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DBBD-11A6-F42C-99BE-51EF7E2F6E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D7D2BC-3E35-DEB0-3F94-7D483108D435}"/>
              </a:ext>
            </a:extLst>
          </p:cNvPr>
          <p:cNvSpPr>
            <a:spLocks noGrp="1"/>
          </p:cNvSpPr>
          <p:nvPr>
            <p:ph type="title"/>
          </p:nvPr>
        </p:nvSpPr>
        <p:spPr/>
        <p:txBody>
          <a:bodyPr/>
          <a:lstStyle/>
          <a:p>
            <a:r>
              <a:rPr lang="en-US">
                <a:latin typeface="Gotham HTF Book"/>
              </a:rPr>
              <a:t>DEVOPS TOOLS &amp; CLOUD COMPUTING </a:t>
            </a:r>
            <a:r>
              <a:rPr lang="en-US" sz="2400">
                <a:latin typeface="Gotham HTF Book"/>
              </a:rPr>
              <a:t>2/5</a:t>
            </a:r>
            <a:endParaRPr lang="pt-BR"/>
          </a:p>
        </p:txBody>
      </p:sp>
      <p:sp>
        <p:nvSpPr>
          <p:cNvPr id="3" name="Espaço Reservado para Conteúdo 2">
            <a:extLst>
              <a:ext uri="{FF2B5EF4-FFF2-40B4-BE49-F238E27FC236}">
                <a16:creationId xmlns:a16="http://schemas.microsoft.com/office/drawing/2014/main" id="{C742F129-FB6A-AFA2-4279-6F42DEAAF3F0}"/>
              </a:ext>
            </a:extLst>
          </p:cNvPr>
          <p:cNvSpPr>
            <a:spLocks noGrp="1"/>
          </p:cNvSpPr>
          <p:nvPr>
            <p:ph idx="1"/>
          </p:nvPr>
        </p:nvSpPr>
        <p:spPr>
          <a:xfrm>
            <a:off x="838199" y="1613976"/>
            <a:ext cx="11224853" cy="5032376"/>
          </a:xfrm>
        </p:spPr>
        <p:txBody>
          <a:bodyPr vert="horz" lIns="91440" tIns="45720" rIns="91440" bIns="45720" rtlCol="0" anchor="t">
            <a:noAutofit/>
          </a:bodyPr>
          <a:lstStyle/>
          <a:p>
            <a:pPr>
              <a:buNone/>
            </a:pPr>
            <a:r>
              <a:rPr lang="pt-BR" sz="1600" b="1">
                <a:latin typeface="Gotham HTF Book"/>
              </a:rPr>
              <a:t>Tarefas</a:t>
            </a:r>
          </a:p>
          <a:p>
            <a:pPr>
              <a:buNone/>
            </a:pPr>
            <a:endParaRPr lang="pt-BR" sz="1600">
              <a:latin typeface="Gotham HTF Book"/>
            </a:endParaRPr>
          </a:p>
          <a:p>
            <a:pPr>
              <a:buNone/>
            </a:pPr>
            <a:r>
              <a:rPr lang="pt-BR" sz="1600" dirty="0">
                <a:latin typeface="Gotham HTF Book"/>
              </a:rPr>
              <a:t>01) Um Script completo criado pelo </a:t>
            </a:r>
            <a:r>
              <a:rPr lang="pt-BR" sz="1600" dirty="0" err="1">
                <a:latin typeface="Gotham HTF Book"/>
              </a:rPr>
              <a:t>Azue</a:t>
            </a:r>
            <a:r>
              <a:rPr lang="pt-BR" sz="1600" dirty="0">
                <a:latin typeface="Gotham HTF Book"/>
              </a:rPr>
              <a:t> CLI que realize as tarefas em sequência: </a:t>
            </a:r>
            <a:r>
              <a:rPr lang="pt-BR" sz="1600" b="1" dirty="0">
                <a:solidFill>
                  <a:srgbClr val="FF0000"/>
                </a:solidFill>
                <a:latin typeface="Gotham HTF Book"/>
              </a:rPr>
              <a:t>(Até 20 pontos)</a:t>
            </a:r>
            <a:endParaRPr lang="pt-BR" b="1" dirty="0">
              <a:solidFill>
                <a:srgbClr val="FF0000"/>
              </a:solidFill>
            </a:endParaRPr>
          </a:p>
          <a:p>
            <a:pPr>
              <a:buNone/>
            </a:pPr>
            <a:r>
              <a:rPr lang="pt-BR" sz="1600">
                <a:latin typeface="Gotham HTF Book"/>
              </a:rPr>
              <a:t>  1.1) Provisionar uma Máquina Virtual Linux na Azure</a:t>
            </a:r>
            <a:endParaRPr lang="pt-BR"/>
          </a:p>
          <a:p>
            <a:pPr>
              <a:buNone/>
            </a:pPr>
            <a:r>
              <a:rPr lang="pt-BR" sz="1600">
                <a:latin typeface="Gotham HTF Book"/>
              </a:rPr>
              <a:t>  1.2) Abrir as portas necessárias ao projeto na VM</a:t>
            </a:r>
            <a:endParaRPr lang="pt-BR"/>
          </a:p>
          <a:p>
            <a:pPr>
              <a:buNone/>
            </a:pPr>
            <a:r>
              <a:rPr lang="pt-BR" sz="1600">
                <a:latin typeface="Gotham HTF Book"/>
              </a:rPr>
              <a:t>  1.3) Instalar o Docker na VM criada</a:t>
            </a:r>
            <a:endParaRPr lang="pt-BR"/>
          </a:p>
          <a:p>
            <a:pPr>
              <a:buNone/>
            </a:pPr>
            <a:r>
              <a:rPr lang="pt-BR" sz="1600" dirty="0">
                <a:latin typeface="Gotham HTF Book"/>
              </a:rPr>
              <a:t>  1.4) Instalar as ferramentas necessárias ao projeto (</a:t>
            </a:r>
            <a:r>
              <a:rPr lang="pt-BR" sz="1600" dirty="0" err="1">
                <a:latin typeface="Gotham HTF Book"/>
              </a:rPr>
              <a:t>Git</a:t>
            </a:r>
            <a:r>
              <a:rPr lang="pt-BR" sz="1600" dirty="0">
                <a:latin typeface="Gotham HTF Book"/>
              </a:rPr>
              <a:t>, nano </a:t>
            </a:r>
            <a:r>
              <a:rPr lang="pt-BR" sz="1600" dirty="0" err="1">
                <a:latin typeface="Gotham HTF Book"/>
              </a:rPr>
              <a:t>etc</a:t>
            </a:r>
            <a:r>
              <a:rPr lang="pt-BR" sz="1600" dirty="0">
                <a:latin typeface="Gotham HTF Book"/>
              </a:rPr>
              <a:t> )</a:t>
            </a:r>
            <a:endParaRPr lang="pt-BR" dirty="0"/>
          </a:p>
          <a:p>
            <a:pPr>
              <a:buNone/>
            </a:pPr>
            <a:endParaRPr lang="pt-BR" sz="2000" dirty="0">
              <a:solidFill>
                <a:srgbClr val="FF0000"/>
              </a:solidFill>
              <a:latin typeface="Gotham HTF Book"/>
            </a:endParaRPr>
          </a:p>
          <a:p>
            <a:pPr>
              <a:buNone/>
            </a:pPr>
            <a:r>
              <a:rPr lang="pt-BR" sz="2000">
                <a:solidFill>
                  <a:srgbClr val="FF0000"/>
                </a:solidFill>
                <a:latin typeface="Gotham HTF Book"/>
              </a:rPr>
              <a:t>02) Executar a entrega de .NET ou Java na </a:t>
            </a:r>
            <a:r>
              <a:rPr lang="pt-BR" sz="2000">
                <a:solidFill>
                  <a:srgbClr val="FF0000"/>
                </a:solidFill>
                <a:highlight>
                  <a:srgbClr val="FFFF00"/>
                </a:highlight>
                <a:latin typeface="Gotham HTF Book"/>
              </a:rPr>
              <a:t>VM em nuvem utilizando Docker (App e Banco)</a:t>
            </a:r>
            <a:r>
              <a:rPr lang="pt-BR" sz="2000">
                <a:solidFill>
                  <a:srgbClr val="FF0000"/>
                </a:solidFill>
                <a:latin typeface="Gotham HTF Book"/>
              </a:rPr>
              <a:t> e realizar os testes externamente </a:t>
            </a:r>
            <a:r>
              <a:rPr lang="pt-BR" sz="2000" b="1">
                <a:solidFill>
                  <a:srgbClr val="FF0000"/>
                </a:solidFill>
                <a:latin typeface="Gotham HTF Book"/>
              </a:rPr>
              <a:t>(Até 60 pontos)</a:t>
            </a:r>
            <a:endParaRPr lang="pt-BR" sz="2000" b="1">
              <a:solidFill>
                <a:srgbClr val="FF0000"/>
              </a:solidFill>
            </a:endParaRPr>
          </a:p>
          <a:p>
            <a:pPr>
              <a:buNone/>
            </a:pPr>
            <a:r>
              <a:rPr lang="pt-BR" sz="1600">
                <a:latin typeface="Gotham HTF Book"/>
              </a:rPr>
              <a:t>  2.1) Projeto executando em background</a:t>
            </a:r>
            <a:endParaRPr lang="pt-BR"/>
          </a:p>
          <a:p>
            <a:pPr>
              <a:buNone/>
            </a:pPr>
            <a:r>
              <a:rPr lang="pt-BR" sz="1600">
                <a:latin typeface="Gotham HTF Book"/>
              </a:rPr>
              <a:t>  2.2) Rodar aplicação com usuário sem privilégios administrativos </a:t>
            </a:r>
            <a:endParaRPr lang="pt-BR"/>
          </a:p>
          <a:p>
            <a:pPr>
              <a:buNone/>
            </a:pPr>
            <a:r>
              <a:rPr lang="pt-BR" sz="1600">
                <a:latin typeface="Gotham HTF Book"/>
              </a:rPr>
              <a:t>  2.3) Volume nomeado para persistir os dados do Banco escolhido</a:t>
            </a:r>
            <a:endParaRPr lang="pt-BR"/>
          </a:p>
        </p:txBody>
      </p:sp>
      <p:sp>
        <p:nvSpPr>
          <p:cNvPr id="4" name="Espaço Reservado para Texto 3">
            <a:extLst>
              <a:ext uri="{FF2B5EF4-FFF2-40B4-BE49-F238E27FC236}">
                <a16:creationId xmlns:a16="http://schemas.microsoft.com/office/drawing/2014/main" id="{D584B5CA-D204-991E-0510-3D1D792A7047}"/>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1479098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95493-C578-30EB-00D1-CE2E342945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D46F6C-C753-9948-0FE5-7D644A6AFFF1}"/>
              </a:ext>
            </a:extLst>
          </p:cNvPr>
          <p:cNvSpPr>
            <a:spLocks noGrp="1"/>
          </p:cNvSpPr>
          <p:nvPr>
            <p:ph type="title"/>
          </p:nvPr>
        </p:nvSpPr>
        <p:spPr/>
        <p:txBody>
          <a:bodyPr/>
          <a:lstStyle/>
          <a:p>
            <a:r>
              <a:rPr lang="en-US">
                <a:latin typeface="Gotham HTF Book"/>
              </a:rPr>
              <a:t>DEVOPS TOOLS &amp; CLOUD COMPUTING </a:t>
            </a:r>
            <a:r>
              <a:rPr lang="en-US" sz="2400">
                <a:latin typeface="Gotham HTF Book"/>
              </a:rPr>
              <a:t>3/5</a:t>
            </a:r>
            <a:endParaRPr lang="pt-BR"/>
          </a:p>
        </p:txBody>
      </p:sp>
      <p:sp>
        <p:nvSpPr>
          <p:cNvPr id="3" name="Espaço Reservado para Conteúdo 2">
            <a:extLst>
              <a:ext uri="{FF2B5EF4-FFF2-40B4-BE49-F238E27FC236}">
                <a16:creationId xmlns:a16="http://schemas.microsoft.com/office/drawing/2014/main" id="{8B44B65A-91F1-CF0C-2238-822020D0D03A}"/>
              </a:ext>
            </a:extLst>
          </p:cNvPr>
          <p:cNvSpPr>
            <a:spLocks noGrp="1"/>
          </p:cNvSpPr>
          <p:nvPr>
            <p:ph idx="1"/>
          </p:nvPr>
        </p:nvSpPr>
        <p:spPr>
          <a:xfrm>
            <a:off x="838199" y="1715576"/>
            <a:ext cx="11224853" cy="5032376"/>
          </a:xfrm>
        </p:spPr>
        <p:txBody>
          <a:bodyPr vert="horz" lIns="91440" tIns="45720" rIns="91440" bIns="45720" rtlCol="0" anchor="t">
            <a:noAutofit/>
          </a:bodyPr>
          <a:lstStyle/>
          <a:p>
            <a:pPr>
              <a:buNone/>
            </a:pPr>
            <a:r>
              <a:rPr lang="pt-BR" sz="1600">
                <a:latin typeface="Gotham HTF Book"/>
              </a:rPr>
              <a:t>03) Desenhe a Arquitetura Macro da sua solução na nuvem (</a:t>
            </a:r>
            <a:r>
              <a:rPr lang="pt-BR" sz="1600" err="1">
                <a:latin typeface="Gotham HTF Book"/>
              </a:rPr>
              <a:t>ex</a:t>
            </a:r>
            <a:r>
              <a:rPr lang="pt-BR" sz="1600">
                <a:latin typeface="Gotham HTF Book"/>
              </a:rPr>
              <a:t>: fluxo de usuários, front-</a:t>
            </a:r>
            <a:r>
              <a:rPr lang="pt-BR" sz="1600" err="1">
                <a:latin typeface="Gotham HTF Book"/>
              </a:rPr>
              <a:t>end</a:t>
            </a:r>
            <a:r>
              <a:rPr lang="pt-BR" sz="1600">
                <a:latin typeface="Gotham HTF Book"/>
              </a:rPr>
              <a:t>, API, banco de dados, VM, containers, </a:t>
            </a:r>
            <a:r>
              <a:rPr lang="pt-BR" sz="1600" err="1">
                <a:latin typeface="Gotham HTF Book"/>
              </a:rPr>
              <a:t>etc</a:t>
            </a:r>
            <a:r>
              <a:rPr lang="pt-BR" sz="1600">
                <a:latin typeface="Gotham HTF Book"/>
              </a:rPr>
              <a:t>). Utilize ferramentas como Draw.io ou Visual </a:t>
            </a:r>
            <a:r>
              <a:rPr lang="pt-BR" sz="1600" err="1">
                <a:latin typeface="Gotham HTF Book"/>
              </a:rPr>
              <a:t>Paradigm</a:t>
            </a:r>
            <a:r>
              <a:rPr lang="pt-BR" sz="1600">
                <a:latin typeface="Gotham HTF Book"/>
              </a:rPr>
              <a:t> (links abaixo) e inclua legendas, rótulos, imagens e setas de fluxo para facilitar a compreensão - </a:t>
            </a:r>
            <a:r>
              <a:rPr lang="pt-BR" sz="1600" b="1">
                <a:solidFill>
                  <a:srgbClr val="FF0000"/>
                </a:solidFill>
                <a:latin typeface="Gotham HTF Book"/>
              </a:rPr>
              <a:t>Até 20 pontos</a:t>
            </a:r>
            <a:endParaRPr lang="pt-BR">
              <a:solidFill>
                <a:srgbClr val="FF0000"/>
              </a:solidFill>
            </a:endParaRPr>
          </a:p>
          <a:p>
            <a:pPr marL="0" indent="0">
              <a:lnSpc>
                <a:spcPct val="150000"/>
              </a:lnSpc>
              <a:buNone/>
            </a:pPr>
            <a:r>
              <a:rPr lang="pt-BR" sz="1600">
                <a:latin typeface="Gotham HTF Book"/>
              </a:rPr>
              <a:t>04) Ao final da entrega delete a Máquina Virtual criada </a:t>
            </a:r>
            <a:r>
              <a:rPr lang="pt-BR" sz="1600" b="1">
                <a:latin typeface="Gotham HTF Book"/>
              </a:rPr>
              <a:t>– </a:t>
            </a:r>
            <a:r>
              <a:rPr lang="pt-BR" sz="1600" b="1">
                <a:solidFill>
                  <a:srgbClr val="FF0000"/>
                </a:solidFill>
                <a:latin typeface="Gotham HTF Book"/>
              </a:rPr>
              <a:t>Obrigatório – Zero pontos</a:t>
            </a:r>
            <a:endParaRPr lang="pt-BR" sz="1600" b="1">
              <a:solidFill>
                <a:srgbClr val="FF0000"/>
              </a:solidFill>
            </a:endParaRPr>
          </a:p>
          <a:p>
            <a:pPr>
              <a:buNone/>
            </a:pPr>
            <a:r>
              <a:rPr lang="pt-BR" sz="1600" b="1">
                <a:latin typeface="Gotham HTF Book"/>
              </a:rPr>
              <a:t>Entrega</a:t>
            </a:r>
            <a:endParaRPr lang="pt-BR" b="1"/>
          </a:p>
          <a:p>
            <a:pPr>
              <a:buNone/>
            </a:pPr>
            <a:r>
              <a:rPr lang="pt-BR" sz="1600">
                <a:latin typeface="Gotham HTF Book"/>
              </a:rPr>
              <a:t>Grave um vídeo demonstrando: A execução do Script CLI para criar a infra (Tarefa 01), Funcionamento da aplicação com o Docker e Persistência de dados. </a:t>
            </a:r>
            <a:r>
              <a:rPr lang="pt-BR" sz="1600" b="1">
                <a:solidFill>
                  <a:srgbClr val="FF0000"/>
                </a:solidFill>
                <a:latin typeface="Gotham HTF Book"/>
              </a:rPr>
              <a:t>Mostrar cada operação executada no banco escolhido</a:t>
            </a:r>
            <a:r>
              <a:rPr lang="pt-BR" sz="1600">
                <a:solidFill>
                  <a:srgbClr val="FF0000"/>
                </a:solidFill>
                <a:latin typeface="Gotham HTF Book"/>
              </a:rPr>
              <a:t> </a:t>
            </a:r>
            <a:r>
              <a:rPr lang="pt-BR" sz="1600">
                <a:latin typeface="Gotham HTF Book"/>
              </a:rPr>
              <a:t>(Tarefa 02)</a:t>
            </a:r>
          </a:p>
          <a:p>
            <a:pPr>
              <a:buNone/>
            </a:pPr>
            <a:endParaRPr lang="pt-BR" sz="1600"/>
          </a:p>
          <a:p>
            <a:pPr>
              <a:buNone/>
            </a:pPr>
            <a:r>
              <a:rPr lang="pt-BR" sz="1600" b="1">
                <a:latin typeface="Gotham HTF Book"/>
              </a:rPr>
              <a:t>Entrega final</a:t>
            </a:r>
            <a:endParaRPr lang="pt-BR" b="1">
              <a:latin typeface="Gotham HTF Book"/>
            </a:endParaRPr>
          </a:p>
          <a:p>
            <a:pPr>
              <a:buNone/>
            </a:pPr>
            <a:r>
              <a:rPr lang="pt-BR" sz="1600">
                <a:latin typeface="Gotham HTF Book"/>
              </a:rPr>
              <a:t>Um único arquivo PDF contendo:</a:t>
            </a:r>
            <a:endParaRPr lang="pt-BR">
              <a:latin typeface="Gotham HTF Book"/>
            </a:endParaRPr>
          </a:p>
          <a:p>
            <a:pPr>
              <a:buNone/>
            </a:pPr>
            <a:r>
              <a:rPr lang="pt-BR" sz="1600"/>
              <a:t>01) Uma folha de rosto com o nome da equipe, RM e nome completo dos alunos. Inclua um índice para organização</a:t>
            </a:r>
            <a:endParaRPr lang="pt-BR"/>
          </a:p>
          <a:p>
            <a:pPr>
              <a:buNone/>
            </a:pPr>
            <a:r>
              <a:rPr lang="pt-BR" sz="1600"/>
              <a:t>02) Desenho da arquitetura com legenda, fluxos </a:t>
            </a:r>
            <a:r>
              <a:rPr lang="pt-BR" sz="1600" err="1"/>
              <a:t>etc</a:t>
            </a:r>
            <a:endParaRPr lang="pt-BR" err="1"/>
          </a:p>
          <a:p>
            <a:pPr>
              <a:buNone/>
            </a:pPr>
            <a:r>
              <a:rPr lang="pt-BR" sz="1600"/>
              <a:t>03) Link para o repositório no GitHub</a:t>
            </a:r>
            <a:endParaRPr lang="pt-BR"/>
          </a:p>
          <a:p>
            <a:pPr>
              <a:buNone/>
            </a:pPr>
            <a:r>
              <a:rPr lang="pt-BR" sz="1600"/>
              <a:t>04) Link para o vídeo no YouTube</a:t>
            </a:r>
            <a:endParaRPr lang="pt-BR"/>
          </a:p>
          <a:p>
            <a:pPr>
              <a:buNone/>
            </a:pPr>
            <a:r>
              <a:rPr lang="pt-BR" sz="1600">
                <a:latin typeface="Gotham HTF Book"/>
              </a:rPr>
              <a:t>05) Print da evidência da remoção da VM e recursos em nuvem</a:t>
            </a:r>
            <a:endParaRPr lang="pt-BR"/>
          </a:p>
        </p:txBody>
      </p:sp>
      <p:sp>
        <p:nvSpPr>
          <p:cNvPr id="4" name="Espaço Reservado para Texto 3">
            <a:extLst>
              <a:ext uri="{FF2B5EF4-FFF2-40B4-BE49-F238E27FC236}">
                <a16:creationId xmlns:a16="http://schemas.microsoft.com/office/drawing/2014/main" id="{920CC57B-797E-8FF3-4415-17E2A815F07A}"/>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3699219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6074-74A2-DBF6-BBCA-515240429B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989490-80CC-F1F1-7975-500ECEF85824}"/>
              </a:ext>
            </a:extLst>
          </p:cNvPr>
          <p:cNvSpPr>
            <a:spLocks noGrp="1"/>
          </p:cNvSpPr>
          <p:nvPr>
            <p:ph type="title"/>
          </p:nvPr>
        </p:nvSpPr>
        <p:spPr/>
        <p:txBody>
          <a:bodyPr/>
          <a:lstStyle/>
          <a:p>
            <a:r>
              <a:rPr lang="en-US">
                <a:latin typeface="Gotham HTF Book"/>
              </a:rPr>
              <a:t>DEVOPS TOOLS &amp; CLOUD COMPUTING </a:t>
            </a:r>
            <a:r>
              <a:rPr lang="en-US" sz="2400">
                <a:latin typeface="Gotham HTF Book"/>
              </a:rPr>
              <a:t>4/5</a:t>
            </a:r>
            <a:endParaRPr lang="pt-BR"/>
          </a:p>
        </p:txBody>
      </p:sp>
      <p:sp>
        <p:nvSpPr>
          <p:cNvPr id="3" name="Espaço Reservado para Conteúdo 2">
            <a:extLst>
              <a:ext uri="{FF2B5EF4-FFF2-40B4-BE49-F238E27FC236}">
                <a16:creationId xmlns:a16="http://schemas.microsoft.com/office/drawing/2014/main" id="{05423699-8FF3-8C7F-5B98-B80B9C7FEE5B}"/>
              </a:ext>
            </a:extLst>
          </p:cNvPr>
          <p:cNvSpPr>
            <a:spLocks noGrp="1"/>
          </p:cNvSpPr>
          <p:nvPr>
            <p:ph idx="1"/>
          </p:nvPr>
        </p:nvSpPr>
        <p:spPr>
          <a:xfrm>
            <a:off x="838199" y="1677476"/>
            <a:ext cx="11224853" cy="5032376"/>
          </a:xfrm>
        </p:spPr>
        <p:txBody>
          <a:bodyPr vert="horz" lIns="91440" tIns="45720" rIns="91440" bIns="45720" rtlCol="0" anchor="t">
            <a:noAutofit/>
          </a:bodyPr>
          <a:lstStyle/>
          <a:p>
            <a:pPr>
              <a:buNone/>
            </a:pPr>
            <a:r>
              <a:rPr lang="pt-BR" sz="1800" b="1">
                <a:latin typeface="Gotham HTF Book"/>
              </a:rPr>
              <a:t>Sugestões de ferramentas de desenho e Imagem do Banco</a:t>
            </a:r>
          </a:p>
          <a:p>
            <a:pPr>
              <a:buNone/>
            </a:pPr>
            <a:r>
              <a:rPr lang="pt-BR" sz="1400">
                <a:latin typeface="Gotham HTF Book"/>
              </a:rPr>
              <a:t>- Azure </a:t>
            </a:r>
            <a:r>
              <a:rPr lang="pt-BR" sz="1400" err="1">
                <a:latin typeface="Gotham HTF Book"/>
              </a:rPr>
              <a:t>Diagram</a:t>
            </a:r>
            <a:r>
              <a:rPr lang="pt-BR" sz="1400">
                <a:latin typeface="Gotham HTF Book"/>
              </a:rPr>
              <a:t> Tool (Visual </a:t>
            </a:r>
            <a:r>
              <a:rPr lang="pt-BR" sz="1400" err="1">
                <a:latin typeface="Gotham HTF Book"/>
              </a:rPr>
              <a:t>Paradigm</a:t>
            </a:r>
            <a:r>
              <a:rPr lang="pt-BR" sz="1400">
                <a:latin typeface="Gotham HTF Book"/>
              </a:rPr>
              <a:t>)</a:t>
            </a:r>
          </a:p>
          <a:p>
            <a:pPr>
              <a:buNone/>
            </a:pPr>
            <a:r>
              <a:rPr lang="pt-BR" sz="1400">
                <a:latin typeface="Gotham HTF Book"/>
                <a:hlinkClick r:id="rId2"/>
              </a:rPr>
              <a:t>https://online.visual-paradigm.com/diagrams/features/azure-architecture-diagram-tool/</a:t>
            </a:r>
            <a:endParaRPr lang="pt-BR" sz="1400">
              <a:latin typeface="Gotham HTF Book"/>
            </a:endParaRPr>
          </a:p>
          <a:p>
            <a:pPr>
              <a:buNone/>
            </a:pPr>
            <a:r>
              <a:rPr lang="pt-BR" sz="1400">
                <a:latin typeface="Gotham HTF Book"/>
              </a:rPr>
              <a:t>- Draw.io</a:t>
            </a:r>
          </a:p>
          <a:p>
            <a:pPr>
              <a:buNone/>
            </a:pPr>
            <a:r>
              <a:rPr lang="pt-BR" sz="1400">
                <a:latin typeface="Gotham HTF Book"/>
                <a:hlinkClick r:id="rId3"/>
              </a:rPr>
              <a:t>https://app.diagrams.net/</a:t>
            </a:r>
            <a:endParaRPr lang="pt-BR" sz="1400">
              <a:latin typeface="Gotham HTF Book"/>
            </a:endParaRPr>
          </a:p>
          <a:p>
            <a:pPr marL="0" indent="0">
              <a:lnSpc>
                <a:spcPct val="100000"/>
              </a:lnSpc>
              <a:buNone/>
            </a:pPr>
            <a:endParaRPr lang="pt-BR" sz="600">
              <a:latin typeface="Gotham HTF Book"/>
            </a:endParaRPr>
          </a:p>
          <a:p>
            <a:pPr marL="0" indent="0">
              <a:lnSpc>
                <a:spcPct val="100000"/>
              </a:lnSpc>
              <a:buNone/>
            </a:pPr>
            <a:r>
              <a:rPr lang="pt-BR" sz="1400">
                <a:latin typeface="Gotham HTF Book"/>
              </a:rPr>
              <a:t>O Container do Banco Oracle fica como sugestão a imagem do Docker Hub: </a:t>
            </a:r>
            <a:r>
              <a:rPr lang="pt-BR" sz="1400" b="1" err="1">
                <a:latin typeface="Gotham HTF Book"/>
              </a:rPr>
              <a:t>gvenzl</a:t>
            </a:r>
            <a:r>
              <a:rPr lang="pt-BR" sz="1400" b="1">
                <a:latin typeface="Gotham HTF Book"/>
              </a:rPr>
              <a:t>/</a:t>
            </a:r>
            <a:r>
              <a:rPr lang="pt-BR" sz="1400" b="1" err="1">
                <a:latin typeface="Gotham HTF Book"/>
              </a:rPr>
              <a:t>oracle-xe</a:t>
            </a:r>
            <a:endParaRPr lang="pt-BR" sz="1400" b="1">
              <a:latin typeface="Gotham HTF Book"/>
            </a:endParaRPr>
          </a:p>
          <a:p>
            <a:pPr marL="0" indent="0">
              <a:lnSpc>
                <a:spcPct val="100000"/>
              </a:lnSpc>
              <a:buNone/>
            </a:pPr>
            <a:r>
              <a:rPr lang="pt-BR" sz="1400">
                <a:latin typeface="Gotham HTF Book"/>
              </a:rPr>
              <a:t>O Container do Banco H2 fica como sugestão a imagem do Docker Hub: </a:t>
            </a:r>
            <a:r>
              <a:rPr lang="pt-BR" sz="1400" b="1" err="1">
                <a:latin typeface="Gotham HTF Book"/>
              </a:rPr>
              <a:t>oscarfonts</a:t>
            </a:r>
            <a:r>
              <a:rPr lang="pt-BR" sz="1400" b="1">
                <a:latin typeface="Gotham HTF Book"/>
              </a:rPr>
              <a:t>/h2</a:t>
            </a:r>
            <a:endParaRPr lang="pt-BR" sz="1400" b="1"/>
          </a:p>
          <a:p>
            <a:pPr marL="0" indent="0">
              <a:lnSpc>
                <a:spcPct val="150000"/>
              </a:lnSpc>
              <a:buNone/>
            </a:pPr>
            <a:r>
              <a:rPr lang="pt-BR" sz="1400" b="1">
                <a:latin typeface="Gotham HTF Book"/>
              </a:rPr>
              <a:t>Dicas para o Banco H2</a:t>
            </a:r>
            <a:endParaRPr lang="pt-BR" sz="1400"/>
          </a:p>
          <a:p>
            <a:pPr>
              <a:buNone/>
            </a:pPr>
            <a:r>
              <a:rPr lang="pt-BR" sz="1400" i="1">
                <a:latin typeface="Gotham HTF Book"/>
              </a:rPr>
              <a:t>Habilitar console do H2 pelo navegador Web - Incluir no arquivo de propriedades:</a:t>
            </a:r>
          </a:p>
          <a:p>
            <a:pPr>
              <a:buNone/>
            </a:pPr>
            <a:r>
              <a:rPr lang="pt-BR" sz="1400">
                <a:latin typeface="Gotham HTF Book"/>
              </a:rPr>
              <a:t>spring.h2.console.enabled=</a:t>
            </a:r>
            <a:r>
              <a:rPr lang="pt-BR" sz="1400" err="1">
                <a:latin typeface="Gotham HTF Book"/>
              </a:rPr>
              <a:t>true</a:t>
            </a:r>
            <a:endParaRPr lang="pt-BR" sz="1400">
              <a:latin typeface="Gotham HTF Book"/>
            </a:endParaRPr>
          </a:p>
          <a:p>
            <a:pPr>
              <a:buNone/>
            </a:pPr>
            <a:r>
              <a:rPr lang="pt-BR" sz="1400">
                <a:latin typeface="Gotham HTF Book"/>
              </a:rPr>
              <a:t>spring.h2.console.settings.web-allow-others=</a:t>
            </a:r>
            <a:r>
              <a:rPr lang="pt-BR" sz="1400" err="1">
                <a:latin typeface="Gotham HTF Book"/>
              </a:rPr>
              <a:t>true</a:t>
            </a:r>
            <a:endParaRPr lang="pt-BR" sz="1400">
              <a:latin typeface="Gotham HTF Book"/>
            </a:endParaRPr>
          </a:p>
          <a:p>
            <a:pPr>
              <a:buNone/>
            </a:pPr>
            <a:endParaRPr lang="pt-BR" sz="600">
              <a:latin typeface="Gotham HTF Book"/>
            </a:endParaRPr>
          </a:p>
          <a:p>
            <a:pPr>
              <a:buNone/>
            </a:pPr>
            <a:r>
              <a:rPr lang="pt-BR" sz="1400">
                <a:latin typeface="Gotham HTF Book"/>
              </a:rPr>
              <a:t>Formato da Chamada -&gt; jdbc:h2:tcp://[nome-do-</a:t>
            </a:r>
            <a:r>
              <a:rPr lang="pt-BR" sz="1400" err="1">
                <a:latin typeface="Gotham HTF Book"/>
              </a:rPr>
              <a:t>servico</a:t>
            </a:r>
            <a:r>
              <a:rPr lang="pt-BR" sz="1400">
                <a:latin typeface="Gotham HTF Book"/>
              </a:rPr>
              <a:t>-banco][:porta]/[caminho-do-banco]</a:t>
            </a:r>
            <a:endParaRPr lang="pt-BR"/>
          </a:p>
          <a:p>
            <a:pPr>
              <a:buNone/>
            </a:pPr>
            <a:r>
              <a:rPr lang="pt-BR" sz="1400">
                <a:latin typeface="Gotham HTF Book"/>
              </a:rPr>
              <a:t>Exemplo -&gt; spring.datasource.url=jdbc:h2:tcp://H2DimDim:9090/h2/data/</a:t>
            </a:r>
            <a:r>
              <a:rPr lang="pt-BR" sz="1400" err="1">
                <a:latin typeface="Gotham HTF Book"/>
              </a:rPr>
              <a:t>meubanco</a:t>
            </a:r>
            <a:endParaRPr lang="pt-BR" sz="1400">
              <a:latin typeface="Gotham HTF Book"/>
            </a:endParaRPr>
          </a:p>
          <a:p>
            <a:pPr marL="0" indent="0">
              <a:lnSpc>
                <a:spcPct val="150000"/>
              </a:lnSpc>
              <a:buNone/>
            </a:pPr>
            <a:endParaRPr lang="pt-BR" sz="1600"/>
          </a:p>
        </p:txBody>
      </p:sp>
      <p:sp>
        <p:nvSpPr>
          <p:cNvPr id="4" name="Espaço Reservado para Texto 3">
            <a:extLst>
              <a:ext uri="{FF2B5EF4-FFF2-40B4-BE49-F238E27FC236}">
                <a16:creationId xmlns:a16="http://schemas.microsoft.com/office/drawing/2014/main" id="{BF4310EE-2F71-55DD-6DC2-98FBFC71E0BB}"/>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2057362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0B1CD-881C-5332-17CB-29C35948B6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E71E63-D754-242C-910A-B8EA55FFDB73}"/>
              </a:ext>
            </a:extLst>
          </p:cNvPr>
          <p:cNvSpPr>
            <a:spLocks noGrp="1"/>
          </p:cNvSpPr>
          <p:nvPr>
            <p:ph type="title"/>
          </p:nvPr>
        </p:nvSpPr>
        <p:spPr/>
        <p:txBody>
          <a:bodyPr/>
          <a:lstStyle/>
          <a:p>
            <a:r>
              <a:rPr lang="en-US">
                <a:latin typeface="Gotham HTF Book"/>
              </a:rPr>
              <a:t>DEVOPS TOOLS &amp; CLOUD COMPUTING </a:t>
            </a:r>
            <a:r>
              <a:rPr lang="en-US" sz="2400">
                <a:latin typeface="Gotham HTF Book"/>
              </a:rPr>
              <a:t>5/5</a:t>
            </a:r>
            <a:endParaRPr lang="pt-BR"/>
          </a:p>
        </p:txBody>
      </p:sp>
      <p:sp>
        <p:nvSpPr>
          <p:cNvPr id="3" name="Espaço Reservado para Conteúdo 2">
            <a:extLst>
              <a:ext uri="{FF2B5EF4-FFF2-40B4-BE49-F238E27FC236}">
                <a16:creationId xmlns:a16="http://schemas.microsoft.com/office/drawing/2014/main" id="{DFA4F578-7E8D-D1E2-E197-8D7966A27BAE}"/>
              </a:ext>
            </a:extLst>
          </p:cNvPr>
          <p:cNvSpPr>
            <a:spLocks noGrp="1"/>
          </p:cNvSpPr>
          <p:nvPr>
            <p:ph idx="1"/>
          </p:nvPr>
        </p:nvSpPr>
        <p:spPr>
          <a:xfrm>
            <a:off x="838199" y="1715576"/>
            <a:ext cx="11224853" cy="5032376"/>
          </a:xfrm>
        </p:spPr>
        <p:txBody>
          <a:bodyPr vert="horz" lIns="91440" tIns="45720" rIns="91440" bIns="45720" rtlCol="0" anchor="t">
            <a:noAutofit/>
          </a:bodyPr>
          <a:lstStyle/>
          <a:p>
            <a:pPr>
              <a:buNone/>
            </a:pPr>
            <a:r>
              <a:rPr lang="pt-BR" sz="1800" b="1">
                <a:latin typeface="Gotham HTF Book"/>
              </a:rPr>
              <a:t>Penalidades</a:t>
            </a:r>
            <a:endParaRPr lang="pt-BR" sz="1800"/>
          </a:p>
          <a:p>
            <a:pPr>
              <a:buNone/>
            </a:pPr>
            <a:r>
              <a:rPr lang="pt-BR" sz="1400">
                <a:latin typeface="Gotham HTF Book"/>
              </a:rPr>
              <a:t>Projeto não executando em background - menos 0,5 ponto</a:t>
            </a:r>
            <a:endParaRPr lang="pt-BR" sz="1400"/>
          </a:p>
          <a:p>
            <a:pPr>
              <a:buNone/>
            </a:pPr>
            <a:r>
              <a:rPr lang="pt-BR" sz="1400">
                <a:latin typeface="Gotham HTF Book"/>
              </a:rPr>
              <a:t>Aplicação rodando com usuário root - menos 0,5 ponto</a:t>
            </a:r>
            <a:endParaRPr lang="pt-BR" sz="1400"/>
          </a:p>
          <a:p>
            <a:pPr>
              <a:buNone/>
            </a:pPr>
            <a:r>
              <a:rPr lang="pt-BR" sz="1400">
                <a:latin typeface="Gotham HTF Book"/>
              </a:rPr>
              <a:t>Sem Volume nomeado para persistir os dados do Banco escolhido - menos 1,5 ponto</a:t>
            </a:r>
            <a:endParaRPr lang="pt-BR" sz="1400"/>
          </a:p>
          <a:p>
            <a:pPr>
              <a:buNone/>
            </a:pPr>
            <a:r>
              <a:rPr lang="pt-BR" sz="1400">
                <a:latin typeface="Gotham HTF Book"/>
              </a:rPr>
              <a:t>Não mostrar cada operação executada no banco escolhido - menos 3,0 pontos</a:t>
            </a:r>
          </a:p>
          <a:p>
            <a:pPr>
              <a:buNone/>
            </a:pPr>
            <a:r>
              <a:rPr lang="pt-BR" sz="1400">
                <a:latin typeface="Gotham HTF Book"/>
              </a:rPr>
              <a:t>Projeto no GitHub sem </a:t>
            </a:r>
            <a:r>
              <a:rPr lang="pt-BR" sz="1400" err="1">
                <a:latin typeface="Gotham HTF Book"/>
              </a:rPr>
              <a:t>How</a:t>
            </a:r>
            <a:r>
              <a:rPr lang="pt-BR" sz="1400">
                <a:latin typeface="Gotham HTF Book"/>
              </a:rPr>
              <a:t> </a:t>
            </a:r>
            <a:r>
              <a:rPr lang="pt-BR" sz="1400" err="1">
                <a:latin typeface="Gotham HTF Book"/>
              </a:rPr>
              <a:t>to</a:t>
            </a:r>
            <a:r>
              <a:rPr lang="pt-BR" sz="1400">
                <a:latin typeface="Gotham HTF Book"/>
              </a:rPr>
              <a:t> (Instalação da Solução) - menos 2,0 pontos</a:t>
            </a:r>
          </a:p>
          <a:p>
            <a:pPr>
              <a:buNone/>
            </a:pPr>
            <a:r>
              <a:rPr lang="pt-BR" sz="1400">
                <a:latin typeface="Gotham HTF Book"/>
              </a:rPr>
              <a:t>Projeto no GitHub sem a Descrição do Projeto - menos 0,5 ponto</a:t>
            </a:r>
          </a:p>
          <a:p>
            <a:pPr>
              <a:buNone/>
            </a:pPr>
            <a:r>
              <a:rPr lang="pt-BR" sz="1400">
                <a:latin typeface="Gotham HTF Book"/>
              </a:rPr>
              <a:t>Projeto no GitHub sem os Benefícios para o Negócio - menos 0,5 ponto</a:t>
            </a:r>
          </a:p>
          <a:p>
            <a:pPr>
              <a:buNone/>
            </a:pPr>
            <a:r>
              <a:rPr lang="pt-BR" sz="1400">
                <a:latin typeface="Gotham HTF Book"/>
              </a:rPr>
              <a:t>Projeto no GitHub sem Script do Azure CLI - menos 3,0 pontos</a:t>
            </a:r>
          </a:p>
          <a:p>
            <a:pPr>
              <a:buNone/>
            </a:pPr>
            <a:r>
              <a:rPr lang="pt-BR" sz="1400">
                <a:latin typeface="Gotham HTF Book"/>
              </a:rPr>
              <a:t>Projeto no GitHub sem </a:t>
            </a:r>
            <a:r>
              <a:rPr lang="pt-BR" sz="1400" err="1">
                <a:latin typeface="Gotham HTF Book"/>
              </a:rPr>
              <a:t>Dockerfile</a:t>
            </a:r>
            <a:r>
              <a:rPr lang="pt-BR" sz="1400">
                <a:latin typeface="Gotham HTF Book"/>
              </a:rPr>
              <a:t> ou YAML do Docker </a:t>
            </a:r>
            <a:r>
              <a:rPr lang="pt-BR" sz="1400" err="1">
                <a:latin typeface="Gotham HTF Book"/>
              </a:rPr>
              <a:t>Compose</a:t>
            </a:r>
            <a:r>
              <a:rPr lang="pt-BR" sz="1400">
                <a:latin typeface="Gotham HTF Book"/>
              </a:rPr>
              <a:t> - menos 3,0 pontos</a:t>
            </a:r>
          </a:p>
          <a:p>
            <a:pPr>
              <a:buNone/>
            </a:pPr>
            <a:r>
              <a:rPr lang="pt-BR" sz="1400">
                <a:latin typeface="Gotham HTF Book"/>
              </a:rPr>
              <a:t>Entrega sem utilizar o Banco H2 ou Oracle Conteinerizado - Menos 5,0 pontos</a:t>
            </a:r>
          </a:p>
          <a:p>
            <a:pPr>
              <a:buNone/>
            </a:pPr>
            <a:r>
              <a:rPr lang="pt-BR" sz="1400" b="1">
                <a:solidFill>
                  <a:srgbClr val="FF0000"/>
                </a:solidFill>
                <a:latin typeface="Gotham HTF Book"/>
              </a:rPr>
              <a:t>Entrega em LOCALHOST - Não será possível a correção - Zero de nota</a:t>
            </a:r>
          </a:p>
          <a:p>
            <a:pPr>
              <a:buNone/>
            </a:pPr>
            <a:r>
              <a:rPr lang="pt-BR" sz="1400" b="1">
                <a:solidFill>
                  <a:srgbClr val="FF0000"/>
                </a:solidFill>
                <a:latin typeface="Gotham HTF Book"/>
              </a:rPr>
              <a:t>Vídeo com qualidade inferior a 720p ou sem explicação (por voz) completa da solução - Não será possível a correção - Zero de nota</a:t>
            </a:r>
          </a:p>
          <a:p>
            <a:pPr>
              <a:buNone/>
            </a:pPr>
            <a:r>
              <a:rPr lang="pt-BR" sz="1400" b="1">
                <a:solidFill>
                  <a:srgbClr val="FF0000"/>
                </a:solidFill>
                <a:latin typeface="Gotham HTF Book"/>
              </a:rPr>
              <a:t>Professor sem acesso ao Repositório ou Vídeo - Não será possível a correção - Zero de nota</a:t>
            </a:r>
            <a:endParaRPr lang="en-US" sz="1400" b="1">
              <a:solidFill>
                <a:srgbClr val="FF0000"/>
              </a:solidFill>
              <a:latin typeface="Gotham HTF Book"/>
            </a:endParaRPr>
          </a:p>
          <a:p>
            <a:pPr>
              <a:buNone/>
            </a:pPr>
            <a:r>
              <a:rPr lang="pt-BR" sz="1400" b="1">
                <a:solidFill>
                  <a:srgbClr val="FF0000"/>
                </a:solidFill>
                <a:latin typeface="Gotham HTF Book"/>
              </a:rPr>
              <a:t>NÃO SERÁ ACEITO ENTREGA FORA DA DATA E HORA ACORDADA NO DOCUMENTO - Zero de nota</a:t>
            </a:r>
          </a:p>
        </p:txBody>
      </p:sp>
      <p:sp>
        <p:nvSpPr>
          <p:cNvPr id="4" name="Espaço Reservado para Texto 3">
            <a:extLst>
              <a:ext uri="{FF2B5EF4-FFF2-40B4-BE49-F238E27FC236}">
                <a16:creationId xmlns:a16="http://schemas.microsoft.com/office/drawing/2014/main" id="{F016BC0E-A9D5-6167-AA8C-8EC8BA0445B9}"/>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831020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AC322-6A8D-8992-288D-870DBD9614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2610C2-D7BA-0471-80BB-7803229D8BD5}"/>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BB147F46-F294-12D8-7393-FB4B2B044454}"/>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969AF110-161F-568D-47FB-76F378B7ADAC}"/>
              </a:ext>
            </a:extLst>
          </p:cNvPr>
          <p:cNvSpPr txBox="1"/>
          <p:nvPr/>
        </p:nvSpPr>
        <p:spPr>
          <a:xfrm>
            <a:off x="839708" y="1789329"/>
            <a:ext cx="10644591" cy="3119444"/>
          </a:xfrm>
          <a:prstGeom prst="rect">
            <a:avLst/>
          </a:prstGeom>
        </p:spPr>
        <p:txBody>
          <a:bodyPr vert="horz" wrap="square" lIns="0" tIns="25400" rIns="0" bIns="0" rtlCol="0" anchor="t">
            <a:spAutoFit/>
          </a:bodyPr>
          <a:lstStyle>
            <a:defPPr>
              <a:defRPr kern="0"/>
            </a:defPPr>
          </a:lstStyle>
          <a:p>
            <a:pPr marL="20320" algn="just">
              <a:spcBef>
                <a:spcPts val="200"/>
              </a:spcBef>
            </a:pPr>
            <a:r>
              <a:rPr sz="2200" b="1">
                <a:solidFill>
                  <a:srgbClr val="000000"/>
                </a:solidFill>
                <a:latin typeface="Arial"/>
                <a:cs typeface="Arial"/>
              </a:rPr>
              <a:t>-</a:t>
            </a:r>
            <a:r>
              <a:rPr sz="2200" b="1" spc="8">
                <a:solidFill>
                  <a:srgbClr val="000000"/>
                </a:solidFill>
                <a:latin typeface="Arial"/>
                <a:cs typeface="Arial"/>
              </a:rPr>
              <a:t> </a:t>
            </a:r>
            <a:r>
              <a:rPr sz="2200" b="1" err="1">
                <a:solidFill>
                  <a:srgbClr val="000000"/>
                </a:solidFill>
                <a:latin typeface="Arial"/>
                <a:cs typeface="Arial"/>
              </a:rPr>
              <a:t>Descrição</a:t>
            </a:r>
            <a:r>
              <a:rPr sz="2200" b="1" spc="-32">
                <a:solidFill>
                  <a:srgbClr val="000000"/>
                </a:solidFill>
                <a:latin typeface="Arial"/>
                <a:cs typeface="Arial"/>
              </a:rPr>
              <a:t> </a:t>
            </a:r>
            <a:r>
              <a:rPr sz="2200" b="1" spc="-16" err="1">
                <a:solidFill>
                  <a:srgbClr val="000000"/>
                </a:solidFill>
                <a:latin typeface="Arial"/>
                <a:cs typeface="Arial"/>
              </a:rPr>
              <a:t>geral</a:t>
            </a:r>
            <a:r>
              <a:rPr sz="2200" b="1" spc="-16">
                <a:solidFill>
                  <a:srgbClr val="000000"/>
                </a:solidFill>
                <a:latin typeface="Arial"/>
                <a:cs typeface="Arial"/>
              </a:rPr>
              <a:t>:</a:t>
            </a:r>
            <a:endParaRPr sz="2200">
              <a:solidFill>
                <a:srgbClr val="000000"/>
              </a:solidFill>
              <a:latin typeface="Arial"/>
              <a:cs typeface="Arial"/>
            </a:endParaRPr>
          </a:p>
          <a:p>
            <a:pPr>
              <a:spcBef>
                <a:spcPts val="272"/>
              </a:spcBef>
            </a:pPr>
            <a:endParaRPr sz="2240">
              <a:solidFill>
                <a:srgbClr val="000000"/>
              </a:solidFill>
              <a:latin typeface="Arial"/>
              <a:cs typeface="Arial"/>
            </a:endParaRPr>
          </a:p>
          <a:p>
            <a:pPr marL="20320" marR="25400" algn="just">
              <a:lnSpc>
                <a:spcPts val="2640"/>
              </a:lnSpc>
              <a:spcBef>
                <a:spcPts val="8"/>
              </a:spcBef>
            </a:pPr>
            <a:r>
              <a:rPr lang="pt-BR" sz="2200">
                <a:solidFill>
                  <a:srgbClr val="000000"/>
                </a:solidFill>
                <a:ea typeface="+mn-lt"/>
                <a:cs typeface="+mn-lt"/>
              </a:rPr>
              <a:t>Desenvolva uma solução tecnológica proposta utilizando conceitos de Java e Spring Boot.</a:t>
            </a:r>
            <a:endParaRPr>
              <a:ea typeface="+mn-lt"/>
              <a:cs typeface="+mn-lt"/>
            </a:endParaRPr>
          </a:p>
          <a:p>
            <a:pPr>
              <a:spcBef>
                <a:spcPts val="48"/>
              </a:spcBef>
            </a:pPr>
            <a:endParaRPr sz="2240">
              <a:solidFill>
                <a:srgbClr val="000000"/>
              </a:solidFill>
              <a:latin typeface="Arial MT"/>
              <a:cs typeface="Arial MT"/>
            </a:endParaRPr>
          </a:p>
          <a:p>
            <a:pPr marL="20320" marR="7620" algn="just">
              <a:lnSpc>
                <a:spcPct val="100600"/>
              </a:lnSpc>
            </a:pPr>
            <a:r>
              <a:rPr lang="en-US" sz="2200">
                <a:solidFill>
                  <a:srgbClr val="000000"/>
                </a:solidFill>
                <a:ea typeface="+mn-lt"/>
                <a:cs typeface="+mn-lt"/>
              </a:rPr>
              <a:t>A </a:t>
            </a:r>
            <a:r>
              <a:rPr lang="en-US" sz="2200" err="1">
                <a:solidFill>
                  <a:srgbClr val="000000"/>
                </a:solidFill>
                <a:ea typeface="+mn-lt"/>
                <a:cs typeface="+mn-lt"/>
              </a:rPr>
              <a:t>solução</a:t>
            </a:r>
            <a:r>
              <a:rPr lang="en-US" sz="2200">
                <a:solidFill>
                  <a:srgbClr val="000000"/>
                </a:solidFill>
                <a:ea typeface="+mn-lt"/>
                <a:cs typeface="+mn-lt"/>
              </a:rPr>
              <a:t> </a:t>
            </a:r>
            <a:r>
              <a:rPr lang="en-US" sz="2200" err="1">
                <a:solidFill>
                  <a:srgbClr val="000000"/>
                </a:solidFill>
                <a:ea typeface="+mn-lt"/>
                <a:cs typeface="+mn-lt"/>
              </a:rPr>
              <a:t>deve</a:t>
            </a:r>
            <a:r>
              <a:rPr lang="en-US" sz="2200">
                <a:solidFill>
                  <a:srgbClr val="000000"/>
                </a:solidFill>
                <a:ea typeface="+mn-lt"/>
                <a:cs typeface="+mn-lt"/>
              </a:rPr>
              <a:t> ser, no </a:t>
            </a:r>
            <a:r>
              <a:rPr lang="en-US" sz="2200" err="1">
                <a:solidFill>
                  <a:srgbClr val="000000"/>
                </a:solidFill>
                <a:ea typeface="+mn-lt"/>
                <a:cs typeface="+mn-lt"/>
              </a:rPr>
              <a:t>mínimo</a:t>
            </a:r>
            <a:r>
              <a:rPr lang="en-US" sz="2200">
                <a:solidFill>
                  <a:srgbClr val="000000"/>
                </a:solidFill>
                <a:ea typeface="+mn-lt"/>
                <a:cs typeface="+mn-lt"/>
              </a:rPr>
              <a:t>, </a:t>
            </a:r>
            <a:r>
              <a:rPr lang="en-US" sz="2200" err="1">
                <a:solidFill>
                  <a:srgbClr val="000000"/>
                </a:solidFill>
                <a:ea typeface="+mn-lt"/>
                <a:cs typeface="+mn-lt"/>
              </a:rPr>
              <a:t>capaz</a:t>
            </a:r>
            <a:r>
              <a:rPr lang="en-US" sz="2200">
                <a:solidFill>
                  <a:srgbClr val="000000"/>
                </a:solidFill>
                <a:ea typeface="+mn-lt"/>
                <a:cs typeface="+mn-lt"/>
              </a:rPr>
              <a:t> de </a:t>
            </a:r>
            <a:r>
              <a:rPr lang="en-US" sz="2200" err="1">
                <a:solidFill>
                  <a:srgbClr val="000000"/>
                </a:solidFill>
                <a:ea typeface="+mn-lt"/>
                <a:cs typeface="+mn-lt"/>
              </a:rPr>
              <a:t>persistir</a:t>
            </a:r>
            <a:r>
              <a:rPr lang="en-US" sz="2200">
                <a:solidFill>
                  <a:srgbClr val="000000"/>
                </a:solidFill>
                <a:ea typeface="+mn-lt"/>
                <a:cs typeface="+mn-lt"/>
              </a:rPr>
              <a:t>, </a:t>
            </a:r>
            <a:r>
              <a:rPr lang="en-US" sz="2200" err="1">
                <a:solidFill>
                  <a:srgbClr val="000000"/>
                </a:solidFill>
                <a:ea typeface="+mn-lt"/>
                <a:cs typeface="+mn-lt"/>
              </a:rPr>
              <a:t>gerenciar</a:t>
            </a:r>
            <a:r>
              <a:rPr lang="en-US" sz="2200">
                <a:solidFill>
                  <a:srgbClr val="000000"/>
                </a:solidFill>
                <a:ea typeface="+mn-lt"/>
                <a:cs typeface="+mn-lt"/>
              </a:rPr>
              <a:t> e </a:t>
            </a:r>
            <a:r>
              <a:rPr lang="en-US" sz="2200" err="1">
                <a:solidFill>
                  <a:srgbClr val="000000"/>
                </a:solidFill>
                <a:ea typeface="+mn-lt"/>
                <a:cs typeface="+mn-lt"/>
              </a:rPr>
              <a:t>consultar</a:t>
            </a:r>
            <a:r>
              <a:rPr lang="en-US" sz="2200">
                <a:solidFill>
                  <a:srgbClr val="000000"/>
                </a:solidFill>
                <a:ea typeface="+mn-lt"/>
                <a:cs typeface="+mn-lt"/>
              </a:rPr>
              <a:t> dados </a:t>
            </a:r>
            <a:r>
              <a:rPr lang="en-US" sz="2200" err="1">
                <a:solidFill>
                  <a:srgbClr val="000000"/>
                </a:solidFill>
                <a:ea typeface="+mn-lt"/>
                <a:cs typeface="+mn-lt"/>
              </a:rPr>
              <a:t>em</a:t>
            </a:r>
            <a:r>
              <a:rPr lang="en-US" sz="2200">
                <a:solidFill>
                  <a:srgbClr val="000000"/>
                </a:solidFill>
                <a:ea typeface="+mn-lt"/>
                <a:cs typeface="+mn-lt"/>
              </a:rPr>
              <a:t> um SGBD </a:t>
            </a:r>
            <a:r>
              <a:rPr lang="en-US" sz="2200" err="1">
                <a:solidFill>
                  <a:srgbClr val="000000"/>
                </a:solidFill>
                <a:ea typeface="+mn-lt"/>
                <a:cs typeface="+mn-lt"/>
              </a:rPr>
              <a:t>relacional</a:t>
            </a:r>
            <a:r>
              <a:rPr lang="en-US" sz="2200">
                <a:solidFill>
                  <a:srgbClr val="000000"/>
                </a:solidFill>
                <a:ea typeface="+mn-lt"/>
                <a:cs typeface="+mn-lt"/>
              </a:rPr>
              <a:t> (H2 </a:t>
            </a:r>
            <a:r>
              <a:rPr lang="en-US" sz="2200" err="1">
                <a:solidFill>
                  <a:srgbClr val="000000"/>
                </a:solidFill>
                <a:ea typeface="+mn-lt"/>
                <a:cs typeface="+mn-lt"/>
              </a:rPr>
              <a:t>ou</a:t>
            </a:r>
            <a:r>
              <a:rPr lang="en-US" sz="2200">
                <a:solidFill>
                  <a:srgbClr val="000000"/>
                </a:solidFill>
                <a:ea typeface="+mn-lt"/>
                <a:cs typeface="+mn-lt"/>
              </a:rPr>
              <a:t> Oracle). No </a:t>
            </a:r>
            <a:r>
              <a:rPr lang="en-US" sz="2200" err="1">
                <a:solidFill>
                  <a:srgbClr val="000000"/>
                </a:solidFill>
                <a:ea typeface="+mn-lt"/>
                <a:cs typeface="+mn-lt"/>
              </a:rPr>
              <a:t>entanto</a:t>
            </a:r>
            <a:r>
              <a:rPr lang="en-US" sz="2200">
                <a:solidFill>
                  <a:srgbClr val="000000"/>
                </a:solidFill>
                <a:ea typeface="+mn-lt"/>
                <a:cs typeface="+mn-lt"/>
              </a:rPr>
              <a:t>, é </a:t>
            </a:r>
            <a:r>
              <a:rPr lang="en-US" sz="2200" err="1">
                <a:solidFill>
                  <a:srgbClr val="000000"/>
                </a:solidFill>
                <a:ea typeface="+mn-lt"/>
                <a:cs typeface="+mn-lt"/>
              </a:rPr>
              <a:t>importante</a:t>
            </a:r>
            <a:r>
              <a:rPr lang="en-US" sz="2200">
                <a:solidFill>
                  <a:srgbClr val="000000"/>
                </a:solidFill>
                <a:ea typeface="+mn-lt"/>
                <a:cs typeface="+mn-lt"/>
              </a:rPr>
              <a:t> </a:t>
            </a:r>
            <a:r>
              <a:rPr lang="en-US" sz="2200" err="1">
                <a:solidFill>
                  <a:srgbClr val="000000"/>
                </a:solidFill>
                <a:ea typeface="+mn-lt"/>
                <a:cs typeface="+mn-lt"/>
              </a:rPr>
              <a:t>destacar</a:t>
            </a:r>
            <a:r>
              <a:rPr lang="en-US" sz="2200">
                <a:solidFill>
                  <a:srgbClr val="000000"/>
                </a:solidFill>
                <a:ea typeface="+mn-lt"/>
                <a:cs typeface="+mn-lt"/>
              </a:rPr>
              <a:t> </a:t>
            </a:r>
            <a:r>
              <a:rPr lang="en-US" sz="2200" err="1">
                <a:solidFill>
                  <a:srgbClr val="000000"/>
                </a:solidFill>
                <a:ea typeface="+mn-lt"/>
                <a:cs typeface="+mn-lt"/>
              </a:rPr>
              <a:t>que</a:t>
            </a:r>
            <a:r>
              <a:rPr lang="en-US" sz="2200">
                <a:solidFill>
                  <a:srgbClr val="000000"/>
                </a:solidFill>
                <a:ea typeface="+mn-lt"/>
                <a:cs typeface="+mn-lt"/>
              </a:rPr>
              <a:t> a </a:t>
            </a:r>
            <a:r>
              <a:rPr lang="en-US" sz="2200" err="1">
                <a:solidFill>
                  <a:srgbClr val="000000"/>
                </a:solidFill>
                <a:ea typeface="+mn-lt"/>
                <a:cs typeface="+mn-lt"/>
              </a:rPr>
              <a:t>implementação</a:t>
            </a:r>
            <a:r>
              <a:rPr lang="en-US" sz="2200">
                <a:solidFill>
                  <a:srgbClr val="000000"/>
                </a:solidFill>
                <a:ea typeface="+mn-lt"/>
                <a:cs typeface="+mn-lt"/>
              </a:rPr>
              <a:t> </a:t>
            </a:r>
            <a:r>
              <a:rPr lang="en-US" sz="2200" err="1">
                <a:solidFill>
                  <a:srgbClr val="000000"/>
                </a:solidFill>
                <a:ea typeface="+mn-lt"/>
                <a:cs typeface="+mn-lt"/>
              </a:rPr>
              <a:t>apenas</a:t>
            </a:r>
            <a:r>
              <a:rPr lang="en-US" sz="2200">
                <a:solidFill>
                  <a:srgbClr val="000000"/>
                </a:solidFill>
                <a:ea typeface="+mn-lt"/>
                <a:cs typeface="+mn-lt"/>
              </a:rPr>
              <a:t> de </a:t>
            </a:r>
            <a:r>
              <a:rPr lang="en-US" sz="2200" err="1">
                <a:solidFill>
                  <a:srgbClr val="000000"/>
                </a:solidFill>
                <a:ea typeface="+mn-lt"/>
                <a:cs typeface="+mn-lt"/>
              </a:rPr>
              <a:t>operações</a:t>
            </a:r>
            <a:r>
              <a:rPr lang="en-US" sz="2200">
                <a:solidFill>
                  <a:srgbClr val="000000"/>
                </a:solidFill>
                <a:ea typeface="+mn-lt"/>
                <a:cs typeface="+mn-lt"/>
              </a:rPr>
              <a:t> de CRUD </a:t>
            </a:r>
            <a:r>
              <a:rPr lang="en-US" sz="2200" err="1">
                <a:solidFill>
                  <a:srgbClr val="000000"/>
                </a:solidFill>
                <a:ea typeface="+mn-lt"/>
                <a:cs typeface="+mn-lt"/>
              </a:rPr>
              <a:t>não</a:t>
            </a:r>
            <a:r>
              <a:rPr lang="en-US" sz="2200">
                <a:solidFill>
                  <a:srgbClr val="000000"/>
                </a:solidFill>
                <a:ea typeface="+mn-lt"/>
                <a:cs typeface="+mn-lt"/>
              </a:rPr>
              <a:t> </a:t>
            </a:r>
            <a:r>
              <a:rPr lang="en-US" sz="2200" err="1">
                <a:solidFill>
                  <a:srgbClr val="000000"/>
                </a:solidFill>
                <a:ea typeface="+mn-lt"/>
                <a:cs typeface="+mn-lt"/>
              </a:rPr>
              <a:t>será</a:t>
            </a:r>
            <a:r>
              <a:rPr lang="en-US" sz="2200">
                <a:solidFill>
                  <a:srgbClr val="000000"/>
                </a:solidFill>
                <a:ea typeface="+mn-lt"/>
                <a:cs typeface="+mn-lt"/>
              </a:rPr>
              <a:t> </a:t>
            </a:r>
            <a:r>
              <a:rPr lang="en-US" sz="2200" err="1">
                <a:solidFill>
                  <a:srgbClr val="000000"/>
                </a:solidFill>
                <a:ea typeface="+mn-lt"/>
                <a:cs typeface="+mn-lt"/>
              </a:rPr>
              <a:t>considerada</a:t>
            </a:r>
            <a:r>
              <a:rPr lang="en-US" sz="2200">
                <a:solidFill>
                  <a:srgbClr val="000000"/>
                </a:solidFill>
                <a:ea typeface="+mn-lt"/>
                <a:cs typeface="+mn-lt"/>
              </a:rPr>
              <a:t> </a:t>
            </a:r>
            <a:r>
              <a:rPr lang="en-US" sz="2200" err="1">
                <a:solidFill>
                  <a:srgbClr val="000000"/>
                </a:solidFill>
                <a:ea typeface="+mn-lt"/>
                <a:cs typeface="+mn-lt"/>
              </a:rPr>
              <a:t>suficiente</a:t>
            </a:r>
            <a:r>
              <a:rPr lang="en-US" sz="2200">
                <a:solidFill>
                  <a:srgbClr val="000000"/>
                </a:solidFill>
                <a:ea typeface="+mn-lt"/>
                <a:cs typeface="+mn-lt"/>
              </a:rPr>
              <a:t> para resolver de forma </a:t>
            </a:r>
            <a:r>
              <a:rPr lang="en-US" sz="2200" err="1">
                <a:solidFill>
                  <a:srgbClr val="000000"/>
                </a:solidFill>
                <a:ea typeface="+mn-lt"/>
                <a:cs typeface="+mn-lt"/>
              </a:rPr>
              <a:t>eficaz</a:t>
            </a:r>
            <a:r>
              <a:rPr lang="en-US" sz="2200">
                <a:solidFill>
                  <a:srgbClr val="000000"/>
                </a:solidFill>
                <a:ea typeface="+mn-lt"/>
                <a:cs typeface="+mn-lt"/>
              </a:rPr>
              <a:t> o </a:t>
            </a:r>
            <a:r>
              <a:rPr lang="en-US" sz="2200" err="1">
                <a:solidFill>
                  <a:srgbClr val="000000"/>
                </a:solidFill>
                <a:ea typeface="+mn-lt"/>
                <a:cs typeface="+mn-lt"/>
              </a:rPr>
              <a:t>problema</a:t>
            </a:r>
            <a:r>
              <a:rPr lang="en-US" sz="2200">
                <a:solidFill>
                  <a:srgbClr val="000000"/>
                </a:solidFill>
                <a:ea typeface="+mn-lt"/>
                <a:cs typeface="+mn-lt"/>
              </a:rPr>
              <a:t> </a:t>
            </a:r>
            <a:r>
              <a:rPr lang="en-US" sz="2200" err="1">
                <a:solidFill>
                  <a:srgbClr val="000000"/>
                </a:solidFill>
                <a:ea typeface="+mn-lt"/>
                <a:cs typeface="+mn-lt"/>
              </a:rPr>
              <a:t>proposto</a:t>
            </a:r>
            <a:r>
              <a:rPr lang="en-US" sz="2200">
                <a:solidFill>
                  <a:srgbClr val="000000"/>
                </a:solidFill>
                <a:ea typeface="+mn-lt"/>
                <a:cs typeface="+mn-lt"/>
              </a:rPr>
              <a:t> </a:t>
            </a:r>
            <a:r>
              <a:rPr lang="en-US" sz="2200" err="1">
                <a:solidFill>
                  <a:srgbClr val="000000"/>
                </a:solidFill>
                <a:ea typeface="+mn-lt"/>
                <a:cs typeface="+mn-lt"/>
              </a:rPr>
              <a:t>neste</a:t>
            </a:r>
            <a:r>
              <a:rPr lang="en-US" sz="2200">
                <a:solidFill>
                  <a:srgbClr val="000000"/>
                </a:solidFill>
                <a:ea typeface="+mn-lt"/>
                <a:cs typeface="+mn-lt"/>
              </a:rPr>
              <a:t> Challenge.</a:t>
            </a:r>
            <a:endParaRPr lang="en-US">
              <a:ea typeface="+mn-lt"/>
              <a:cs typeface="+mn-lt"/>
            </a:endParaRPr>
          </a:p>
        </p:txBody>
      </p:sp>
    </p:spTree>
    <p:extLst>
      <p:ext uri="{BB962C8B-B14F-4D97-AF65-F5344CB8AC3E}">
        <p14:creationId xmlns:p14="http://schemas.microsoft.com/office/powerpoint/2010/main" val="1528193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20D5E-96CD-9B79-8ECD-0EC90FCFE2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AE98C2-B690-68AF-45C4-AF80534C9D9C}"/>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DAD418EA-6435-DBC8-D8DD-0F46F3FD1B6F}"/>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A3996CAC-A24B-FB4A-3FE6-6C9594BBC247}"/>
              </a:ext>
            </a:extLst>
          </p:cNvPr>
          <p:cNvSpPr txBox="1"/>
          <p:nvPr/>
        </p:nvSpPr>
        <p:spPr>
          <a:xfrm>
            <a:off x="839708" y="1531897"/>
            <a:ext cx="10644591" cy="5247590"/>
          </a:xfrm>
          <a:prstGeom prst="rect">
            <a:avLst/>
          </a:prstGeom>
        </p:spPr>
        <p:txBody>
          <a:bodyPr vert="horz" wrap="square" lIns="0" tIns="25400" rIns="0" bIns="0" rtlCol="0" anchor="t">
            <a:spAutoFit/>
          </a:bodyPr>
          <a:lstStyle>
            <a:defPPr>
              <a:defRPr kern="0"/>
            </a:defPPr>
          </a:lstStyle>
          <a:p>
            <a:pPr marL="20320">
              <a:spcBef>
                <a:spcPts val="200"/>
              </a:spcBef>
            </a:pPr>
            <a:r>
              <a:rPr lang="en-US" sz="2000" b="1" spc="-16">
                <a:latin typeface="Arial"/>
                <a:cs typeface="Arial"/>
              </a:rPr>
              <a:t>- </a:t>
            </a:r>
            <a:r>
              <a:rPr lang="en-US" sz="2000" b="1" spc="-16" err="1">
                <a:latin typeface="Arial"/>
                <a:cs typeface="Arial"/>
              </a:rPr>
              <a:t>Solicitação</a:t>
            </a:r>
            <a:r>
              <a:rPr lang="en-US" sz="2000" b="1" spc="-16">
                <a:latin typeface="Arial"/>
                <a:cs typeface="Arial"/>
              </a:rPr>
              <a:t>:</a:t>
            </a:r>
            <a:endParaRPr lang="en-US" sz="2000" spc="-16">
              <a:latin typeface="Arial"/>
              <a:cs typeface="Arial"/>
            </a:endParaRPr>
          </a:p>
          <a:p>
            <a:pPr>
              <a:spcBef>
                <a:spcPts val="231"/>
              </a:spcBef>
            </a:pPr>
            <a:endParaRPr lang="en-US" sz="2000" spc="-16">
              <a:latin typeface="Arial"/>
              <a:cs typeface="Arial"/>
            </a:endParaRPr>
          </a:p>
          <a:p>
            <a:pPr marL="20320"/>
            <a:r>
              <a:rPr lang="en-US" sz="2000" spc="-16" err="1">
                <a:latin typeface="Arial"/>
                <a:cs typeface="Arial"/>
              </a:rPr>
              <a:t>Dentro</a:t>
            </a:r>
            <a:r>
              <a:rPr lang="en-US" sz="2000" spc="-16">
                <a:latin typeface="Arial"/>
                <a:cs typeface="Arial"/>
              </a:rPr>
              <a:t> do </a:t>
            </a:r>
            <a:r>
              <a:rPr lang="en-US" sz="2000" spc="-16" err="1">
                <a:latin typeface="Arial"/>
                <a:cs typeface="Arial"/>
              </a:rPr>
              <a:t>contexto</a:t>
            </a:r>
            <a:r>
              <a:rPr lang="en-US" sz="2000" spc="-16">
                <a:latin typeface="Arial"/>
                <a:cs typeface="Arial"/>
              </a:rPr>
              <a:t> </a:t>
            </a:r>
            <a:r>
              <a:rPr lang="en-US" sz="2000" spc="-16" err="1">
                <a:latin typeface="Arial"/>
                <a:cs typeface="Arial"/>
              </a:rPr>
              <a:t>apresentado</a:t>
            </a:r>
            <a:r>
              <a:rPr lang="en-US" sz="2000" spc="-16">
                <a:latin typeface="Arial"/>
                <a:cs typeface="Arial"/>
              </a:rPr>
              <a:t>, a equipe </a:t>
            </a:r>
            <a:r>
              <a:rPr lang="en-US" sz="2000" spc="-16" err="1">
                <a:latin typeface="Arial"/>
                <a:cs typeface="Arial"/>
              </a:rPr>
              <a:t>deverá</a:t>
            </a:r>
            <a:r>
              <a:rPr lang="en-US" sz="2000" spc="-16">
                <a:latin typeface="Arial"/>
                <a:cs typeface="Arial"/>
              </a:rPr>
              <a:t>:</a:t>
            </a:r>
          </a:p>
          <a:p>
            <a:pPr>
              <a:spcBef>
                <a:spcPts val="224"/>
              </a:spcBef>
            </a:pPr>
            <a:endParaRPr lang="en-US" sz="2000" spc="-16">
              <a:latin typeface="Arial"/>
              <a:cs typeface="Arial"/>
            </a:endParaRPr>
          </a:p>
          <a:p>
            <a:pPr marL="20320" marR="7620" indent="369570">
              <a:lnSpc>
                <a:spcPct val="105200"/>
              </a:lnSpc>
              <a:buFont typeface="Segoe UI Symbol,Sans-Serif"/>
              <a:buChar char="❑"/>
            </a:pPr>
            <a:r>
              <a:rPr lang="en-US" sz="2000" spc="-16" err="1">
                <a:latin typeface="Arial"/>
                <a:cs typeface="Arial"/>
              </a:rPr>
              <a:t>Criar</a:t>
            </a:r>
            <a:r>
              <a:rPr lang="en-US" sz="2000" spc="-16">
                <a:latin typeface="Arial"/>
                <a:cs typeface="Arial"/>
              </a:rPr>
              <a:t> </a:t>
            </a:r>
            <a:r>
              <a:rPr lang="en-US" sz="2000" spc="-16" err="1">
                <a:latin typeface="Arial"/>
                <a:cs typeface="Arial"/>
              </a:rPr>
              <a:t>uma</a:t>
            </a:r>
            <a:r>
              <a:rPr lang="en-US" sz="2000" spc="-16">
                <a:latin typeface="Arial"/>
                <a:cs typeface="Arial"/>
              </a:rPr>
              <a:t> </a:t>
            </a:r>
            <a:r>
              <a:rPr lang="en-US" sz="2000" spc="-16" err="1">
                <a:latin typeface="Arial"/>
                <a:cs typeface="Arial"/>
              </a:rPr>
              <a:t>aplicação</a:t>
            </a:r>
            <a:r>
              <a:rPr lang="en-US" sz="2000" spc="-16">
                <a:latin typeface="Arial"/>
                <a:cs typeface="Arial"/>
              </a:rPr>
              <a:t> Java com Spring Boot </a:t>
            </a:r>
            <a:r>
              <a:rPr lang="en-US" sz="2000" spc="-16" err="1">
                <a:latin typeface="Arial"/>
                <a:cs typeface="Arial"/>
              </a:rPr>
              <a:t>que</a:t>
            </a:r>
            <a:r>
              <a:rPr lang="en-US" sz="2000" spc="-16">
                <a:latin typeface="Arial"/>
                <a:cs typeface="Arial"/>
              </a:rPr>
              <a:t> </a:t>
            </a:r>
            <a:r>
              <a:rPr lang="en-US" sz="2000" spc="-16" err="1">
                <a:latin typeface="Arial"/>
                <a:cs typeface="Arial"/>
              </a:rPr>
              <a:t>ajude</a:t>
            </a:r>
            <a:r>
              <a:rPr lang="en-US" sz="2000" spc="-16">
                <a:latin typeface="Arial"/>
                <a:cs typeface="Arial"/>
              </a:rPr>
              <a:t> a resolver um </a:t>
            </a:r>
            <a:r>
              <a:rPr lang="en-US" sz="2000" spc="-16" err="1">
                <a:latin typeface="Arial"/>
                <a:cs typeface="Arial"/>
              </a:rPr>
              <a:t>problema</a:t>
            </a:r>
            <a:r>
              <a:rPr lang="en-US" sz="2000" spc="-16">
                <a:latin typeface="Arial"/>
                <a:cs typeface="Arial"/>
              </a:rPr>
              <a:t> </a:t>
            </a:r>
            <a:r>
              <a:rPr lang="en-US" sz="2000" spc="-16" err="1">
                <a:latin typeface="Arial"/>
                <a:cs typeface="Arial"/>
              </a:rPr>
              <a:t>dentro</a:t>
            </a:r>
            <a:r>
              <a:rPr lang="en-US" sz="2000" spc="-16">
                <a:latin typeface="Arial"/>
                <a:cs typeface="Arial"/>
              </a:rPr>
              <a:t> do </a:t>
            </a:r>
            <a:r>
              <a:rPr lang="en-US" sz="2000" spc="-16" err="1">
                <a:latin typeface="Arial"/>
                <a:cs typeface="Arial"/>
              </a:rPr>
              <a:t>contexto</a:t>
            </a:r>
            <a:r>
              <a:rPr lang="en-US" sz="2000" spc="-16">
                <a:latin typeface="Arial"/>
                <a:cs typeface="Arial"/>
              </a:rPr>
              <a:t> </a:t>
            </a:r>
            <a:r>
              <a:rPr lang="en-US" sz="2000" spc="-16" err="1">
                <a:latin typeface="Arial"/>
                <a:cs typeface="Arial"/>
              </a:rPr>
              <a:t>apresentado</a:t>
            </a:r>
            <a:r>
              <a:rPr lang="en-US" sz="2000" spc="-16">
                <a:latin typeface="Arial"/>
                <a:cs typeface="Arial"/>
              </a:rPr>
              <a:t> (utilize a </a:t>
            </a:r>
            <a:r>
              <a:rPr lang="en-US" sz="2000" spc="-16" err="1">
                <a:latin typeface="Arial"/>
                <a:cs typeface="Arial"/>
              </a:rPr>
              <a:t>criatividade</a:t>
            </a:r>
            <a:r>
              <a:rPr lang="en-US" sz="2000" spc="-16">
                <a:latin typeface="Arial"/>
                <a:cs typeface="Arial"/>
              </a:rPr>
              <a:t>);</a:t>
            </a:r>
          </a:p>
          <a:p>
            <a:pPr marL="285750" indent="-285750">
              <a:spcBef>
                <a:spcPts val="104"/>
              </a:spcBef>
              <a:buFont typeface="Segoe UI Symbol,Sans-Serif"/>
              <a:buChar char="❑"/>
            </a:pPr>
            <a:endParaRPr lang="en-US" sz="2000" spc="-16">
              <a:latin typeface="Arial"/>
              <a:cs typeface="Arial"/>
            </a:endParaRPr>
          </a:p>
          <a:p>
            <a:pPr marL="20320" marR="10160" indent="321945">
              <a:lnSpc>
                <a:spcPct val="105100"/>
              </a:lnSpc>
              <a:buFont typeface="Segoe UI Symbol,Sans-Serif"/>
              <a:buChar char="❑"/>
            </a:pPr>
            <a:r>
              <a:rPr lang="en-US" sz="2000" spc="-16">
                <a:latin typeface="Arial"/>
                <a:cs typeface="Arial"/>
              </a:rPr>
              <a:t>A </a:t>
            </a:r>
            <a:r>
              <a:rPr lang="en-US" sz="2000" spc="-16" err="1">
                <a:latin typeface="Arial"/>
                <a:cs typeface="Arial"/>
              </a:rPr>
              <a:t>aplicação</a:t>
            </a:r>
            <a:r>
              <a:rPr lang="en-US" sz="2000" spc="-16">
                <a:latin typeface="Arial"/>
                <a:cs typeface="Arial"/>
              </a:rPr>
              <a:t> </a:t>
            </a:r>
            <a:r>
              <a:rPr lang="en-US" sz="2000" spc="-16" err="1">
                <a:latin typeface="Arial"/>
                <a:cs typeface="Arial"/>
              </a:rPr>
              <a:t>deverá</a:t>
            </a:r>
            <a:r>
              <a:rPr lang="en-US" sz="2000" spc="-16">
                <a:latin typeface="Arial"/>
                <a:cs typeface="Arial"/>
              </a:rPr>
              <a:t> </a:t>
            </a:r>
            <a:r>
              <a:rPr lang="en-US" sz="2000" spc="-16" err="1">
                <a:latin typeface="Arial"/>
                <a:cs typeface="Arial"/>
              </a:rPr>
              <a:t>respeitar</a:t>
            </a:r>
            <a:r>
              <a:rPr lang="en-US" sz="2000" spc="-16">
                <a:latin typeface="Arial"/>
                <a:cs typeface="Arial"/>
              </a:rPr>
              <a:t> </a:t>
            </a:r>
            <a:r>
              <a:rPr lang="en-US" sz="2000" spc="-16" err="1">
                <a:latin typeface="Arial"/>
                <a:cs typeface="Arial"/>
              </a:rPr>
              <a:t>os</a:t>
            </a:r>
            <a:r>
              <a:rPr lang="en-US" sz="2000" spc="-16">
                <a:latin typeface="Arial"/>
                <a:cs typeface="Arial"/>
              </a:rPr>
              <a:t> </a:t>
            </a:r>
            <a:r>
              <a:rPr lang="en-US" sz="2000" spc="-16" err="1">
                <a:latin typeface="Arial"/>
                <a:cs typeface="Arial"/>
              </a:rPr>
              <a:t>fundamentos</a:t>
            </a:r>
            <a:r>
              <a:rPr lang="en-US" sz="2000" spc="-16">
                <a:latin typeface="Arial"/>
                <a:cs typeface="Arial"/>
              </a:rPr>
              <a:t> da </a:t>
            </a:r>
            <a:r>
              <a:rPr lang="en-US" sz="2000" spc="-16" err="1">
                <a:latin typeface="Arial"/>
                <a:cs typeface="Arial"/>
              </a:rPr>
              <a:t>Programação</a:t>
            </a:r>
            <a:r>
              <a:rPr lang="en-US" sz="2000" spc="-16">
                <a:latin typeface="Arial"/>
                <a:cs typeface="Arial"/>
              </a:rPr>
              <a:t> </a:t>
            </a:r>
            <a:r>
              <a:rPr lang="en-US" sz="2000" spc="-16" err="1">
                <a:latin typeface="Arial"/>
                <a:cs typeface="Arial"/>
              </a:rPr>
              <a:t>Orientada</a:t>
            </a:r>
            <a:r>
              <a:rPr lang="en-US" sz="2000" spc="-16">
                <a:latin typeface="Arial"/>
                <a:cs typeface="Arial"/>
              </a:rPr>
              <a:t> a </a:t>
            </a:r>
            <a:r>
              <a:rPr lang="en-US" sz="2000" spc="-16" err="1">
                <a:latin typeface="Arial"/>
                <a:cs typeface="Arial"/>
              </a:rPr>
              <a:t>Objetos</a:t>
            </a:r>
            <a:r>
              <a:rPr lang="en-US" sz="2000" spc="-16">
                <a:latin typeface="Arial"/>
                <a:cs typeface="Arial"/>
              </a:rPr>
              <a:t> (POO) e as classes de </a:t>
            </a:r>
            <a:r>
              <a:rPr lang="en-US" sz="2000" spc="-16" err="1">
                <a:latin typeface="Arial"/>
                <a:cs typeface="Arial"/>
              </a:rPr>
              <a:t>entidade</a:t>
            </a:r>
            <a:r>
              <a:rPr lang="en-US" sz="2000" spc="-16">
                <a:latin typeface="Arial"/>
                <a:cs typeface="Arial"/>
              </a:rPr>
              <a:t> </a:t>
            </a:r>
            <a:r>
              <a:rPr lang="en-US" sz="2000" spc="-16" err="1">
                <a:latin typeface="Arial"/>
                <a:cs typeface="Arial"/>
              </a:rPr>
              <a:t>deverão</a:t>
            </a:r>
            <a:r>
              <a:rPr lang="en-US" sz="2000" spc="-16">
                <a:latin typeface="Arial"/>
                <a:cs typeface="Arial"/>
              </a:rPr>
              <a:t> </a:t>
            </a:r>
            <a:r>
              <a:rPr lang="en-US" sz="2000" spc="-16" err="1">
                <a:latin typeface="Arial"/>
                <a:cs typeface="Arial"/>
              </a:rPr>
              <a:t>estar</a:t>
            </a:r>
            <a:r>
              <a:rPr lang="en-US" sz="2000" spc="-16">
                <a:latin typeface="Arial"/>
                <a:cs typeface="Arial"/>
              </a:rPr>
              <a:t> </a:t>
            </a:r>
            <a:r>
              <a:rPr lang="en-US" sz="2000" spc="-16" err="1">
                <a:latin typeface="Arial"/>
                <a:cs typeface="Arial"/>
              </a:rPr>
              <a:t>relacionadas</a:t>
            </a:r>
            <a:r>
              <a:rPr lang="en-US" sz="2000" spc="-16">
                <a:latin typeface="Arial"/>
                <a:cs typeface="Arial"/>
              </a:rPr>
              <a:t> e </a:t>
            </a:r>
            <a:r>
              <a:rPr lang="en-US" sz="2000" spc="-16" err="1">
                <a:latin typeface="Arial"/>
                <a:cs typeface="Arial"/>
              </a:rPr>
              <a:t>mapeadas</a:t>
            </a:r>
            <a:r>
              <a:rPr lang="en-US" sz="2000" spc="-16">
                <a:latin typeface="Arial"/>
                <a:cs typeface="Arial"/>
              </a:rPr>
              <a:t> com JPA;</a:t>
            </a:r>
          </a:p>
          <a:p>
            <a:pPr marL="285750" indent="-285750">
              <a:spcBef>
                <a:spcPts val="352"/>
              </a:spcBef>
              <a:buFont typeface="Segoe UI Symbol,Sans-Serif"/>
              <a:buChar char="❑"/>
            </a:pPr>
            <a:endParaRPr lang="en-US" sz="2000" spc="-16">
              <a:latin typeface="Arial"/>
              <a:cs typeface="Arial"/>
            </a:endParaRPr>
          </a:p>
          <a:p>
            <a:pPr marL="325120" indent="-304800">
              <a:buFont typeface="Segoe UI Symbol,Sans-Serif"/>
              <a:buChar char="❑"/>
            </a:pPr>
            <a:r>
              <a:rPr lang="en-US" sz="2000" spc="-16" err="1">
                <a:latin typeface="Arial"/>
                <a:cs typeface="Arial"/>
              </a:rPr>
              <a:t>Garantir</a:t>
            </a:r>
            <a:r>
              <a:rPr lang="en-US" sz="2000" spc="-16">
                <a:latin typeface="Arial"/>
                <a:cs typeface="Arial"/>
              </a:rPr>
              <a:t> </a:t>
            </a:r>
            <a:r>
              <a:rPr lang="en-US" sz="2000" spc="-16" err="1">
                <a:latin typeface="Arial"/>
                <a:cs typeface="Arial"/>
              </a:rPr>
              <a:t>que</a:t>
            </a:r>
            <a:r>
              <a:rPr lang="en-US" sz="2000" spc="-16">
                <a:latin typeface="Arial"/>
                <a:cs typeface="Arial"/>
              </a:rPr>
              <a:t> o </a:t>
            </a:r>
            <a:r>
              <a:rPr lang="en-US" sz="2000" spc="-16" err="1">
                <a:latin typeface="Arial"/>
                <a:cs typeface="Arial"/>
              </a:rPr>
              <a:t>código</a:t>
            </a:r>
            <a:r>
              <a:rPr lang="en-US" sz="2000" spc="-16">
                <a:latin typeface="Arial"/>
                <a:cs typeface="Arial"/>
              </a:rPr>
              <a:t> </a:t>
            </a:r>
            <a:r>
              <a:rPr lang="en-US" sz="2000" spc="-16" err="1">
                <a:latin typeface="Arial"/>
                <a:cs typeface="Arial"/>
              </a:rPr>
              <a:t>que</a:t>
            </a:r>
            <a:r>
              <a:rPr lang="en-US" sz="2000" spc="-16">
                <a:latin typeface="Arial"/>
                <a:cs typeface="Arial"/>
              </a:rPr>
              <a:t> </a:t>
            </a:r>
            <a:r>
              <a:rPr lang="en-US" sz="2000" spc="-16" err="1">
                <a:latin typeface="Arial"/>
                <a:cs typeface="Arial"/>
              </a:rPr>
              <a:t>respeite</a:t>
            </a:r>
            <a:r>
              <a:rPr lang="en-US" sz="2000" spc="-16">
                <a:latin typeface="Arial"/>
                <a:cs typeface="Arial"/>
              </a:rPr>
              <a:t> a </a:t>
            </a:r>
            <a:r>
              <a:rPr lang="en-US" sz="2000" spc="-16" err="1">
                <a:latin typeface="Arial"/>
                <a:cs typeface="Arial"/>
              </a:rPr>
              <a:t>coesão</a:t>
            </a:r>
            <a:r>
              <a:rPr lang="en-US" sz="2000" spc="-16">
                <a:latin typeface="Arial"/>
                <a:cs typeface="Arial"/>
              </a:rPr>
              <a:t> e o </a:t>
            </a:r>
            <a:r>
              <a:rPr lang="en-US" sz="2000" spc="-16" err="1">
                <a:latin typeface="Arial"/>
                <a:cs typeface="Arial"/>
              </a:rPr>
              <a:t>desacoplamento</a:t>
            </a:r>
            <a:r>
              <a:rPr lang="en-US" sz="2000" spc="-16">
                <a:latin typeface="Arial"/>
                <a:cs typeface="Arial"/>
              </a:rPr>
              <a:t>;</a:t>
            </a:r>
          </a:p>
          <a:p>
            <a:pPr marL="285750" indent="-285750">
              <a:spcBef>
                <a:spcPts val="231"/>
              </a:spcBef>
              <a:buFont typeface="Segoe UI Symbol,Sans-Serif"/>
              <a:buChar char="❑"/>
            </a:pPr>
            <a:endParaRPr lang="en-US" sz="2000" spc="-16">
              <a:latin typeface="Arial"/>
              <a:cs typeface="Arial"/>
            </a:endParaRPr>
          </a:p>
          <a:p>
            <a:pPr marL="325120" indent="-304800">
              <a:buFont typeface="Segoe UI Symbol,Sans-Serif"/>
              <a:buChar char="❑"/>
            </a:pPr>
            <a:r>
              <a:rPr lang="en-US" sz="2000" spc="-16">
                <a:latin typeface="Arial"/>
                <a:cs typeface="Arial"/>
              </a:rPr>
              <a:t>Uso </a:t>
            </a:r>
            <a:r>
              <a:rPr lang="en-US" sz="2000" spc="-16" err="1">
                <a:latin typeface="Arial"/>
                <a:cs typeface="Arial"/>
              </a:rPr>
              <a:t>adequado</a:t>
            </a:r>
            <a:r>
              <a:rPr lang="en-US" sz="2000" spc="-16">
                <a:latin typeface="Arial"/>
                <a:cs typeface="Arial"/>
              </a:rPr>
              <a:t> de </a:t>
            </a:r>
            <a:r>
              <a:rPr lang="en-US" sz="2000" spc="-16" err="1">
                <a:latin typeface="Arial"/>
                <a:cs typeface="Arial"/>
              </a:rPr>
              <a:t>padrões</a:t>
            </a:r>
            <a:r>
              <a:rPr lang="en-US" sz="2000" spc="-16">
                <a:latin typeface="Arial"/>
                <a:cs typeface="Arial"/>
              </a:rPr>
              <a:t> de </a:t>
            </a:r>
            <a:r>
              <a:rPr lang="en-US" sz="2000" spc="-16" err="1">
                <a:latin typeface="Arial"/>
                <a:cs typeface="Arial"/>
              </a:rPr>
              <a:t>projeto</a:t>
            </a:r>
            <a:r>
              <a:rPr lang="en-US" sz="2000" spc="-16">
                <a:latin typeface="Arial"/>
                <a:cs typeface="Arial"/>
              </a:rPr>
              <a:t> e </a:t>
            </a:r>
            <a:r>
              <a:rPr lang="en-US" sz="2000" spc="-16" err="1">
                <a:latin typeface="Arial"/>
                <a:cs typeface="Arial"/>
              </a:rPr>
              <a:t>validação</a:t>
            </a:r>
            <a:r>
              <a:rPr lang="en-US" sz="2000" spc="-16">
                <a:latin typeface="Arial"/>
                <a:cs typeface="Arial"/>
              </a:rPr>
              <a:t> </a:t>
            </a:r>
            <a:r>
              <a:rPr lang="en-US" sz="2000" spc="-16" err="1">
                <a:latin typeface="Arial"/>
                <a:cs typeface="Arial"/>
              </a:rPr>
              <a:t>funcional</a:t>
            </a:r>
            <a:r>
              <a:rPr lang="en-US" sz="2000" spc="-16">
                <a:latin typeface="Arial"/>
                <a:cs typeface="Arial"/>
              </a:rPr>
              <a:t>;</a:t>
            </a:r>
          </a:p>
          <a:p>
            <a:pPr marL="285750" indent="-285750">
              <a:spcBef>
                <a:spcPts val="344"/>
              </a:spcBef>
              <a:buFont typeface="Segoe UI Symbol,Sans-Serif"/>
              <a:buChar char="❑"/>
            </a:pPr>
            <a:endParaRPr lang="en-US" sz="2000" spc="-16">
              <a:latin typeface="Arial"/>
              <a:cs typeface="Arial"/>
            </a:endParaRPr>
          </a:p>
          <a:p>
            <a:pPr marL="325120" indent="-304800">
              <a:buFont typeface="Segoe UI Symbol,Sans-Serif"/>
              <a:buChar char="❑"/>
            </a:pPr>
            <a:r>
              <a:rPr lang="en-US" sz="2000" spc="-16" err="1">
                <a:latin typeface="Arial"/>
                <a:cs typeface="Arial"/>
              </a:rPr>
              <a:t>Respeitar</a:t>
            </a:r>
            <a:r>
              <a:rPr lang="en-US" sz="2000" spc="-16">
                <a:latin typeface="Arial"/>
                <a:cs typeface="Arial"/>
              </a:rPr>
              <a:t> </a:t>
            </a:r>
            <a:r>
              <a:rPr lang="en-US" sz="2000" spc="-16" err="1">
                <a:latin typeface="Arial"/>
                <a:cs typeface="Arial"/>
              </a:rPr>
              <a:t>os</a:t>
            </a:r>
            <a:r>
              <a:rPr lang="en-US" sz="2000" spc="-16">
                <a:latin typeface="Arial"/>
                <a:cs typeface="Arial"/>
              </a:rPr>
              <a:t> </a:t>
            </a:r>
            <a:r>
              <a:rPr lang="en-US" sz="2000" spc="-16" err="1">
                <a:latin typeface="Arial"/>
                <a:cs typeface="Arial"/>
              </a:rPr>
              <a:t>conceitos</a:t>
            </a:r>
            <a:r>
              <a:rPr lang="en-US" sz="2000" spc="-16">
                <a:latin typeface="Arial"/>
                <a:cs typeface="Arial"/>
              </a:rPr>
              <a:t> </a:t>
            </a:r>
            <a:r>
              <a:rPr lang="en-US" sz="2000" spc="-16" err="1">
                <a:latin typeface="Arial"/>
                <a:cs typeface="Arial"/>
              </a:rPr>
              <a:t>fundamentais</a:t>
            </a:r>
            <a:r>
              <a:rPr lang="en-US" sz="2000" spc="-16">
                <a:latin typeface="Arial"/>
                <a:cs typeface="Arial"/>
              </a:rPr>
              <a:t> da </a:t>
            </a:r>
            <a:r>
              <a:rPr lang="en-US" sz="2000" spc="-16" err="1">
                <a:latin typeface="Arial"/>
                <a:cs typeface="Arial"/>
              </a:rPr>
              <a:t>construção</a:t>
            </a:r>
            <a:r>
              <a:rPr lang="en-US" sz="2000" spc="-16">
                <a:latin typeface="Arial"/>
                <a:cs typeface="Arial"/>
              </a:rPr>
              <a:t> de APIs REST (RESTful);</a:t>
            </a:r>
          </a:p>
          <a:p>
            <a:pPr marL="20320" algn="just">
              <a:spcBef>
                <a:spcPts val="200"/>
              </a:spcBef>
            </a:pPr>
            <a:endParaRPr lang="en-US" sz="2200" b="1" spc="-16">
              <a:latin typeface="Arial"/>
              <a:cs typeface="Arial"/>
            </a:endParaRPr>
          </a:p>
        </p:txBody>
      </p:sp>
    </p:spTree>
    <p:extLst>
      <p:ext uri="{BB962C8B-B14F-4D97-AF65-F5344CB8AC3E}">
        <p14:creationId xmlns:p14="http://schemas.microsoft.com/office/powerpoint/2010/main" val="351402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AE3AA-274F-A16E-8F08-B32CFAC538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122ABB-FE82-EBF3-E200-2D78DA231C5D}"/>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FB7F6F77-D2BB-2356-8B9B-5431899F84CA}"/>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4B798D3F-B941-0BF7-791F-59732977641B}"/>
              </a:ext>
            </a:extLst>
          </p:cNvPr>
          <p:cNvSpPr txBox="1"/>
          <p:nvPr/>
        </p:nvSpPr>
        <p:spPr>
          <a:xfrm>
            <a:off x="839708" y="1531897"/>
            <a:ext cx="10644591" cy="4221669"/>
          </a:xfrm>
          <a:prstGeom prst="rect">
            <a:avLst/>
          </a:prstGeom>
        </p:spPr>
        <p:txBody>
          <a:bodyPr vert="horz" wrap="square" lIns="0" tIns="25400" rIns="0" bIns="0" rtlCol="0" anchor="t">
            <a:spAutoFit/>
          </a:bodyPr>
          <a:lstStyle>
            <a:defPPr>
              <a:defRPr kern="0"/>
            </a:defPPr>
          </a:lstStyle>
          <a:p>
            <a:pPr marL="20320">
              <a:spcBef>
                <a:spcPts val="200"/>
              </a:spcBef>
            </a:pPr>
            <a:r>
              <a:rPr lang="en-US" sz="2000" b="1" spc="-16">
                <a:solidFill>
                  <a:srgbClr val="000000"/>
                </a:solidFill>
                <a:latin typeface="Arial"/>
                <a:cs typeface="Arial"/>
              </a:rPr>
              <a:t>- </a:t>
            </a:r>
            <a:r>
              <a:rPr lang="en-US" sz="2000" b="1" spc="-16" err="1">
                <a:solidFill>
                  <a:srgbClr val="000000"/>
                </a:solidFill>
                <a:latin typeface="Arial"/>
                <a:cs typeface="Arial"/>
              </a:rPr>
              <a:t>Solicitação</a:t>
            </a:r>
            <a:r>
              <a:rPr lang="en-US" sz="2000" b="1" spc="-16">
                <a:solidFill>
                  <a:srgbClr val="000000"/>
                </a:solidFill>
                <a:latin typeface="Arial"/>
                <a:cs typeface="Arial"/>
              </a:rPr>
              <a:t>:</a:t>
            </a:r>
            <a:endParaRPr lang="en-US" sz="2000" spc="-16">
              <a:solidFill>
                <a:srgbClr val="000000"/>
              </a:solidFill>
              <a:latin typeface="Arial"/>
              <a:cs typeface="Arial"/>
            </a:endParaRPr>
          </a:p>
          <a:p>
            <a:pPr>
              <a:spcBef>
                <a:spcPts val="231"/>
              </a:spcBef>
            </a:pPr>
            <a:endParaRPr lang="en-US" sz="2000" spc="-16">
              <a:solidFill>
                <a:srgbClr val="000000"/>
              </a:solidFill>
              <a:latin typeface="Arial"/>
              <a:cs typeface="Arial"/>
            </a:endParaRPr>
          </a:p>
          <a:p>
            <a:pPr>
              <a:spcBef>
                <a:spcPts val="231"/>
              </a:spcBef>
            </a:pPr>
            <a:endParaRPr lang="en-US" sz="2000" spc="-16">
              <a:solidFill>
                <a:srgbClr val="000000"/>
              </a:solidFill>
              <a:latin typeface="Arial"/>
              <a:cs typeface="Arial"/>
            </a:endParaRPr>
          </a:p>
          <a:p>
            <a:pPr>
              <a:spcBef>
                <a:spcPts val="231"/>
              </a:spcBef>
            </a:pPr>
            <a:endParaRPr lang="en-US" sz="2000" spc="-16">
              <a:solidFill>
                <a:srgbClr val="000000"/>
              </a:solidFill>
              <a:latin typeface="Arial"/>
              <a:cs typeface="Arial"/>
            </a:endParaRPr>
          </a:p>
          <a:p>
            <a:pPr marL="325120" indent="-304800">
              <a:buFont typeface="Segoe UI Symbol,Sans-Serif"/>
              <a:buChar char="❑"/>
            </a:pPr>
            <a:r>
              <a:rPr lang="en-US" sz="2000" spc="-16" err="1">
                <a:solidFill>
                  <a:srgbClr val="000000"/>
                </a:solidFill>
                <a:latin typeface="Arial"/>
                <a:cs typeface="Arial"/>
              </a:rPr>
              <a:t>Utilizar</a:t>
            </a:r>
            <a:r>
              <a:rPr lang="en-US" sz="2000" spc="-16">
                <a:solidFill>
                  <a:srgbClr val="000000"/>
                </a:solidFill>
                <a:latin typeface="Arial"/>
                <a:cs typeface="Arial"/>
              </a:rPr>
              <a:t> </a:t>
            </a:r>
            <a:r>
              <a:rPr lang="en-US" sz="2000" spc="-16" err="1">
                <a:solidFill>
                  <a:srgbClr val="000000"/>
                </a:solidFill>
                <a:latin typeface="Arial"/>
                <a:cs typeface="Arial"/>
              </a:rPr>
              <a:t>os</a:t>
            </a:r>
            <a:r>
              <a:rPr lang="en-US" sz="2000" spc="-16">
                <a:solidFill>
                  <a:srgbClr val="000000"/>
                </a:solidFill>
                <a:latin typeface="Arial"/>
                <a:cs typeface="Arial"/>
              </a:rPr>
              <a:t> Design Patterns com </a:t>
            </a:r>
            <a:r>
              <a:rPr lang="en-US" sz="2000" spc="-16" err="1">
                <a:solidFill>
                  <a:srgbClr val="000000"/>
                </a:solidFill>
                <a:latin typeface="Arial"/>
                <a:cs typeface="Arial"/>
              </a:rPr>
              <a:t>prudência</a:t>
            </a:r>
            <a:endParaRPr lang="en-US" sz="2000" spc="-16">
              <a:solidFill>
                <a:srgbClr val="000000"/>
              </a:solidFill>
              <a:latin typeface="Arial"/>
              <a:cs typeface="Arial"/>
            </a:endParaRPr>
          </a:p>
          <a:p>
            <a:pPr marL="325120" indent="-304800">
              <a:buFont typeface="Segoe UI Symbol,Sans-Serif"/>
              <a:buChar char="❑"/>
            </a:pPr>
            <a:endParaRPr lang="en-US" sz="2000" spc="-16">
              <a:solidFill>
                <a:srgbClr val="000000"/>
              </a:solidFill>
              <a:latin typeface="Arial"/>
              <a:cs typeface="Arial"/>
            </a:endParaRPr>
          </a:p>
          <a:p>
            <a:pPr marL="325120" indent="-304800">
              <a:buFont typeface="Segoe UI Symbol,Sans-Serif"/>
              <a:buChar char="❑"/>
            </a:pPr>
            <a:r>
              <a:rPr lang="en-US" sz="2000" spc="-16" err="1">
                <a:solidFill>
                  <a:srgbClr val="000000"/>
                </a:solidFill>
                <a:latin typeface="Arial"/>
                <a:cs typeface="Arial"/>
              </a:rPr>
              <a:t>Poderá</a:t>
            </a:r>
            <a:r>
              <a:rPr lang="en-US" sz="2000" spc="-16">
                <a:solidFill>
                  <a:srgbClr val="000000"/>
                </a:solidFill>
                <a:latin typeface="Arial"/>
                <a:cs typeface="Arial"/>
              </a:rPr>
              <a:t> </a:t>
            </a:r>
            <a:r>
              <a:rPr lang="en-US" sz="2000" spc="-16" err="1">
                <a:solidFill>
                  <a:srgbClr val="000000"/>
                </a:solidFill>
                <a:latin typeface="Arial"/>
                <a:cs typeface="Arial"/>
              </a:rPr>
              <a:t>utilizar</a:t>
            </a:r>
            <a:r>
              <a:rPr lang="en-US" sz="2000" spc="-16">
                <a:solidFill>
                  <a:srgbClr val="000000"/>
                </a:solidFill>
                <a:latin typeface="Arial"/>
                <a:cs typeface="Arial"/>
              </a:rPr>
              <a:t> a JPQL e/</a:t>
            </a:r>
            <a:r>
              <a:rPr lang="en-US" sz="2000" spc="-16" err="1">
                <a:solidFill>
                  <a:srgbClr val="000000"/>
                </a:solidFill>
                <a:latin typeface="Arial"/>
                <a:cs typeface="Arial"/>
              </a:rPr>
              <a:t>ou</a:t>
            </a:r>
            <a:r>
              <a:rPr lang="en-US" sz="2000" spc="-16">
                <a:solidFill>
                  <a:srgbClr val="000000"/>
                </a:solidFill>
                <a:latin typeface="Arial"/>
                <a:cs typeface="Arial"/>
              </a:rPr>
              <a:t> Spring JPA Query Methods.</a:t>
            </a:r>
          </a:p>
          <a:p>
            <a:pPr marL="285750" indent="-285750">
              <a:spcBef>
                <a:spcPts val="224"/>
              </a:spcBef>
              <a:buFont typeface="Segoe UI Symbol,Sans-Serif"/>
              <a:buChar char="❑"/>
            </a:pPr>
            <a:endParaRPr lang="en-US" sz="2000" spc="-16">
              <a:solidFill>
                <a:srgbClr val="000000"/>
              </a:solidFill>
              <a:latin typeface="Arial"/>
              <a:cs typeface="Arial"/>
            </a:endParaRPr>
          </a:p>
          <a:p>
            <a:pPr marL="285750" indent="-285750">
              <a:spcBef>
                <a:spcPts val="224"/>
              </a:spcBef>
              <a:buFont typeface="Segoe UI Symbol,Sans-Serif"/>
              <a:buChar char="❑"/>
            </a:pPr>
            <a:r>
              <a:rPr lang="en-US" sz="2000" spc="-16">
                <a:solidFill>
                  <a:srgbClr val="000000"/>
                </a:solidFill>
                <a:latin typeface="Arial"/>
                <a:cs typeface="Arial"/>
              </a:rPr>
              <a:t> Todos </a:t>
            </a:r>
            <a:r>
              <a:rPr lang="en-US" sz="2000" spc="-16" err="1">
                <a:solidFill>
                  <a:srgbClr val="000000"/>
                </a:solidFill>
                <a:latin typeface="Arial"/>
                <a:cs typeface="Arial"/>
              </a:rPr>
              <a:t>os</a:t>
            </a:r>
            <a:r>
              <a:rPr lang="en-US" sz="2000" spc="-16">
                <a:solidFill>
                  <a:srgbClr val="000000"/>
                </a:solidFill>
                <a:latin typeface="Arial"/>
                <a:cs typeface="Arial"/>
              </a:rPr>
              <a:t> </a:t>
            </a:r>
            <a:r>
              <a:rPr lang="en-US" sz="2000" spc="-16" err="1">
                <a:solidFill>
                  <a:srgbClr val="000000"/>
                </a:solidFill>
                <a:latin typeface="Arial"/>
                <a:cs typeface="Arial"/>
              </a:rPr>
              <a:t>artefatos</a:t>
            </a:r>
            <a:r>
              <a:rPr lang="en-US" sz="2000" spc="-16">
                <a:solidFill>
                  <a:srgbClr val="000000"/>
                </a:solidFill>
                <a:latin typeface="Arial"/>
                <a:cs typeface="Arial"/>
              </a:rPr>
              <a:t> </a:t>
            </a:r>
            <a:r>
              <a:rPr lang="en-US" sz="2000" spc="-16" err="1">
                <a:solidFill>
                  <a:srgbClr val="000000"/>
                </a:solidFill>
                <a:latin typeface="Arial"/>
                <a:cs typeface="Arial"/>
              </a:rPr>
              <a:t>produzidos</a:t>
            </a:r>
            <a:r>
              <a:rPr lang="en-US" sz="2000" spc="-16">
                <a:solidFill>
                  <a:srgbClr val="000000"/>
                </a:solidFill>
                <a:latin typeface="Arial"/>
                <a:cs typeface="Arial"/>
              </a:rPr>
              <a:t> </a:t>
            </a:r>
            <a:r>
              <a:rPr lang="en-US" sz="2000" spc="-16" err="1">
                <a:solidFill>
                  <a:srgbClr val="000000"/>
                </a:solidFill>
                <a:latin typeface="Arial"/>
                <a:cs typeface="Arial"/>
              </a:rPr>
              <a:t>deverão</a:t>
            </a:r>
            <a:r>
              <a:rPr lang="en-US" sz="2000" spc="-16">
                <a:solidFill>
                  <a:srgbClr val="000000"/>
                </a:solidFill>
                <a:latin typeface="Arial"/>
                <a:cs typeface="Arial"/>
              </a:rPr>
              <a:t> </a:t>
            </a:r>
            <a:r>
              <a:rPr lang="en-US" sz="2000" spc="-16" err="1">
                <a:solidFill>
                  <a:srgbClr val="000000"/>
                </a:solidFill>
                <a:latin typeface="Arial"/>
                <a:cs typeface="Arial"/>
              </a:rPr>
              <a:t>estar</a:t>
            </a:r>
            <a:r>
              <a:rPr lang="en-US" sz="2000" spc="-16">
                <a:solidFill>
                  <a:srgbClr val="000000"/>
                </a:solidFill>
                <a:latin typeface="Arial"/>
                <a:cs typeface="Arial"/>
              </a:rPr>
              <a:t> no </a:t>
            </a:r>
            <a:r>
              <a:rPr lang="en-US" sz="2000" spc="-16" err="1">
                <a:solidFill>
                  <a:srgbClr val="000000"/>
                </a:solidFill>
                <a:latin typeface="Arial"/>
                <a:cs typeface="Arial"/>
              </a:rPr>
              <a:t>Github</a:t>
            </a:r>
            <a:r>
              <a:rPr lang="en-US" sz="2000" spc="-16">
                <a:solidFill>
                  <a:srgbClr val="000000"/>
                </a:solidFill>
                <a:latin typeface="Arial"/>
                <a:cs typeface="Arial"/>
              </a:rPr>
              <a:t> </a:t>
            </a:r>
            <a:r>
              <a:rPr lang="en-US" sz="2000" spc="-16" err="1">
                <a:solidFill>
                  <a:srgbClr val="000000"/>
                </a:solidFill>
                <a:latin typeface="Arial"/>
                <a:cs typeface="Arial"/>
              </a:rPr>
              <a:t>público</a:t>
            </a:r>
            <a:r>
              <a:rPr lang="en-US" sz="2000" spc="-16">
                <a:solidFill>
                  <a:srgbClr val="000000"/>
                </a:solidFill>
                <a:latin typeface="Arial"/>
                <a:cs typeface="Arial"/>
              </a:rPr>
              <a:t> e </a:t>
            </a:r>
            <a:r>
              <a:rPr lang="en-US" sz="2000" spc="-16" err="1">
                <a:solidFill>
                  <a:srgbClr val="000000"/>
                </a:solidFill>
                <a:latin typeface="Arial"/>
                <a:cs typeface="Arial"/>
              </a:rPr>
              <a:t>os</a:t>
            </a:r>
            <a:r>
              <a:rPr lang="en-US" sz="2000" spc="-16">
                <a:solidFill>
                  <a:srgbClr val="000000"/>
                </a:solidFill>
                <a:latin typeface="Arial"/>
                <a:cs typeface="Arial"/>
              </a:rPr>
              <a:t> </a:t>
            </a:r>
            <a:r>
              <a:rPr lang="en-US" sz="2000" spc="-16" err="1">
                <a:solidFill>
                  <a:srgbClr val="000000"/>
                </a:solidFill>
                <a:latin typeface="Arial"/>
                <a:cs typeface="Arial"/>
              </a:rPr>
              <a:t>professores</a:t>
            </a:r>
            <a:r>
              <a:rPr lang="en-US" sz="2000" spc="-16">
                <a:solidFill>
                  <a:srgbClr val="000000"/>
                </a:solidFill>
                <a:latin typeface="Arial"/>
                <a:cs typeface="Arial"/>
              </a:rPr>
              <a:t> </a:t>
            </a:r>
            <a:r>
              <a:rPr lang="en-US" sz="2000" spc="-16" err="1">
                <a:solidFill>
                  <a:srgbClr val="000000"/>
                </a:solidFill>
                <a:latin typeface="Arial"/>
                <a:cs typeface="Arial"/>
              </a:rPr>
              <a:t>deverão</a:t>
            </a:r>
            <a:r>
              <a:rPr lang="en-US" sz="2000" spc="-16">
                <a:solidFill>
                  <a:srgbClr val="000000"/>
                </a:solidFill>
                <a:latin typeface="Arial"/>
                <a:cs typeface="Arial"/>
              </a:rPr>
              <a:t> ter </a:t>
            </a:r>
            <a:r>
              <a:rPr lang="en-US" sz="2000" spc="-16" err="1">
                <a:solidFill>
                  <a:srgbClr val="000000"/>
                </a:solidFill>
                <a:latin typeface="Arial"/>
                <a:cs typeface="Arial"/>
              </a:rPr>
              <a:t>acesso</a:t>
            </a:r>
            <a:r>
              <a:rPr lang="en-US" sz="2000" spc="-16">
                <a:solidFill>
                  <a:srgbClr val="000000"/>
                </a:solidFill>
                <a:latin typeface="Arial"/>
                <a:cs typeface="Arial"/>
              </a:rPr>
              <a:t> </a:t>
            </a:r>
            <a:r>
              <a:rPr lang="en-US" sz="2000" spc="-16" err="1">
                <a:solidFill>
                  <a:srgbClr val="000000"/>
                </a:solidFill>
                <a:latin typeface="Arial"/>
                <a:cs typeface="Arial"/>
              </a:rPr>
              <a:t>ao</a:t>
            </a:r>
            <a:r>
              <a:rPr lang="en-US" sz="2000" spc="-16">
                <a:solidFill>
                  <a:srgbClr val="000000"/>
                </a:solidFill>
                <a:latin typeface="Arial"/>
                <a:cs typeface="Arial"/>
              </a:rPr>
              <a:t> </a:t>
            </a:r>
            <a:r>
              <a:rPr lang="en-US" sz="2000" spc="-16" err="1">
                <a:solidFill>
                  <a:srgbClr val="000000"/>
                </a:solidFill>
                <a:latin typeface="Arial"/>
                <a:cs typeface="Arial"/>
              </a:rPr>
              <a:t>repositório</a:t>
            </a:r>
            <a:r>
              <a:rPr lang="en-US" sz="2000" spc="-16">
                <a:solidFill>
                  <a:srgbClr val="000000"/>
                </a:solidFill>
                <a:latin typeface="Arial"/>
                <a:cs typeface="Arial"/>
              </a:rPr>
              <a:t>.</a:t>
            </a:r>
          </a:p>
          <a:p>
            <a:pPr>
              <a:spcBef>
                <a:spcPts val="216"/>
              </a:spcBef>
            </a:pPr>
            <a:endParaRPr lang="en-US" sz="2000" spc="-16">
              <a:solidFill>
                <a:srgbClr val="000000"/>
              </a:solidFill>
              <a:latin typeface="Arial"/>
              <a:cs typeface="Arial"/>
            </a:endParaRPr>
          </a:p>
          <a:p>
            <a:pPr marL="20320" marR="3547745" indent="304800">
              <a:lnSpc>
                <a:spcPct val="105200"/>
              </a:lnSpc>
              <a:spcBef>
                <a:spcPts val="8"/>
              </a:spcBef>
              <a:buFont typeface="Segoe UI Symbol,Sans-Serif"/>
              <a:buChar char="❑"/>
            </a:pPr>
            <a:endParaRPr lang="en-US" sz="2000" spc="-16">
              <a:solidFill>
                <a:srgbClr val="000000"/>
              </a:solidFill>
              <a:latin typeface="Arial"/>
              <a:cs typeface="Arial"/>
            </a:endParaRPr>
          </a:p>
          <a:p>
            <a:pPr marL="20320">
              <a:spcBef>
                <a:spcPts val="200"/>
              </a:spcBef>
            </a:pPr>
            <a:endParaRPr lang="en-US" sz="2000" b="1" spc="-16">
              <a:solidFill>
                <a:srgbClr val="000000"/>
              </a:solidFill>
              <a:latin typeface="Arial"/>
              <a:cs typeface="Arial"/>
            </a:endParaRPr>
          </a:p>
        </p:txBody>
      </p:sp>
    </p:spTree>
    <p:extLst>
      <p:ext uri="{BB962C8B-B14F-4D97-AF65-F5344CB8AC3E}">
        <p14:creationId xmlns:p14="http://schemas.microsoft.com/office/powerpoint/2010/main" val="1176223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2FFA7-FD7A-FF62-BC55-F32FE0805D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9C83B7-1271-936B-557F-7A0B73C86F18}"/>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9C3FD673-A9E4-836B-3D72-30225791D2A5}"/>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93F43AE7-4D42-B4A2-19AB-908D4F5320E1}"/>
              </a:ext>
            </a:extLst>
          </p:cNvPr>
          <p:cNvSpPr txBox="1"/>
          <p:nvPr/>
        </p:nvSpPr>
        <p:spPr>
          <a:xfrm>
            <a:off x="839708" y="1391759"/>
            <a:ext cx="11222659" cy="5560497"/>
          </a:xfrm>
          <a:prstGeom prst="rect">
            <a:avLst/>
          </a:prstGeom>
        </p:spPr>
        <p:txBody>
          <a:bodyPr vert="horz" wrap="square" lIns="0" tIns="25400" rIns="0" bIns="0" rtlCol="0" anchor="t">
            <a:spAutoFit/>
          </a:bodyPr>
          <a:lstStyle>
            <a:defPPr>
              <a:defRPr kern="0"/>
            </a:defPPr>
          </a:lstStyle>
          <a:p>
            <a:pPr marL="20320">
              <a:spcBef>
                <a:spcPts val="200"/>
              </a:spcBef>
            </a:pPr>
            <a:r>
              <a:rPr lang="en-US" sz="2000" b="1" spc="-16">
                <a:solidFill>
                  <a:srgbClr val="000000"/>
                </a:solidFill>
                <a:latin typeface="Arial"/>
                <a:cs typeface="Arial"/>
              </a:rPr>
              <a:t>- </a:t>
            </a:r>
            <a:r>
              <a:rPr lang="en-US" sz="2000" b="1" spc="-16" err="1">
                <a:solidFill>
                  <a:srgbClr val="000000"/>
                </a:solidFill>
                <a:latin typeface="Arial"/>
                <a:cs typeface="Arial"/>
              </a:rPr>
              <a:t>Solicitação</a:t>
            </a:r>
            <a:r>
              <a:rPr lang="en-US" sz="2000" b="1" spc="-16">
                <a:solidFill>
                  <a:srgbClr val="000000"/>
                </a:solidFill>
                <a:latin typeface="Arial"/>
                <a:cs typeface="Arial"/>
              </a:rPr>
              <a:t>:</a:t>
            </a:r>
            <a:endParaRPr lang="en-US" sz="2000" spc="-16">
              <a:solidFill>
                <a:srgbClr val="000000"/>
              </a:solidFill>
              <a:latin typeface="Arial"/>
              <a:cs typeface="Arial"/>
            </a:endParaRPr>
          </a:p>
          <a:p>
            <a:pPr marL="20320">
              <a:spcBef>
                <a:spcPts val="200"/>
              </a:spcBef>
            </a:pPr>
            <a:endParaRPr lang="en-US" sz="2000" b="1" spc="-16">
              <a:solidFill>
                <a:srgbClr val="000000"/>
              </a:solidFill>
              <a:latin typeface="Arial"/>
              <a:cs typeface="Arial"/>
            </a:endParaRPr>
          </a:p>
          <a:p>
            <a:pPr>
              <a:spcBef>
                <a:spcPts val="231"/>
              </a:spcBef>
            </a:pPr>
            <a:r>
              <a:rPr lang="en-US" sz="2000" spc="-16">
                <a:solidFill>
                  <a:srgbClr val="000000"/>
                </a:solidFill>
                <a:latin typeface="Arial"/>
                <a:ea typeface="+mn-lt"/>
                <a:cs typeface="Arial"/>
              </a:rPr>
              <a:t>O </a:t>
            </a:r>
            <a:r>
              <a:rPr lang="en-US" sz="2000" spc="-16" err="1">
                <a:solidFill>
                  <a:srgbClr val="000000"/>
                </a:solidFill>
                <a:latin typeface="Arial"/>
                <a:ea typeface="+mn-lt"/>
                <a:cs typeface="Arial"/>
              </a:rPr>
              <a:t>projeto</a:t>
            </a:r>
            <a:r>
              <a:rPr lang="en-US" sz="2000" spc="-16">
                <a:solidFill>
                  <a:srgbClr val="000000"/>
                </a:solidFill>
                <a:latin typeface="Arial"/>
                <a:ea typeface="+mn-lt"/>
                <a:cs typeface="Arial"/>
              </a:rPr>
              <a:t> a ser </a:t>
            </a:r>
            <a:r>
              <a:rPr lang="en-US" sz="2000" spc="-16" err="1">
                <a:solidFill>
                  <a:srgbClr val="000000"/>
                </a:solidFill>
                <a:latin typeface="Arial"/>
                <a:ea typeface="+mn-lt"/>
                <a:cs typeface="Arial"/>
              </a:rPr>
              <a:t>entregue</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também</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deve</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atender</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aos</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seguintes</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requisitos</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técnicos</a:t>
            </a:r>
            <a:r>
              <a:rPr lang="en-US" sz="2000" spc="-16">
                <a:solidFill>
                  <a:srgbClr val="000000"/>
                </a:solidFill>
                <a:latin typeface="Arial"/>
                <a:ea typeface="+mn-lt"/>
                <a:cs typeface="Arial"/>
              </a:rPr>
              <a:t>:</a:t>
            </a:r>
            <a:endParaRPr lang="en-US">
              <a:latin typeface="Arial"/>
              <a:cs typeface="Arial"/>
            </a:endParaRPr>
          </a:p>
          <a:p>
            <a:pPr>
              <a:spcBef>
                <a:spcPts val="231"/>
              </a:spcBef>
            </a:pPr>
            <a:endParaRPr lang="en-US" sz="2000" spc="-16">
              <a:solidFill>
                <a:srgbClr val="000000"/>
              </a:solidFill>
              <a:latin typeface="Arial"/>
              <a:cs typeface="Arial"/>
            </a:endParaRPr>
          </a:p>
          <a:p>
            <a:pPr marL="325120" indent="-304800">
              <a:buFont typeface="Segoe UI Symbol,Sans-Serif"/>
              <a:buChar char="❑"/>
            </a:pPr>
            <a:r>
              <a:rPr lang="en-US" sz="2000" spc="-16" err="1">
                <a:solidFill>
                  <a:srgbClr val="000000"/>
                </a:solidFill>
                <a:latin typeface="Arial"/>
                <a:ea typeface="+mn-lt"/>
                <a:cs typeface="Arial"/>
              </a:rPr>
              <a:t>Validação</a:t>
            </a:r>
            <a:r>
              <a:rPr lang="en-US" sz="2000" spc="-16">
                <a:solidFill>
                  <a:srgbClr val="000000"/>
                </a:solidFill>
                <a:latin typeface="Arial"/>
                <a:ea typeface="+mn-lt"/>
                <a:cs typeface="Arial"/>
              </a:rPr>
              <a:t> de campos com Bean Validation</a:t>
            </a:r>
            <a:endParaRPr lang="en-US" sz="2000" spc="-16">
              <a:solidFill>
                <a:srgbClr val="000000"/>
              </a:solidFill>
              <a:latin typeface="Arial"/>
              <a:cs typeface="Arial"/>
            </a:endParaRPr>
          </a:p>
          <a:p>
            <a:pPr marL="325120" indent="-304800">
              <a:buFont typeface="Segoe UI Symbol,Sans-Serif"/>
              <a:buChar char="❑"/>
            </a:pPr>
            <a:r>
              <a:rPr lang="en-US" sz="2000" spc="-16" err="1">
                <a:solidFill>
                  <a:srgbClr val="000000"/>
                </a:solidFill>
                <a:latin typeface="Arial"/>
                <a:ea typeface="+mn-lt"/>
                <a:cs typeface="Arial"/>
              </a:rPr>
              <a:t>Paginação</a:t>
            </a:r>
            <a:r>
              <a:rPr lang="en-US" sz="2000" spc="-16">
                <a:solidFill>
                  <a:srgbClr val="000000"/>
                </a:solidFill>
                <a:latin typeface="Arial"/>
                <a:ea typeface="+mn-lt"/>
                <a:cs typeface="Arial"/>
              </a:rPr>
              <a:t> de </a:t>
            </a:r>
            <a:r>
              <a:rPr lang="en-US" sz="2000" spc="-16" err="1">
                <a:solidFill>
                  <a:srgbClr val="000000"/>
                </a:solidFill>
                <a:latin typeface="Arial"/>
                <a:ea typeface="+mn-lt"/>
                <a:cs typeface="Arial"/>
              </a:rPr>
              <a:t>resultados</a:t>
            </a:r>
            <a:endParaRPr lang="en-US" sz="2000" spc="-16">
              <a:solidFill>
                <a:srgbClr val="000000"/>
              </a:solidFill>
              <a:latin typeface="Arial"/>
              <a:ea typeface="+mn-lt"/>
              <a:cs typeface="Arial"/>
            </a:endParaRPr>
          </a:p>
          <a:p>
            <a:pPr marL="325120" indent="-304800">
              <a:buFont typeface="Segoe UI Symbol,Sans-Serif"/>
              <a:buChar char="❑"/>
            </a:pPr>
            <a:r>
              <a:rPr lang="en-US" sz="2000" spc="-16" err="1">
                <a:solidFill>
                  <a:srgbClr val="000000"/>
                </a:solidFill>
                <a:latin typeface="Arial"/>
                <a:ea typeface="+mn-lt"/>
                <a:cs typeface="Arial"/>
              </a:rPr>
              <a:t>Ordenação</a:t>
            </a:r>
            <a:r>
              <a:rPr lang="en-US" sz="2000" spc="-16">
                <a:solidFill>
                  <a:srgbClr val="000000"/>
                </a:solidFill>
                <a:latin typeface="Arial"/>
                <a:ea typeface="+mn-lt"/>
                <a:cs typeface="Arial"/>
              </a:rPr>
              <a:t> de </a:t>
            </a:r>
            <a:r>
              <a:rPr lang="en-US" sz="2000" spc="-16" err="1">
                <a:solidFill>
                  <a:srgbClr val="000000"/>
                </a:solidFill>
                <a:latin typeface="Arial"/>
                <a:ea typeface="+mn-lt"/>
                <a:cs typeface="Arial"/>
              </a:rPr>
              <a:t>resultados</a:t>
            </a:r>
            <a:endParaRPr lang="en-US" sz="2000" spc="-16">
              <a:solidFill>
                <a:srgbClr val="000000"/>
              </a:solidFill>
              <a:latin typeface="Arial"/>
              <a:cs typeface="Arial"/>
            </a:endParaRPr>
          </a:p>
          <a:p>
            <a:pPr marL="285750" indent="-285750">
              <a:spcBef>
                <a:spcPts val="224"/>
              </a:spcBef>
              <a:buFont typeface="Segoe UI Symbol,Sans-Serif"/>
              <a:buChar char="❑"/>
            </a:pPr>
            <a:r>
              <a:rPr lang="en-US" sz="2000" spc="-16">
                <a:solidFill>
                  <a:srgbClr val="000000"/>
                </a:solidFill>
                <a:latin typeface="Arial"/>
                <a:cs typeface="Arial"/>
              </a:rPr>
              <a:t> </a:t>
            </a:r>
            <a:r>
              <a:rPr lang="en-US" sz="2000" spc="-16" err="1">
                <a:solidFill>
                  <a:srgbClr val="000000"/>
                </a:solidFill>
                <a:latin typeface="Arial"/>
                <a:ea typeface="+mn-lt"/>
                <a:cs typeface="Arial"/>
              </a:rPr>
              <a:t>Busca</a:t>
            </a:r>
            <a:r>
              <a:rPr lang="en-US" sz="2000" spc="-16">
                <a:solidFill>
                  <a:srgbClr val="000000"/>
                </a:solidFill>
                <a:latin typeface="Arial"/>
                <a:ea typeface="+mn-lt"/>
                <a:cs typeface="Arial"/>
              </a:rPr>
              <a:t> com </a:t>
            </a:r>
            <a:r>
              <a:rPr lang="en-US" sz="2000" spc="-16" err="1">
                <a:solidFill>
                  <a:srgbClr val="000000"/>
                </a:solidFill>
                <a:latin typeface="Arial"/>
                <a:ea typeface="+mn-lt"/>
                <a:cs typeface="Arial"/>
              </a:rPr>
              <a:t>parâmetros</a:t>
            </a:r>
            <a:endParaRPr lang="en-US" sz="2000" spc="-16">
              <a:solidFill>
                <a:srgbClr val="000000"/>
              </a:solidFill>
              <a:latin typeface="Arial"/>
              <a:cs typeface="Arial"/>
            </a:endParaRPr>
          </a:p>
          <a:p>
            <a:pPr marL="285750" indent="-285750">
              <a:spcBef>
                <a:spcPts val="224"/>
              </a:spcBef>
              <a:buFont typeface="Segoe UI Symbol,Sans-Serif"/>
              <a:buChar char="❑"/>
            </a:pPr>
            <a:r>
              <a:rPr lang="en-US" sz="2000" spc="-16">
                <a:solidFill>
                  <a:srgbClr val="000000"/>
                </a:solidFill>
                <a:latin typeface="Arial"/>
                <a:ea typeface="+mn-lt"/>
                <a:cs typeface="Arial"/>
              </a:rPr>
              <a:t> Uso de cache para </a:t>
            </a:r>
            <a:r>
              <a:rPr lang="en-US" sz="2000" spc="-16" err="1">
                <a:solidFill>
                  <a:srgbClr val="000000"/>
                </a:solidFill>
                <a:latin typeface="Arial"/>
                <a:ea typeface="+mn-lt"/>
                <a:cs typeface="Arial"/>
              </a:rPr>
              <a:t>otimizar</a:t>
            </a: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requisições</a:t>
            </a:r>
            <a:endParaRPr lang="en-US" sz="2000" spc="-16">
              <a:solidFill>
                <a:srgbClr val="000000"/>
              </a:solidFill>
              <a:latin typeface="Arial"/>
              <a:cs typeface="Arial"/>
            </a:endParaRPr>
          </a:p>
          <a:p>
            <a:pPr marL="285750" indent="-285750">
              <a:spcBef>
                <a:spcPts val="224"/>
              </a:spcBef>
              <a:buFont typeface="Segoe UI Symbol,Sans-Serif"/>
              <a:buChar char="❑"/>
            </a:pP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Tratamento</a:t>
            </a:r>
            <a:r>
              <a:rPr lang="en-US" sz="2000" spc="-16">
                <a:solidFill>
                  <a:srgbClr val="000000"/>
                </a:solidFill>
                <a:latin typeface="Arial"/>
                <a:ea typeface="+mn-lt"/>
                <a:cs typeface="Arial"/>
              </a:rPr>
              <a:t> de </a:t>
            </a:r>
            <a:r>
              <a:rPr lang="en-US" sz="2000" spc="-16" err="1">
                <a:solidFill>
                  <a:srgbClr val="000000"/>
                </a:solidFill>
                <a:latin typeface="Arial"/>
                <a:ea typeface="+mn-lt"/>
                <a:cs typeface="Arial"/>
              </a:rPr>
              <a:t>erros</a:t>
            </a:r>
            <a:r>
              <a:rPr lang="en-US" sz="2000" spc="-16">
                <a:solidFill>
                  <a:srgbClr val="000000"/>
                </a:solidFill>
                <a:latin typeface="Arial"/>
                <a:ea typeface="+mn-lt"/>
                <a:cs typeface="Arial"/>
              </a:rPr>
              <a:t>/</a:t>
            </a:r>
            <a:r>
              <a:rPr lang="en-US" sz="2000" spc="-16" err="1">
                <a:solidFill>
                  <a:srgbClr val="000000"/>
                </a:solidFill>
                <a:latin typeface="Arial"/>
                <a:ea typeface="+mn-lt"/>
                <a:cs typeface="Arial"/>
              </a:rPr>
              <a:t>exceções</a:t>
            </a:r>
            <a:endParaRPr lang="en-US" sz="2000" spc="-16">
              <a:solidFill>
                <a:srgbClr val="000000"/>
              </a:solidFill>
              <a:latin typeface="Arial"/>
              <a:cs typeface="Arial"/>
            </a:endParaRPr>
          </a:p>
          <a:p>
            <a:pPr marL="285750" indent="-285750">
              <a:spcBef>
                <a:spcPts val="224"/>
              </a:spcBef>
              <a:buFont typeface="Segoe UI Symbol,Sans-Serif"/>
              <a:buChar char="❑"/>
            </a:pPr>
            <a:r>
              <a:rPr lang="en-US" sz="2000" spc="-16">
                <a:solidFill>
                  <a:srgbClr val="000000"/>
                </a:solidFill>
                <a:latin typeface="Arial"/>
                <a:ea typeface="+mn-lt"/>
                <a:cs typeface="Arial"/>
              </a:rPr>
              <a:t> </a:t>
            </a:r>
            <a:r>
              <a:rPr lang="en-US" sz="2000" spc="-16" err="1">
                <a:solidFill>
                  <a:srgbClr val="000000"/>
                </a:solidFill>
                <a:latin typeface="Arial"/>
                <a:ea typeface="+mn-lt"/>
                <a:cs typeface="Arial"/>
              </a:rPr>
              <a:t>Utilização</a:t>
            </a:r>
            <a:r>
              <a:rPr lang="en-US" sz="2000" spc="-16">
                <a:solidFill>
                  <a:srgbClr val="000000"/>
                </a:solidFill>
                <a:latin typeface="Arial"/>
                <a:ea typeface="+mn-lt"/>
                <a:cs typeface="Arial"/>
              </a:rPr>
              <a:t> de DTOs</a:t>
            </a:r>
            <a:endParaRPr lang="en-US" sz="2000" spc="-16">
              <a:solidFill>
                <a:srgbClr val="000000"/>
              </a:solidFill>
              <a:latin typeface="Arial"/>
              <a:cs typeface="Arial"/>
            </a:endParaRPr>
          </a:p>
          <a:p>
            <a:pPr marL="285750" indent="-285750">
              <a:spcBef>
                <a:spcPts val="224"/>
              </a:spcBef>
              <a:buFont typeface="Segoe UI Symbol,Sans-Serif"/>
              <a:buChar char="❑"/>
            </a:pPr>
            <a:r>
              <a:rPr lang="en-US" sz="2000" spc="-16">
                <a:solidFill>
                  <a:srgbClr val="000000"/>
                </a:solidFill>
                <a:latin typeface="Arial"/>
                <a:cs typeface="Arial"/>
              </a:rPr>
              <a:t> </a:t>
            </a:r>
            <a:r>
              <a:rPr lang="en-US" sz="2000" spc="-16" err="1">
                <a:solidFill>
                  <a:srgbClr val="000000"/>
                </a:solidFill>
                <a:latin typeface="Arial"/>
                <a:ea typeface="+mn-lt"/>
                <a:cs typeface="Arial"/>
              </a:rPr>
              <a:t>Documentação</a:t>
            </a:r>
            <a:r>
              <a:rPr lang="en-US" sz="2000" spc="-16">
                <a:solidFill>
                  <a:srgbClr val="000000"/>
                </a:solidFill>
                <a:latin typeface="Arial"/>
                <a:ea typeface="+mn-lt"/>
                <a:cs typeface="Arial"/>
              </a:rPr>
              <a:t> com Swagger</a:t>
            </a:r>
          </a:p>
          <a:p>
            <a:pPr>
              <a:spcBef>
                <a:spcPts val="216"/>
              </a:spcBef>
            </a:pPr>
            <a:endParaRPr lang="en-US" sz="2000" spc="-16">
              <a:solidFill>
                <a:srgbClr val="000000"/>
              </a:solidFill>
              <a:latin typeface="Arial"/>
              <a:cs typeface="Arial"/>
            </a:endParaRPr>
          </a:p>
          <a:p>
            <a:pPr marL="20320" marR="3547745">
              <a:lnSpc>
                <a:spcPct val="105200"/>
              </a:lnSpc>
              <a:spcBef>
                <a:spcPts val="8"/>
              </a:spcBef>
            </a:pPr>
            <a:r>
              <a:rPr lang="en-US" sz="2000" spc="-16" err="1">
                <a:solidFill>
                  <a:srgbClr val="000000"/>
                </a:solidFill>
                <a:ea typeface="+mn-lt"/>
                <a:cs typeface="+mn-lt"/>
              </a:rPr>
              <a:t>Apresentar</a:t>
            </a:r>
            <a:r>
              <a:rPr lang="en-US" sz="2000" spc="-16">
                <a:solidFill>
                  <a:srgbClr val="000000"/>
                </a:solidFill>
                <a:ea typeface="+mn-lt"/>
                <a:cs typeface="+mn-lt"/>
              </a:rPr>
              <a:t> </a:t>
            </a:r>
            <a:r>
              <a:rPr lang="en-US" sz="2000" spc="-16" err="1">
                <a:solidFill>
                  <a:srgbClr val="000000"/>
                </a:solidFill>
                <a:ea typeface="+mn-lt"/>
                <a:cs typeface="+mn-lt"/>
              </a:rPr>
              <a:t>os</a:t>
            </a:r>
            <a:r>
              <a:rPr lang="en-US" sz="2000" spc="-16">
                <a:solidFill>
                  <a:srgbClr val="000000"/>
                </a:solidFill>
                <a:ea typeface="+mn-lt"/>
                <a:cs typeface="+mn-lt"/>
              </a:rPr>
              <a:t> testes dos endpoints da API (</a:t>
            </a:r>
            <a:r>
              <a:rPr lang="en-US" sz="2000" spc="-16" err="1">
                <a:solidFill>
                  <a:srgbClr val="000000"/>
                </a:solidFill>
                <a:ea typeface="+mn-lt"/>
                <a:cs typeface="+mn-lt"/>
              </a:rPr>
              <a:t>utilizando</a:t>
            </a:r>
            <a:r>
              <a:rPr lang="en-US" sz="2000" spc="-16">
                <a:solidFill>
                  <a:srgbClr val="000000"/>
                </a:solidFill>
                <a:ea typeface="+mn-lt"/>
                <a:cs typeface="+mn-lt"/>
              </a:rPr>
              <a:t> o Postman </a:t>
            </a:r>
            <a:r>
              <a:rPr lang="en-US" sz="2000" spc="-16" err="1">
                <a:solidFill>
                  <a:srgbClr val="000000"/>
                </a:solidFill>
                <a:ea typeface="+mn-lt"/>
                <a:cs typeface="+mn-lt"/>
              </a:rPr>
              <a:t>ou</a:t>
            </a:r>
            <a:r>
              <a:rPr lang="en-US" sz="2000" spc="-16">
                <a:solidFill>
                  <a:srgbClr val="000000"/>
                </a:solidFill>
                <a:ea typeface="+mn-lt"/>
                <a:cs typeface="+mn-lt"/>
              </a:rPr>
              <a:t> Insomnia) e </a:t>
            </a:r>
            <a:r>
              <a:rPr lang="en-US" sz="2000" spc="-16" err="1">
                <a:solidFill>
                  <a:srgbClr val="000000"/>
                </a:solidFill>
                <a:ea typeface="+mn-lt"/>
                <a:cs typeface="+mn-lt"/>
              </a:rPr>
              <a:t>exportar</a:t>
            </a:r>
            <a:r>
              <a:rPr lang="en-US" sz="2000" spc="-16">
                <a:solidFill>
                  <a:srgbClr val="000000"/>
                </a:solidFill>
                <a:ea typeface="+mn-lt"/>
                <a:cs typeface="+mn-lt"/>
              </a:rPr>
              <a:t> as </a:t>
            </a:r>
            <a:r>
              <a:rPr lang="en-US" sz="2000" spc="-16" err="1">
                <a:solidFill>
                  <a:srgbClr val="000000"/>
                </a:solidFill>
                <a:ea typeface="+mn-lt"/>
                <a:cs typeface="+mn-lt"/>
              </a:rPr>
              <a:t>requisições</a:t>
            </a:r>
            <a:r>
              <a:rPr lang="en-US" sz="2000" spc="-16">
                <a:solidFill>
                  <a:srgbClr val="000000"/>
                </a:solidFill>
                <a:ea typeface="+mn-lt"/>
                <a:cs typeface="+mn-lt"/>
              </a:rPr>
              <a:t> para </a:t>
            </a:r>
            <a:r>
              <a:rPr lang="en-US" sz="2000" spc="-16" err="1">
                <a:solidFill>
                  <a:srgbClr val="000000"/>
                </a:solidFill>
                <a:ea typeface="+mn-lt"/>
                <a:cs typeface="+mn-lt"/>
              </a:rPr>
              <a:t>que</a:t>
            </a:r>
            <a:r>
              <a:rPr lang="en-US" sz="2000" spc="-16">
                <a:solidFill>
                  <a:srgbClr val="000000"/>
                </a:solidFill>
                <a:ea typeface="+mn-lt"/>
                <a:cs typeface="+mn-lt"/>
              </a:rPr>
              <a:t> o professor </a:t>
            </a:r>
            <a:r>
              <a:rPr lang="en-US" sz="2000" spc="-16" err="1">
                <a:solidFill>
                  <a:srgbClr val="000000"/>
                </a:solidFill>
                <a:ea typeface="+mn-lt"/>
                <a:cs typeface="+mn-lt"/>
              </a:rPr>
              <a:t>possa</a:t>
            </a:r>
            <a:r>
              <a:rPr lang="en-US" sz="2000" spc="-16">
                <a:solidFill>
                  <a:srgbClr val="000000"/>
                </a:solidFill>
                <a:ea typeface="+mn-lt"/>
                <a:cs typeface="+mn-lt"/>
              </a:rPr>
              <a:t> </a:t>
            </a:r>
            <a:r>
              <a:rPr lang="en-US" sz="2000" spc="-16" err="1">
                <a:solidFill>
                  <a:srgbClr val="000000"/>
                </a:solidFill>
                <a:ea typeface="+mn-lt"/>
                <a:cs typeface="+mn-lt"/>
              </a:rPr>
              <a:t>validar</a:t>
            </a:r>
            <a:r>
              <a:rPr lang="en-US" sz="2000" spc="-16">
                <a:solidFill>
                  <a:srgbClr val="000000"/>
                </a:solidFill>
                <a:ea typeface="+mn-lt"/>
                <a:cs typeface="+mn-lt"/>
              </a:rPr>
              <a:t> o </a:t>
            </a:r>
            <a:r>
              <a:rPr lang="en-US" sz="2000" spc="-16" err="1">
                <a:solidFill>
                  <a:srgbClr val="000000"/>
                </a:solidFill>
                <a:ea typeface="+mn-lt"/>
                <a:cs typeface="+mn-lt"/>
              </a:rPr>
              <a:t>funcionamento</a:t>
            </a:r>
            <a:r>
              <a:rPr lang="en-US" sz="2000" spc="-16">
                <a:solidFill>
                  <a:srgbClr val="000000"/>
                </a:solidFill>
                <a:ea typeface="+mn-lt"/>
                <a:cs typeface="+mn-lt"/>
              </a:rPr>
              <a:t>.</a:t>
            </a:r>
            <a:endParaRPr lang="en-US"/>
          </a:p>
          <a:p>
            <a:pPr marL="20320">
              <a:spcBef>
                <a:spcPts val="200"/>
              </a:spcBef>
            </a:pPr>
            <a:endParaRPr lang="en-US" sz="2000" b="1" spc="-16">
              <a:solidFill>
                <a:srgbClr val="000000"/>
              </a:solidFill>
              <a:latin typeface="Arial"/>
              <a:cs typeface="Arial"/>
            </a:endParaRPr>
          </a:p>
        </p:txBody>
      </p:sp>
    </p:spTree>
    <p:extLst>
      <p:ext uri="{BB962C8B-B14F-4D97-AF65-F5344CB8AC3E}">
        <p14:creationId xmlns:p14="http://schemas.microsoft.com/office/powerpoint/2010/main" val="390816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8D154-CC4F-D8C6-4F98-C01A30A1C6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69F6FB-3CF2-8E12-86FD-17A33F6F7366}"/>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343F1927-AD62-604F-ED86-3C7BA37ED93E}"/>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322D4C64-F2ED-5F7C-BF56-E68C81174811}"/>
              </a:ext>
            </a:extLst>
          </p:cNvPr>
          <p:cNvSpPr txBox="1"/>
          <p:nvPr/>
        </p:nvSpPr>
        <p:spPr>
          <a:xfrm>
            <a:off x="839708" y="1454667"/>
            <a:ext cx="10644591" cy="4556888"/>
          </a:xfrm>
          <a:prstGeom prst="rect">
            <a:avLst/>
          </a:prstGeom>
        </p:spPr>
        <p:txBody>
          <a:bodyPr vert="horz" wrap="square" lIns="0" tIns="25400" rIns="0" bIns="0" rtlCol="0" anchor="t">
            <a:spAutoFit/>
          </a:bodyPr>
          <a:lstStyle>
            <a:defPPr>
              <a:defRPr kern="0"/>
            </a:defPPr>
          </a:lstStyle>
          <a:p>
            <a:pPr marL="20320">
              <a:spcBef>
                <a:spcPts val="160"/>
              </a:spcBef>
            </a:pPr>
            <a:r>
              <a:rPr lang="en-US" sz="1900" b="1" spc="-16">
                <a:latin typeface="Arial"/>
                <a:cs typeface="Arial"/>
              </a:rPr>
              <a:t>- </a:t>
            </a:r>
            <a:r>
              <a:rPr lang="en-US" sz="1900" b="1" spc="-16" err="1">
                <a:latin typeface="Arial"/>
                <a:cs typeface="Arial"/>
              </a:rPr>
              <a:t>Distribuição</a:t>
            </a:r>
            <a:r>
              <a:rPr lang="en-US" sz="1900" b="1" spc="-16">
                <a:latin typeface="Arial"/>
                <a:cs typeface="Arial"/>
              </a:rPr>
              <a:t> da </a:t>
            </a:r>
            <a:r>
              <a:rPr lang="en-US" sz="1900" b="1" spc="-16" err="1">
                <a:latin typeface="Arial"/>
                <a:cs typeface="Arial"/>
              </a:rPr>
              <a:t>pontuação</a:t>
            </a:r>
            <a:r>
              <a:rPr lang="en-US" sz="1900" b="1" spc="-16">
                <a:latin typeface="Arial"/>
                <a:cs typeface="Arial"/>
              </a:rPr>
              <a:t>:</a:t>
            </a:r>
            <a:endParaRPr lang="en-US" sz="1900" spc="-16">
              <a:latin typeface="Arial"/>
              <a:cs typeface="Arial"/>
            </a:endParaRPr>
          </a:p>
          <a:p>
            <a:pPr>
              <a:spcBef>
                <a:spcPts val="144"/>
              </a:spcBef>
            </a:pPr>
            <a:endParaRPr lang="en-US" sz="1900" b="1" spc="-16">
              <a:latin typeface="Arial"/>
              <a:cs typeface="Arial"/>
            </a:endParaRPr>
          </a:p>
          <a:p>
            <a:pPr>
              <a:spcBef>
                <a:spcPts val="144"/>
              </a:spcBef>
            </a:pPr>
            <a:r>
              <a:rPr lang="en-US" sz="1900" b="1" spc="-16" err="1">
                <a:latin typeface="Arial"/>
                <a:cs typeface="Arial"/>
              </a:rPr>
              <a:t>até</a:t>
            </a:r>
            <a:r>
              <a:rPr lang="en-US" sz="1900" b="1" spc="-16">
                <a:latin typeface="Arial"/>
                <a:cs typeface="Arial"/>
              </a:rPr>
              <a:t> 5 Pontos: </a:t>
            </a:r>
            <a:r>
              <a:rPr lang="en-US" sz="1900" spc="-16" err="1">
                <a:latin typeface="Arial"/>
                <a:cs typeface="Arial"/>
              </a:rPr>
              <a:t>Apresentar</a:t>
            </a:r>
            <a:r>
              <a:rPr lang="en-US" sz="1900" spc="-16">
                <a:latin typeface="Arial"/>
                <a:cs typeface="Arial"/>
              </a:rPr>
              <a:t> o </a:t>
            </a:r>
            <a:r>
              <a:rPr lang="en-US" sz="1900" spc="-16" err="1">
                <a:latin typeface="Arial"/>
                <a:cs typeface="Arial"/>
              </a:rPr>
              <a:t>cronograma</a:t>
            </a:r>
            <a:r>
              <a:rPr lang="en-US" sz="1900" spc="-16">
                <a:latin typeface="Arial"/>
                <a:cs typeface="Arial"/>
              </a:rPr>
              <a:t> de </a:t>
            </a:r>
            <a:r>
              <a:rPr lang="en-US" sz="1900" spc="-16" err="1">
                <a:latin typeface="Arial"/>
                <a:cs typeface="Arial"/>
              </a:rPr>
              <a:t>desenvolvimento</a:t>
            </a:r>
            <a:r>
              <a:rPr lang="en-US" sz="1900" spc="-16">
                <a:latin typeface="Arial"/>
                <a:cs typeface="Arial"/>
              </a:rPr>
              <a:t> e </a:t>
            </a:r>
            <a:r>
              <a:rPr lang="en-US" sz="1900" spc="-16" err="1">
                <a:latin typeface="Arial"/>
                <a:cs typeface="Arial"/>
              </a:rPr>
              <a:t>respeitar</a:t>
            </a:r>
            <a:r>
              <a:rPr lang="en-US" sz="1900" spc="-16">
                <a:latin typeface="Arial"/>
                <a:cs typeface="Arial"/>
              </a:rPr>
              <a:t> </a:t>
            </a:r>
            <a:r>
              <a:rPr lang="en-US" sz="1900" spc="-16" err="1">
                <a:latin typeface="Arial"/>
                <a:cs typeface="Arial"/>
              </a:rPr>
              <a:t>os</a:t>
            </a:r>
            <a:r>
              <a:rPr lang="en-US" sz="1900" spc="-16">
                <a:latin typeface="Arial"/>
                <a:cs typeface="Arial"/>
              </a:rPr>
              <a:t> </a:t>
            </a:r>
            <a:r>
              <a:rPr lang="en-US" sz="1900" spc="-16" err="1">
                <a:latin typeface="Arial"/>
                <a:cs typeface="Arial"/>
              </a:rPr>
              <a:t>prazos</a:t>
            </a:r>
            <a:r>
              <a:rPr lang="en-US" sz="1900" spc="-16">
                <a:latin typeface="Arial"/>
                <a:cs typeface="Arial"/>
              </a:rPr>
              <a:t>. </a:t>
            </a:r>
            <a:r>
              <a:rPr lang="en-US" sz="1900" spc="-16" err="1">
                <a:latin typeface="Arial"/>
                <a:cs typeface="Arial"/>
              </a:rPr>
              <a:t>Crie</a:t>
            </a:r>
            <a:r>
              <a:rPr lang="en-US" sz="1900" spc="-16">
                <a:latin typeface="Arial"/>
                <a:cs typeface="Arial"/>
              </a:rPr>
              <a:t> um o </a:t>
            </a:r>
            <a:r>
              <a:rPr lang="en-US" sz="1900" spc="-16" err="1">
                <a:latin typeface="Arial"/>
                <a:cs typeface="Arial"/>
              </a:rPr>
              <a:t>documento</a:t>
            </a:r>
            <a:r>
              <a:rPr lang="en-US" sz="1900" spc="-16">
                <a:latin typeface="Arial"/>
                <a:cs typeface="Arial"/>
              </a:rPr>
              <a:t> </a:t>
            </a:r>
            <a:r>
              <a:rPr lang="en-US" sz="1900" spc="-16" err="1">
                <a:latin typeface="Arial"/>
                <a:cs typeface="Arial"/>
              </a:rPr>
              <a:t>dizendo</a:t>
            </a:r>
            <a:r>
              <a:rPr lang="en-US" sz="1900" spc="-16">
                <a:latin typeface="Arial"/>
                <a:cs typeface="Arial"/>
              </a:rPr>
              <a:t> quem </a:t>
            </a:r>
            <a:r>
              <a:rPr lang="en-US" sz="1900" spc="-16" err="1">
                <a:latin typeface="Arial"/>
                <a:cs typeface="Arial"/>
              </a:rPr>
              <a:t>fará</a:t>
            </a:r>
            <a:r>
              <a:rPr lang="en-US" sz="1900" spc="-16">
                <a:latin typeface="Arial"/>
                <a:cs typeface="Arial"/>
              </a:rPr>
              <a:t> o </a:t>
            </a:r>
            <a:r>
              <a:rPr lang="en-US" sz="1900" spc="-16" err="1">
                <a:latin typeface="Arial"/>
                <a:cs typeface="Arial"/>
              </a:rPr>
              <a:t>que</a:t>
            </a:r>
            <a:r>
              <a:rPr lang="en-US" sz="1900" spc="-16">
                <a:latin typeface="Arial"/>
                <a:cs typeface="Arial"/>
              </a:rPr>
              <a:t> e </a:t>
            </a:r>
            <a:r>
              <a:rPr lang="en-US" sz="1900" spc="-16" err="1">
                <a:latin typeface="Arial"/>
                <a:cs typeface="Arial"/>
              </a:rPr>
              <a:t>quando</a:t>
            </a:r>
            <a:r>
              <a:rPr lang="en-US" sz="1900" spc="-16">
                <a:latin typeface="Arial"/>
                <a:cs typeface="Arial"/>
              </a:rPr>
              <a:t> a </a:t>
            </a:r>
            <a:r>
              <a:rPr lang="en-US" sz="1900" spc="-16" err="1">
                <a:latin typeface="Arial"/>
                <a:cs typeface="Arial"/>
              </a:rPr>
              <a:t>atividade</a:t>
            </a:r>
            <a:r>
              <a:rPr lang="en-US" sz="1900" spc="-16">
                <a:latin typeface="Arial"/>
                <a:cs typeface="Arial"/>
              </a:rPr>
              <a:t> </a:t>
            </a:r>
            <a:r>
              <a:rPr lang="en-US" sz="1900" spc="-16" err="1">
                <a:latin typeface="Arial"/>
                <a:cs typeface="Arial"/>
              </a:rPr>
              <a:t>deverá</a:t>
            </a:r>
            <a:r>
              <a:rPr lang="en-US" sz="1900" spc="-16">
                <a:latin typeface="Arial"/>
                <a:cs typeface="Arial"/>
              </a:rPr>
              <a:t> ser </a:t>
            </a:r>
            <a:r>
              <a:rPr lang="en-US" sz="1900" spc="-16" err="1">
                <a:latin typeface="Arial"/>
                <a:cs typeface="Arial"/>
              </a:rPr>
              <a:t>ou</a:t>
            </a:r>
            <a:r>
              <a:rPr lang="en-US" sz="1900" spc="-16">
                <a:latin typeface="Arial"/>
                <a:cs typeface="Arial"/>
              </a:rPr>
              <a:t> </a:t>
            </a:r>
            <a:r>
              <a:rPr lang="en-US" sz="1900" spc="-16" err="1">
                <a:latin typeface="Arial"/>
                <a:cs typeface="Arial"/>
              </a:rPr>
              <a:t>foi</a:t>
            </a:r>
            <a:r>
              <a:rPr lang="en-US" sz="1900" spc="-16">
                <a:latin typeface="Arial"/>
                <a:cs typeface="Arial"/>
              </a:rPr>
              <a:t> </a:t>
            </a:r>
            <a:r>
              <a:rPr lang="en-US" sz="1900" spc="-16" err="1">
                <a:latin typeface="Arial"/>
                <a:cs typeface="Arial"/>
              </a:rPr>
              <a:t>realizada</a:t>
            </a:r>
            <a:r>
              <a:rPr lang="en-US" sz="1900" spc="-16">
                <a:latin typeface="Arial"/>
                <a:cs typeface="Arial"/>
              </a:rPr>
              <a:t>;</a:t>
            </a:r>
          </a:p>
          <a:p>
            <a:pPr marL="342900" indent="-342900">
              <a:spcBef>
                <a:spcPts val="192"/>
              </a:spcBef>
              <a:buAutoNum type="alphaLcParenR"/>
            </a:pPr>
            <a:endParaRPr lang="en-US" sz="1900" spc="-16">
              <a:latin typeface="Arial"/>
              <a:cs typeface="Arial"/>
            </a:endParaRPr>
          </a:p>
          <a:p>
            <a:pPr marL="20320" marR="12065" algn="just">
              <a:lnSpc>
                <a:spcPts val="2288"/>
              </a:lnSpc>
            </a:pPr>
            <a:r>
              <a:rPr lang="en-US" sz="1900" b="1" spc="-16" err="1">
                <a:latin typeface="Arial"/>
                <a:cs typeface="Arial"/>
              </a:rPr>
              <a:t>até</a:t>
            </a:r>
            <a:r>
              <a:rPr lang="en-US" sz="1900" b="1" spc="-16">
                <a:latin typeface="Arial"/>
                <a:cs typeface="Arial"/>
              </a:rPr>
              <a:t> 10 Pontos: </a:t>
            </a:r>
            <a:r>
              <a:rPr lang="en-US" sz="1900" spc="-16">
                <a:latin typeface="Arial"/>
                <a:cs typeface="Arial"/>
              </a:rPr>
              <a:t>Imagens </a:t>
            </a:r>
            <a:r>
              <a:rPr lang="en-US" sz="1900" spc="-16" err="1">
                <a:latin typeface="Arial"/>
                <a:cs typeface="Arial"/>
              </a:rPr>
              <a:t>explicativas</a:t>
            </a:r>
            <a:r>
              <a:rPr lang="en-US" sz="1900" spc="-16">
                <a:latin typeface="Arial"/>
                <a:cs typeface="Arial"/>
              </a:rPr>
              <a:t> da </a:t>
            </a:r>
            <a:r>
              <a:rPr lang="en-US" sz="1900" spc="-16" err="1">
                <a:latin typeface="Arial"/>
                <a:cs typeface="Arial"/>
              </a:rPr>
              <a:t>arquitetura</a:t>
            </a:r>
            <a:r>
              <a:rPr lang="en-US" sz="1900" spc="-16">
                <a:latin typeface="Arial"/>
                <a:cs typeface="Arial"/>
              </a:rPr>
              <a:t>, </a:t>
            </a:r>
            <a:r>
              <a:rPr lang="en-US" sz="1900" spc="-16" err="1">
                <a:latin typeface="Arial"/>
                <a:cs typeface="Arial"/>
              </a:rPr>
              <a:t>definição</a:t>
            </a:r>
            <a:r>
              <a:rPr lang="en-US" sz="1900" spc="-16">
                <a:latin typeface="Arial"/>
                <a:cs typeface="Arial"/>
              </a:rPr>
              <a:t> das classes de </a:t>
            </a:r>
            <a:r>
              <a:rPr lang="en-US" sz="1900" spc="-16" err="1">
                <a:latin typeface="Arial"/>
                <a:cs typeface="Arial"/>
              </a:rPr>
              <a:t>domínio</a:t>
            </a:r>
            <a:r>
              <a:rPr lang="en-US" sz="1900" spc="-16">
                <a:latin typeface="Arial"/>
                <a:cs typeface="Arial"/>
              </a:rPr>
              <a:t> da </a:t>
            </a:r>
            <a:r>
              <a:rPr lang="en-US" sz="1900" spc="-16" err="1">
                <a:latin typeface="Arial"/>
                <a:cs typeface="Arial"/>
              </a:rPr>
              <a:t>aplicação</a:t>
            </a:r>
            <a:r>
              <a:rPr lang="en-US" sz="1900" spc="-16">
                <a:latin typeface="Arial"/>
                <a:cs typeface="Arial"/>
              </a:rPr>
              <a:t> e o </a:t>
            </a:r>
            <a:r>
              <a:rPr lang="en-US" sz="1900" spc="-16" err="1">
                <a:latin typeface="Arial"/>
                <a:cs typeface="Arial"/>
              </a:rPr>
              <a:t>respectivo</a:t>
            </a:r>
            <a:r>
              <a:rPr lang="en-US" sz="1900" spc="-16">
                <a:latin typeface="Arial"/>
                <a:cs typeface="Arial"/>
              </a:rPr>
              <a:t> </a:t>
            </a:r>
            <a:r>
              <a:rPr lang="en-US" sz="1900" spc="-16" err="1">
                <a:latin typeface="Arial"/>
                <a:cs typeface="Arial"/>
              </a:rPr>
              <a:t>Diagrama</a:t>
            </a:r>
            <a:r>
              <a:rPr lang="en-US" sz="1900" spc="-16">
                <a:latin typeface="Arial"/>
                <a:cs typeface="Arial"/>
              </a:rPr>
              <a:t> de Classes de </a:t>
            </a:r>
            <a:r>
              <a:rPr lang="en-US" sz="1900" spc="-16" err="1">
                <a:latin typeface="Arial"/>
                <a:cs typeface="Arial"/>
              </a:rPr>
              <a:t>Entidade</a:t>
            </a:r>
            <a:r>
              <a:rPr lang="en-US" sz="1900" spc="-16">
                <a:latin typeface="Arial"/>
                <a:cs typeface="Arial"/>
              </a:rPr>
              <a:t>. O </a:t>
            </a:r>
            <a:r>
              <a:rPr lang="en-US" sz="1900" spc="-16" err="1">
                <a:latin typeface="Arial"/>
                <a:cs typeface="Arial"/>
              </a:rPr>
              <a:t>Diagrama</a:t>
            </a:r>
            <a:r>
              <a:rPr lang="en-US" sz="1900" spc="-16">
                <a:latin typeface="Arial"/>
                <a:cs typeface="Arial"/>
              </a:rPr>
              <a:t> de </a:t>
            </a:r>
            <a:r>
              <a:rPr lang="en-US" sz="1900" spc="-16" err="1">
                <a:latin typeface="Arial"/>
                <a:cs typeface="Arial"/>
              </a:rPr>
              <a:t>Entidade</a:t>
            </a:r>
            <a:r>
              <a:rPr lang="en-US" sz="1900" spc="-16">
                <a:latin typeface="Arial"/>
                <a:cs typeface="Arial"/>
              </a:rPr>
              <a:t> e </a:t>
            </a:r>
            <a:r>
              <a:rPr lang="en-US" sz="1900" spc="-16" err="1">
                <a:latin typeface="Arial"/>
                <a:cs typeface="Arial"/>
              </a:rPr>
              <a:t>Relacionamento</a:t>
            </a:r>
            <a:r>
              <a:rPr lang="en-US" sz="1900" spc="-16">
                <a:latin typeface="Arial"/>
                <a:cs typeface="Arial"/>
              </a:rPr>
              <a:t> (DER) e o </a:t>
            </a:r>
            <a:r>
              <a:rPr lang="en-US" sz="1900" spc="-16" err="1">
                <a:latin typeface="Arial"/>
                <a:cs typeface="Arial"/>
              </a:rPr>
              <a:t>Diagrama</a:t>
            </a:r>
            <a:r>
              <a:rPr lang="en-US" sz="1900" spc="-16">
                <a:latin typeface="Arial"/>
                <a:cs typeface="Arial"/>
              </a:rPr>
              <a:t> de Classe das </a:t>
            </a:r>
            <a:r>
              <a:rPr lang="en-US" sz="1900" spc="-16" err="1">
                <a:latin typeface="Arial"/>
                <a:cs typeface="Arial"/>
              </a:rPr>
              <a:t>Entidades</a:t>
            </a:r>
            <a:r>
              <a:rPr lang="en-US" sz="1900" spc="-16">
                <a:latin typeface="Arial"/>
                <a:cs typeface="Arial"/>
              </a:rPr>
              <a:t> </a:t>
            </a:r>
            <a:r>
              <a:rPr lang="en-US" sz="1900" spc="-16" err="1">
                <a:latin typeface="Arial"/>
                <a:cs typeface="Arial"/>
              </a:rPr>
              <a:t>deverão</a:t>
            </a:r>
            <a:r>
              <a:rPr lang="en-US" sz="1900" spc="-16">
                <a:latin typeface="Arial"/>
                <a:cs typeface="Arial"/>
              </a:rPr>
              <a:t> ser </a:t>
            </a:r>
            <a:r>
              <a:rPr lang="en-US" sz="1900" spc="-16" err="1">
                <a:latin typeface="Arial"/>
                <a:cs typeface="Arial"/>
              </a:rPr>
              <a:t>coerentes</a:t>
            </a:r>
            <a:r>
              <a:rPr lang="en-US" sz="1900" spc="-16">
                <a:latin typeface="Arial"/>
                <a:cs typeface="Arial"/>
              </a:rPr>
              <a:t>. Se </a:t>
            </a:r>
            <a:r>
              <a:rPr lang="en-US" sz="1900" spc="-16" err="1">
                <a:latin typeface="Arial"/>
                <a:cs typeface="Arial"/>
              </a:rPr>
              <a:t>necessário</a:t>
            </a:r>
            <a:r>
              <a:rPr lang="en-US" sz="1900" spc="-16">
                <a:latin typeface="Arial"/>
                <a:cs typeface="Arial"/>
              </a:rPr>
              <a:t> </a:t>
            </a:r>
            <a:r>
              <a:rPr lang="en-US" sz="1900" spc="-16" err="1">
                <a:latin typeface="Arial"/>
                <a:cs typeface="Arial"/>
              </a:rPr>
              <a:t>faça</a:t>
            </a:r>
            <a:r>
              <a:rPr lang="en-US" sz="1900" spc="-16">
                <a:latin typeface="Arial"/>
                <a:cs typeface="Arial"/>
              </a:rPr>
              <a:t> </a:t>
            </a:r>
            <a:r>
              <a:rPr lang="en-US" sz="1900" spc="-16" err="1">
                <a:latin typeface="Arial"/>
                <a:cs typeface="Arial"/>
              </a:rPr>
              <a:t>uma</a:t>
            </a:r>
            <a:r>
              <a:rPr lang="en-US" sz="1900" spc="-16">
                <a:latin typeface="Arial"/>
                <a:cs typeface="Arial"/>
              </a:rPr>
              <a:t> breve </a:t>
            </a:r>
            <a:r>
              <a:rPr lang="en-US" sz="1900" spc="-16" err="1">
                <a:latin typeface="Arial"/>
                <a:cs typeface="Arial"/>
              </a:rPr>
              <a:t>explicação</a:t>
            </a:r>
            <a:r>
              <a:rPr lang="en-US" sz="1900" spc="-16">
                <a:latin typeface="Arial"/>
                <a:cs typeface="Arial"/>
              </a:rPr>
              <a:t> </a:t>
            </a:r>
            <a:r>
              <a:rPr lang="en-US" sz="1900" spc="-16" err="1">
                <a:latin typeface="Arial"/>
                <a:cs typeface="Arial"/>
              </a:rPr>
              <a:t>sobre</a:t>
            </a:r>
            <a:r>
              <a:rPr lang="en-US" sz="1900" spc="-16">
                <a:latin typeface="Arial"/>
                <a:cs typeface="Arial"/>
              </a:rPr>
              <a:t> </a:t>
            </a:r>
            <a:r>
              <a:rPr lang="en-US" sz="1900" spc="-16" err="1">
                <a:latin typeface="Arial"/>
                <a:cs typeface="Arial"/>
              </a:rPr>
              <a:t>os</a:t>
            </a:r>
            <a:r>
              <a:rPr lang="en-US" sz="1900" spc="-16">
                <a:latin typeface="Arial"/>
                <a:cs typeface="Arial"/>
              </a:rPr>
              <a:t> </a:t>
            </a:r>
            <a:r>
              <a:rPr lang="en-US" sz="1900" spc="-16" err="1">
                <a:latin typeface="Arial"/>
                <a:cs typeface="Arial"/>
              </a:rPr>
              <a:t>relacionamentos</a:t>
            </a:r>
            <a:r>
              <a:rPr lang="en-US" sz="1900" spc="-16">
                <a:latin typeface="Arial"/>
                <a:cs typeface="Arial"/>
              </a:rPr>
              <a:t> e as constraints </a:t>
            </a:r>
            <a:r>
              <a:rPr lang="en-US" sz="1900" spc="-16" err="1">
                <a:latin typeface="Arial"/>
                <a:cs typeface="Arial"/>
              </a:rPr>
              <a:t>envolvidas</a:t>
            </a:r>
            <a:r>
              <a:rPr lang="en-US" sz="1900" spc="-16">
                <a:latin typeface="Arial"/>
                <a:cs typeface="Arial"/>
              </a:rPr>
              <a:t>;</a:t>
            </a:r>
          </a:p>
          <a:p>
            <a:pPr marL="342900" indent="-342900">
              <a:spcBef>
                <a:spcPts val="104"/>
              </a:spcBef>
              <a:buAutoNum type="alphaLcParenR"/>
            </a:pPr>
            <a:endParaRPr lang="en-US" sz="1900" spc="-16">
              <a:latin typeface="Arial"/>
              <a:cs typeface="Arial"/>
            </a:endParaRPr>
          </a:p>
          <a:p>
            <a:pPr marL="20320" marR="7620" algn="just">
              <a:lnSpc>
                <a:spcPct val="99200"/>
              </a:lnSpc>
              <a:spcBef>
                <a:spcPts val="8"/>
              </a:spcBef>
            </a:pPr>
            <a:r>
              <a:rPr lang="en-US" sz="1900" b="1" spc="-16" err="1">
                <a:latin typeface="Arial"/>
                <a:cs typeface="Arial"/>
              </a:rPr>
              <a:t>até</a:t>
            </a:r>
            <a:r>
              <a:rPr lang="en-US" sz="1900" b="1" spc="-16">
                <a:latin typeface="Arial"/>
                <a:cs typeface="Arial"/>
              </a:rPr>
              <a:t> 40 Pontos: </a:t>
            </a:r>
            <a:r>
              <a:rPr lang="en-US" sz="1900" spc="-16" err="1">
                <a:latin typeface="Arial"/>
                <a:cs typeface="Arial"/>
              </a:rPr>
              <a:t>Implementação</a:t>
            </a:r>
            <a:r>
              <a:rPr lang="en-US" sz="1900" spc="-16">
                <a:latin typeface="Arial"/>
                <a:cs typeface="Arial"/>
              </a:rPr>
              <a:t> das classes de </a:t>
            </a:r>
            <a:r>
              <a:rPr lang="en-US" sz="1900" spc="-16" err="1">
                <a:latin typeface="Arial"/>
                <a:cs typeface="Arial"/>
              </a:rPr>
              <a:t>Entidade</a:t>
            </a:r>
            <a:r>
              <a:rPr lang="en-US" sz="1900" spc="-16">
                <a:latin typeface="Arial"/>
                <a:cs typeface="Arial"/>
              </a:rPr>
              <a:t> </a:t>
            </a:r>
            <a:r>
              <a:rPr lang="en-US" sz="1900" spc="-16" err="1">
                <a:latin typeface="Arial"/>
                <a:cs typeface="Arial"/>
              </a:rPr>
              <a:t>necessárias</a:t>
            </a:r>
            <a:r>
              <a:rPr lang="en-US" sz="1900" spc="-16">
                <a:latin typeface="Arial"/>
                <a:cs typeface="Arial"/>
              </a:rPr>
              <a:t> para </a:t>
            </a:r>
            <a:r>
              <a:rPr lang="en-US" sz="1900" spc="-16" err="1">
                <a:latin typeface="Arial"/>
                <a:cs typeface="Arial"/>
              </a:rPr>
              <a:t>solução</a:t>
            </a:r>
            <a:r>
              <a:rPr lang="en-US" sz="1900" spc="-16">
                <a:latin typeface="Arial"/>
                <a:cs typeface="Arial"/>
              </a:rPr>
              <a:t> do </a:t>
            </a:r>
            <a:r>
              <a:rPr lang="en-US" sz="1900" spc="-16" err="1">
                <a:latin typeface="Arial"/>
                <a:cs typeface="Arial"/>
              </a:rPr>
              <a:t>problema</a:t>
            </a:r>
            <a:r>
              <a:rPr lang="en-US" sz="1900" spc="-16">
                <a:latin typeface="Arial"/>
                <a:cs typeface="Arial"/>
              </a:rPr>
              <a:t> </a:t>
            </a:r>
            <a:r>
              <a:rPr lang="en-US" sz="1900" spc="-16" err="1">
                <a:latin typeface="Arial"/>
                <a:cs typeface="Arial"/>
              </a:rPr>
              <a:t>que</a:t>
            </a:r>
            <a:r>
              <a:rPr lang="en-US" sz="1900" spc="-16">
                <a:latin typeface="Arial"/>
                <a:cs typeface="Arial"/>
              </a:rPr>
              <a:t> se </a:t>
            </a:r>
            <a:r>
              <a:rPr lang="en-US" sz="1900" spc="-16" err="1">
                <a:latin typeface="Arial"/>
                <a:cs typeface="Arial"/>
              </a:rPr>
              <a:t>propõe</a:t>
            </a:r>
            <a:r>
              <a:rPr lang="en-US" sz="1900" spc="-16">
                <a:latin typeface="Arial"/>
                <a:cs typeface="Arial"/>
              </a:rPr>
              <a:t> resolver.  </a:t>
            </a:r>
          </a:p>
          <a:p>
            <a:pPr>
              <a:spcBef>
                <a:spcPts val="264"/>
              </a:spcBef>
            </a:pPr>
            <a:endParaRPr lang="en-US" sz="1900" b="1" spc="-16">
              <a:latin typeface="Arial"/>
              <a:cs typeface="Arial"/>
            </a:endParaRPr>
          </a:p>
          <a:p>
            <a:pPr>
              <a:spcBef>
                <a:spcPts val="264"/>
              </a:spcBef>
            </a:pPr>
            <a:r>
              <a:rPr lang="en-US" sz="1900" b="1" spc="-16" err="1">
                <a:latin typeface="Arial"/>
                <a:cs typeface="Arial"/>
              </a:rPr>
              <a:t>até</a:t>
            </a:r>
            <a:r>
              <a:rPr lang="en-US" sz="1900" b="1" spc="-16">
                <a:latin typeface="Arial"/>
                <a:cs typeface="Arial"/>
              </a:rPr>
              <a:t> 15 Pontos: </a:t>
            </a:r>
            <a:r>
              <a:rPr lang="en-US" sz="1900" spc="-16">
                <a:latin typeface="Arial"/>
                <a:cs typeface="Arial"/>
              </a:rPr>
              <a:t>A </a:t>
            </a:r>
            <a:r>
              <a:rPr lang="en-US" sz="1900" spc="-16" err="1">
                <a:latin typeface="Arial"/>
                <a:cs typeface="Arial"/>
              </a:rPr>
              <a:t>aplicação</a:t>
            </a:r>
            <a:r>
              <a:rPr lang="en-US" sz="1900" spc="-16">
                <a:latin typeface="Arial"/>
                <a:cs typeface="Arial"/>
              </a:rPr>
              <a:t> </a:t>
            </a:r>
            <a:r>
              <a:rPr lang="en-US" sz="1900" spc="-16" err="1">
                <a:latin typeface="Arial"/>
                <a:cs typeface="Arial"/>
              </a:rPr>
              <a:t>respeita</a:t>
            </a:r>
            <a:r>
              <a:rPr lang="en-US" sz="1900" spc="-16">
                <a:latin typeface="Arial"/>
                <a:cs typeface="Arial"/>
              </a:rPr>
              <a:t> </a:t>
            </a:r>
            <a:r>
              <a:rPr lang="en-US" sz="1900" spc="-16" err="1">
                <a:latin typeface="Arial"/>
                <a:cs typeface="Arial"/>
              </a:rPr>
              <a:t>os</a:t>
            </a:r>
            <a:r>
              <a:rPr lang="en-US" sz="1900" spc="-16">
                <a:latin typeface="Arial"/>
                <a:cs typeface="Arial"/>
              </a:rPr>
              <a:t> </a:t>
            </a:r>
            <a:r>
              <a:rPr lang="en-US" sz="1900" spc="-16" err="1">
                <a:latin typeface="Arial"/>
                <a:cs typeface="Arial"/>
              </a:rPr>
              <a:t>conceitos</a:t>
            </a:r>
            <a:r>
              <a:rPr lang="en-US" sz="1900" spc="-16">
                <a:latin typeface="Arial"/>
                <a:cs typeface="Arial"/>
              </a:rPr>
              <a:t> </a:t>
            </a:r>
            <a:r>
              <a:rPr lang="en-US" sz="1900" spc="-16" err="1">
                <a:latin typeface="Arial"/>
                <a:cs typeface="Arial"/>
              </a:rPr>
              <a:t>fundamentais</a:t>
            </a:r>
            <a:r>
              <a:rPr lang="en-US" sz="1900" spc="-16">
                <a:latin typeface="Arial"/>
                <a:cs typeface="Arial"/>
              </a:rPr>
              <a:t> do REST (RESTful) e API </a:t>
            </a:r>
            <a:r>
              <a:rPr lang="en-US" sz="1900" spc="-16" err="1">
                <a:latin typeface="Arial"/>
                <a:cs typeface="Arial"/>
              </a:rPr>
              <a:t>está</a:t>
            </a:r>
            <a:r>
              <a:rPr lang="en-US" sz="1900" spc="-16">
                <a:latin typeface="Arial"/>
                <a:cs typeface="Arial"/>
              </a:rPr>
              <a:t> de </a:t>
            </a:r>
            <a:r>
              <a:rPr lang="en-US" sz="1900" spc="-16" err="1">
                <a:latin typeface="Arial"/>
                <a:cs typeface="Arial"/>
              </a:rPr>
              <a:t>acordo</a:t>
            </a:r>
            <a:r>
              <a:rPr lang="en-US" sz="1900" spc="-16">
                <a:latin typeface="Arial"/>
                <a:cs typeface="Arial"/>
              </a:rPr>
              <a:t> com o </a:t>
            </a:r>
            <a:r>
              <a:rPr lang="en-US" sz="1900" spc="-16" err="1">
                <a:latin typeface="Arial"/>
                <a:cs typeface="Arial"/>
              </a:rPr>
              <a:t>modelo</a:t>
            </a:r>
            <a:r>
              <a:rPr lang="en-US" sz="1900" spc="-16">
                <a:latin typeface="Arial"/>
                <a:cs typeface="Arial"/>
              </a:rPr>
              <a:t> de </a:t>
            </a:r>
            <a:r>
              <a:rPr lang="en-US" sz="1900" spc="-16" err="1">
                <a:latin typeface="Arial"/>
                <a:cs typeface="Arial"/>
              </a:rPr>
              <a:t>maturidade</a:t>
            </a:r>
            <a:endParaRPr lang="en-US" sz="1900" spc="-16">
              <a:latin typeface="Arial"/>
              <a:cs typeface="Arial"/>
            </a:endParaRPr>
          </a:p>
        </p:txBody>
      </p:sp>
    </p:spTree>
    <p:extLst>
      <p:ext uri="{BB962C8B-B14F-4D97-AF65-F5344CB8AC3E}">
        <p14:creationId xmlns:p14="http://schemas.microsoft.com/office/powerpoint/2010/main" val="1916219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802A-81F1-33C3-B20B-7AC6CBEEBF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F823BF-B5F9-5301-ECF3-F2267DD56397}"/>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C668F19E-B7E3-A2AA-CA2E-ABECF0F026FB}"/>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5A8670A1-612D-A2F2-2A71-E5E62CB05B65}"/>
              </a:ext>
            </a:extLst>
          </p:cNvPr>
          <p:cNvSpPr txBox="1"/>
          <p:nvPr/>
        </p:nvSpPr>
        <p:spPr>
          <a:xfrm>
            <a:off x="839708" y="1454667"/>
            <a:ext cx="10644591" cy="4796185"/>
          </a:xfrm>
          <a:prstGeom prst="rect">
            <a:avLst/>
          </a:prstGeom>
        </p:spPr>
        <p:txBody>
          <a:bodyPr vert="horz" wrap="square" lIns="0" tIns="25400" rIns="0" bIns="0" rtlCol="0" anchor="t">
            <a:spAutoFit/>
          </a:bodyPr>
          <a:lstStyle>
            <a:defPPr>
              <a:defRPr kern="0"/>
            </a:defPPr>
          </a:lstStyle>
          <a:p>
            <a:pPr marL="20320">
              <a:spcBef>
                <a:spcPts val="160"/>
              </a:spcBef>
            </a:pPr>
            <a:r>
              <a:rPr lang="en-US" sz="2000" b="1" spc="-16">
                <a:solidFill>
                  <a:srgbClr val="000000"/>
                </a:solidFill>
                <a:latin typeface="Arial"/>
                <a:cs typeface="Arial"/>
              </a:rPr>
              <a:t>- </a:t>
            </a:r>
            <a:r>
              <a:rPr lang="en-US" sz="2000" b="1" spc="-16" err="1">
                <a:solidFill>
                  <a:srgbClr val="000000"/>
                </a:solidFill>
                <a:latin typeface="Arial"/>
                <a:cs typeface="Arial"/>
              </a:rPr>
              <a:t>Distribuição</a:t>
            </a:r>
            <a:r>
              <a:rPr lang="en-US" sz="2000" b="1" spc="-16">
                <a:solidFill>
                  <a:srgbClr val="000000"/>
                </a:solidFill>
                <a:latin typeface="Arial"/>
                <a:cs typeface="Arial"/>
              </a:rPr>
              <a:t> da </a:t>
            </a:r>
            <a:r>
              <a:rPr lang="en-US" sz="2000" b="1" spc="-16" err="1">
                <a:solidFill>
                  <a:srgbClr val="000000"/>
                </a:solidFill>
                <a:latin typeface="Arial"/>
                <a:cs typeface="Arial"/>
              </a:rPr>
              <a:t>pontuação</a:t>
            </a:r>
            <a:r>
              <a:rPr lang="en-US" sz="2000" b="1" spc="-16">
                <a:solidFill>
                  <a:srgbClr val="000000"/>
                </a:solidFill>
                <a:latin typeface="Arial"/>
                <a:cs typeface="Arial"/>
              </a:rPr>
              <a:t>:</a:t>
            </a:r>
          </a:p>
          <a:p>
            <a:pPr>
              <a:spcBef>
                <a:spcPts val="152"/>
              </a:spcBef>
            </a:pPr>
            <a:endParaRPr lang="en-US" sz="2000" spc="-16">
              <a:latin typeface="Arial"/>
              <a:cs typeface="Arial"/>
            </a:endParaRPr>
          </a:p>
          <a:p>
            <a:pPr marL="20320" marR="10160" algn="just">
              <a:lnSpc>
                <a:spcPts val="2288"/>
              </a:lnSpc>
            </a:pPr>
            <a:r>
              <a:rPr lang="en-US" sz="2000" b="1" spc="-16" err="1">
                <a:solidFill>
                  <a:srgbClr val="000000"/>
                </a:solidFill>
                <a:latin typeface="Arial"/>
                <a:cs typeface="Arial"/>
              </a:rPr>
              <a:t>até</a:t>
            </a:r>
            <a:r>
              <a:rPr lang="en-US" sz="2000" b="1" spc="-16">
                <a:solidFill>
                  <a:srgbClr val="000000"/>
                </a:solidFill>
                <a:latin typeface="Arial"/>
                <a:cs typeface="Arial"/>
              </a:rPr>
              <a:t> 10 Pontos: </a:t>
            </a:r>
            <a:r>
              <a:rPr lang="en-US" sz="2000" spc="-16">
                <a:solidFill>
                  <a:srgbClr val="000000"/>
                </a:solidFill>
                <a:latin typeface="Arial"/>
                <a:cs typeface="Arial"/>
              </a:rPr>
              <a:t>A </a:t>
            </a:r>
            <a:r>
              <a:rPr lang="en-US" sz="2000" spc="-16" err="1">
                <a:solidFill>
                  <a:srgbClr val="000000"/>
                </a:solidFill>
                <a:latin typeface="Arial"/>
                <a:cs typeface="Arial"/>
              </a:rPr>
              <a:t>Gestão</a:t>
            </a:r>
            <a:r>
              <a:rPr lang="en-US" sz="2000" spc="-16">
                <a:solidFill>
                  <a:srgbClr val="000000"/>
                </a:solidFill>
                <a:latin typeface="Arial"/>
                <a:cs typeface="Arial"/>
              </a:rPr>
              <a:t> de </a:t>
            </a:r>
            <a:r>
              <a:rPr lang="en-US" sz="2000" spc="-16" err="1">
                <a:solidFill>
                  <a:srgbClr val="000000"/>
                </a:solidFill>
                <a:latin typeface="Arial"/>
                <a:cs typeface="Arial"/>
              </a:rPr>
              <a:t>Configuração</a:t>
            </a:r>
            <a:r>
              <a:rPr lang="en-US" sz="2000" spc="-16">
                <a:solidFill>
                  <a:srgbClr val="000000"/>
                </a:solidFill>
                <a:latin typeface="Arial"/>
                <a:cs typeface="Arial"/>
              </a:rPr>
              <a:t> dos </a:t>
            </a:r>
            <a:r>
              <a:rPr lang="en-US" sz="2000" spc="-16" err="1">
                <a:solidFill>
                  <a:srgbClr val="000000"/>
                </a:solidFill>
                <a:latin typeface="Arial"/>
                <a:cs typeface="Arial"/>
              </a:rPr>
              <a:t>Artefatos</a:t>
            </a:r>
            <a:r>
              <a:rPr lang="en-US" sz="2000" spc="-16">
                <a:solidFill>
                  <a:srgbClr val="000000"/>
                </a:solidFill>
                <a:latin typeface="Arial"/>
                <a:cs typeface="Arial"/>
              </a:rPr>
              <a:t> de Software </a:t>
            </a:r>
            <a:r>
              <a:rPr lang="en-US" sz="2000" spc="-16" err="1">
                <a:solidFill>
                  <a:srgbClr val="000000"/>
                </a:solidFill>
                <a:latin typeface="Arial"/>
                <a:cs typeface="Arial"/>
              </a:rPr>
              <a:t>foram</a:t>
            </a:r>
            <a:r>
              <a:rPr lang="en-US" sz="2000" spc="-16">
                <a:solidFill>
                  <a:srgbClr val="000000"/>
                </a:solidFill>
                <a:latin typeface="Arial"/>
                <a:cs typeface="Arial"/>
              </a:rPr>
              <a:t> </a:t>
            </a:r>
            <a:r>
              <a:rPr lang="en-US" sz="2000" spc="-16" err="1">
                <a:solidFill>
                  <a:srgbClr val="000000"/>
                </a:solidFill>
                <a:latin typeface="Arial"/>
                <a:cs typeface="Arial"/>
              </a:rPr>
              <a:t>demonstrados</a:t>
            </a:r>
            <a:r>
              <a:rPr lang="en-US" sz="2000" spc="-16">
                <a:solidFill>
                  <a:srgbClr val="000000"/>
                </a:solidFill>
                <a:latin typeface="Arial"/>
                <a:cs typeface="Arial"/>
              </a:rPr>
              <a:t> pela equipe. Ou </a:t>
            </a:r>
            <a:r>
              <a:rPr lang="en-US" sz="2000" spc="-16" err="1">
                <a:solidFill>
                  <a:srgbClr val="000000"/>
                </a:solidFill>
                <a:latin typeface="Arial"/>
                <a:cs typeface="Arial"/>
              </a:rPr>
              <a:t>seja</a:t>
            </a:r>
            <a:r>
              <a:rPr lang="en-US" sz="2000" spc="-16">
                <a:solidFill>
                  <a:srgbClr val="000000"/>
                </a:solidFill>
                <a:latin typeface="Arial"/>
                <a:cs typeface="Arial"/>
              </a:rPr>
              <a:t>, </a:t>
            </a:r>
            <a:r>
              <a:rPr lang="en-US" sz="2000" spc="-16" err="1">
                <a:solidFill>
                  <a:srgbClr val="000000"/>
                </a:solidFill>
                <a:latin typeface="Arial"/>
                <a:cs typeface="Arial"/>
              </a:rPr>
              <a:t>todos</a:t>
            </a:r>
            <a:r>
              <a:rPr lang="en-US" sz="2000" spc="-16">
                <a:solidFill>
                  <a:srgbClr val="000000"/>
                </a:solidFill>
                <a:latin typeface="Arial"/>
                <a:cs typeface="Arial"/>
              </a:rPr>
              <a:t> </a:t>
            </a:r>
            <a:r>
              <a:rPr lang="en-US" sz="2000" spc="-16" err="1">
                <a:solidFill>
                  <a:srgbClr val="000000"/>
                </a:solidFill>
                <a:latin typeface="Arial"/>
                <a:cs typeface="Arial"/>
              </a:rPr>
              <a:t>os</a:t>
            </a:r>
            <a:r>
              <a:rPr lang="en-US" sz="2000" spc="-16">
                <a:solidFill>
                  <a:srgbClr val="000000"/>
                </a:solidFill>
                <a:latin typeface="Arial"/>
                <a:cs typeface="Arial"/>
              </a:rPr>
              <a:t> </a:t>
            </a:r>
            <a:r>
              <a:rPr lang="en-US" sz="2000" spc="-16" err="1">
                <a:solidFill>
                  <a:srgbClr val="000000"/>
                </a:solidFill>
                <a:latin typeface="Arial"/>
                <a:cs typeface="Arial"/>
              </a:rPr>
              <a:t>artefatos</a:t>
            </a:r>
            <a:r>
              <a:rPr lang="en-US" sz="2000" spc="-16">
                <a:solidFill>
                  <a:srgbClr val="000000"/>
                </a:solidFill>
                <a:latin typeface="Arial"/>
                <a:cs typeface="Arial"/>
              </a:rPr>
              <a:t> </a:t>
            </a:r>
            <a:r>
              <a:rPr lang="en-US" sz="2000" spc="-16" err="1">
                <a:solidFill>
                  <a:srgbClr val="000000"/>
                </a:solidFill>
                <a:latin typeface="Arial"/>
                <a:cs typeface="Arial"/>
              </a:rPr>
              <a:t>produzidos</a:t>
            </a:r>
            <a:r>
              <a:rPr lang="en-US" sz="2000" spc="-16">
                <a:solidFill>
                  <a:srgbClr val="000000"/>
                </a:solidFill>
                <a:latin typeface="Arial"/>
                <a:cs typeface="Arial"/>
              </a:rPr>
              <a:t> </a:t>
            </a:r>
            <a:r>
              <a:rPr lang="en-US" sz="2000" spc="-16" err="1">
                <a:solidFill>
                  <a:srgbClr val="000000"/>
                </a:solidFill>
                <a:latin typeface="Arial"/>
                <a:cs typeface="Arial"/>
              </a:rPr>
              <a:t>estão</a:t>
            </a:r>
            <a:r>
              <a:rPr lang="en-US" sz="2000" spc="-16">
                <a:solidFill>
                  <a:srgbClr val="000000"/>
                </a:solidFill>
                <a:latin typeface="Arial"/>
                <a:cs typeface="Arial"/>
              </a:rPr>
              <a:t> no </a:t>
            </a:r>
            <a:r>
              <a:rPr lang="en-US" sz="2000" spc="-16" err="1">
                <a:solidFill>
                  <a:srgbClr val="000000"/>
                </a:solidFill>
                <a:latin typeface="Arial"/>
                <a:cs typeface="Arial"/>
              </a:rPr>
              <a:t>Github</a:t>
            </a:r>
            <a:r>
              <a:rPr lang="en-US" sz="2000" spc="-16">
                <a:solidFill>
                  <a:srgbClr val="000000"/>
                </a:solidFill>
                <a:latin typeface="Arial"/>
                <a:cs typeface="Arial"/>
              </a:rPr>
              <a:t> e </a:t>
            </a:r>
            <a:r>
              <a:rPr lang="en-US" sz="2000" spc="-16" err="1">
                <a:solidFill>
                  <a:srgbClr val="000000"/>
                </a:solidFill>
                <a:latin typeface="Arial"/>
                <a:cs typeface="Arial"/>
              </a:rPr>
              <a:t>os</a:t>
            </a:r>
            <a:r>
              <a:rPr lang="en-US" sz="2000" spc="-16">
                <a:solidFill>
                  <a:srgbClr val="000000"/>
                </a:solidFill>
                <a:latin typeface="Arial"/>
                <a:cs typeface="Arial"/>
              </a:rPr>
              <a:t> </a:t>
            </a:r>
            <a:r>
              <a:rPr lang="en-US" sz="2000" spc="-16" err="1">
                <a:solidFill>
                  <a:srgbClr val="000000"/>
                </a:solidFill>
                <a:latin typeface="Arial"/>
                <a:cs typeface="Arial"/>
              </a:rPr>
              <a:t>professores</a:t>
            </a:r>
            <a:r>
              <a:rPr lang="en-US" sz="2000" spc="-16">
                <a:solidFill>
                  <a:srgbClr val="000000"/>
                </a:solidFill>
                <a:latin typeface="Arial"/>
                <a:cs typeface="Arial"/>
              </a:rPr>
              <a:t> </a:t>
            </a:r>
            <a:r>
              <a:rPr lang="en-US" sz="2000" spc="-16" err="1">
                <a:solidFill>
                  <a:srgbClr val="000000"/>
                </a:solidFill>
                <a:latin typeface="Arial"/>
                <a:cs typeface="Arial"/>
              </a:rPr>
              <a:t>têm</a:t>
            </a:r>
            <a:r>
              <a:rPr lang="en-US" sz="2000" spc="-16">
                <a:solidFill>
                  <a:srgbClr val="000000"/>
                </a:solidFill>
                <a:latin typeface="Arial"/>
                <a:cs typeface="Arial"/>
              </a:rPr>
              <a:t> </a:t>
            </a:r>
            <a:r>
              <a:rPr lang="en-US" sz="2000" spc="-16" err="1">
                <a:solidFill>
                  <a:srgbClr val="000000"/>
                </a:solidFill>
                <a:latin typeface="Arial"/>
                <a:cs typeface="Arial"/>
              </a:rPr>
              <a:t>acesso</a:t>
            </a:r>
            <a:r>
              <a:rPr lang="en-US" sz="2000" spc="-16">
                <a:solidFill>
                  <a:srgbClr val="000000"/>
                </a:solidFill>
                <a:latin typeface="Arial"/>
                <a:cs typeface="Arial"/>
              </a:rPr>
              <a:t> </a:t>
            </a:r>
            <a:r>
              <a:rPr lang="en-US" sz="2000" spc="-16" err="1">
                <a:solidFill>
                  <a:srgbClr val="000000"/>
                </a:solidFill>
                <a:latin typeface="Arial"/>
                <a:cs typeface="Arial"/>
              </a:rPr>
              <a:t>ao</a:t>
            </a:r>
            <a:r>
              <a:rPr lang="en-US" sz="2000" spc="-16">
                <a:solidFill>
                  <a:srgbClr val="000000"/>
                </a:solidFill>
                <a:latin typeface="Arial"/>
                <a:cs typeface="Arial"/>
              </a:rPr>
              <a:t> </a:t>
            </a:r>
            <a:r>
              <a:rPr lang="en-US" sz="2000" spc="-16" err="1">
                <a:solidFill>
                  <a:srgbClr val="000000"/>
                </a:solidFill>
                <a:latin typeface="Arial"/>
                <a:cs typeface="Arial"/>
              </a:rPr>
              <a:t>repositório</a:t>
            </a:r>
            <a:r>
              <a:rPr lang="en-US" sz="2000" spc="-16">
                <a:solidFill>
                  <a:srgbClr val="000000"/>
                </a:solidFill>
                <a:latin typeface="Arial"/>
                <a:cs typeface="Arial"/>
              </a:rPr>
              <a:t>;</a:t>
            </a:r>
          </a:p>
          <a:p>
            <a:pPr>
              <a:spcBef>
                <a:spcPts val="448"/>
              </a:spcBef>
            </a:pPr>
            <a:endParaRPr lang="en-US" sz="2000" spc="-16">
              <a:solidFill>
                <a:srgbClr val="000000"/>
              </a:solidFill>
              <a:latin typeface="Arial"/>
              <a:cs typeface="Arial"/>
            </a:endParaRPr>
          </a:p>
          <a:p>
            <a:pPr>
              <a:spcBef>
                <a:spcPts val="448"/>
              </a:spcBef>
            </a:pPr>
            <a:r>
              <a:rPr lang="en-US" sz="2000" b="1" spc="-16" err="1">
                <a:solidFill>
                  <a:srgbClr val="000000"/>
                </a:solidFill>
                <a:latin typeface="Arial"/>
                <a:cs typeface="Arial"/>
              </a:rPr>
              <a:t>até</a:t>
            </a:r>
            <a:r>
              <a:rPr lang="en-US" sz="2000" b="1" spc="-16">
                <a:solidFill>
                  <a:srgbClr val="000000"/>
                </a:solidFill>
                <a:latin typeface="Arial"/>
                <a:cs typeface="Arial"/>
              </a:rPr>
              <a:t> 10 </a:t>
            </a:r>
            <a:r>
              <a:rPr lang="en-US" sz="2000" b="1" spc="-16" err="1">
                <a:solidFill>
                  <a:srgbClr val="000000"/>
                </a:solidFill>
                <a:latin typeface="Arial"/>
                <a:cs typeface="Arial"/>
              </a:rPr>
              <a:t>pontos</a:t>
            </a:r>
            <a:r>
              <a:rPr lang="en-US" sz="2000" b="1" spc="-16">
                <a:solidFill>
                  <a:srgbClr val="000000"/>
                </a:solidFill>
                <a:latin typeface="Arial"/>
                <a:cs typeface="Arial"/>
              </a:rPr>
              <a:t>:</a:t>
            </a:r>
            <a:r>
              <a:rPr lang="en-US" sz="2000" spc="-16">
                <a:solidFill>
                  <a:srgbClr val="000000"/>
                </a:solidFill>
                <a:latin typeface="Arial"/>
                <a:cs typeface="Arial"/>
              </a:rPr>
              <a:t> </a:t>
            </a:r>
            <a:r>
              <a:rPr lang="en-US" sz="2000" spc="-16" err="1">
                <a:solidFill>
                  <a:srgbClr val="000000"/>
                </a:solidFill>
                <a:latin typeface="Arial"/>
                <a:cs typeface="Arial"/>
              </a:rPr>
              <a:t>Envio</a:t>
            </a:r>
            <a:r>
              <a:rPr lang="en-US" sz="2000" spc="-16">
                <a:solidFill>
                  <a:srgbClr val="000000"/>
                </a:solidFill>
                <a:latin typeface="Arial"/>
                <a:cs typeface="Arial"/>
              </a:rPr>
              <a:t> do link para o </a:t>
            </a:r>
            <a:r>
              <a:rPr lang="en-US" sz="2000" spc="-16" err="1">
                <a:solidFill>
                  <a:srgbClr val="000000"/>
                </a:solidFill>
                <a:latin typeface="Arial"/>
                <a:cs typeface="Arial"/>
              </a:rPr>
              <a:t>projeto</a:t>
            </a:r>
            <a:r>
              <a:rPr lang="en-US" sz="2000" spc="-16">
                <a:solidFill>
                  <a:srgbClr val="000000"/>
                </a:solidFill>
                <a:latin typeface="Arial"/>
                <a:cs typeface="Arial"/>
              </a:rPr>
              <a:t> </a:t>
            </a:r>
            <a:r>
              <a:rPr lang="en-US" sz="2000" spc="-16" err="1">
                <a:solidFill>
                  <a:srgbClr val="000000"/>
                </a:solidFill>
                <a:latin typeface="Arial"/>
                <a:cs typeface="Arial"/>
              </a:rPr>
              <a:t>público</a:t>
            </a:r>
            <a:r>
              <a:rPr lang="en-US" sz="2000" spc="-16">
                <a:solidFill>
                  <a:srgbClr val="000000"/>
                </a:solidFill>
                <a:latin typeface="Arial"/>
                <a:cs typeface="Arial"/>
              </a:rPr>
              <a:t> </a:t>
            </a:r>
            <a:r>
              <a:rPr lang="en-US" sz="2000" spc="-16" err="1">
                <a:solidFill>
                  <a:srgbClr val="000000"/>
                </a:solidFill>
                <a:latin typeface="Arial"/>
                <a:cs typeface="Arial"/>
              </a:rPr>
              <a:t>compartilhado</a:t>
            </a:r>
            <a:r>
              <a:rPr lang="en-US" sz="2000" spc="-16">
                <a:solidFill>
                  <a:srgbClr val="000000"/>
                </a:solidFill>
                <a:latin typeface="Arial"/>
                <a:cs typeface="Arial"/>
              </a:rPr>
              <a:t> no </a:t>
            </a:r>
            <a:r>
              <a:rPr lang="en-US" sz="2000" spc="-16" err="1">
                <a:solidFill>
                  <a:srgbClr val="000000"/>
                </a:solidFill>
                <a:latin typeface="Arial"/>
                <a:cs typeface="Arial"/>
              </a:rPr>
              <a:t>Github</a:t>
            </a:r>
            <a:endParaRPr lang="en-US" sz="2000" spc="-16">
              <a:latin typeface="Arial"/>
              <a:cs typeface="Arial"/>
            </a:endParaRPr>
          </a:p>
          <a:p>
            <a:pPr marL="342900" indent="-342900">
              <a:spcBef>
                <a:spcPts val="624"/>
              </a:spcBef>
              <a:buAutoNum type="alphaLcParenR"/>
            </a:pPr>
            <a:endParaRPr lang="en-US" sz="2000" spc="-16">
              <a:latin typeface="Arial"/>
              <a:cs typeface="Arial"/>
            </a:endParaRPr>
          </a:p>
          <a:p>
            <a:pPr marL="20320" marR="10160" algn="just">
              <a:lnSpc>
                <a:spcPts val="2288"/>
              </a:lnSpc>
            </a:pPr>
            <a:r>
              <a:rPr lang="en-US" sz="2000" b="1" spc="-16" err="1">
                <a:solidFill>
                  <a:srgbClr val="000000"/>
                </a:solidFill>
                <a:latin typeface="Arial"/>
                <a:cs typeface="Arial"/>
              </a:rPr>
              <a:t>até</a:t>
            </a:r>
            <a:r>
              <a:rPr lang="en-US" sz="2000" b="1" spc="-16">
                <a:solidFill>
                  <a:srgbClr val="000000"/>
                </a:solidFill>
                <a:latin typeface="Arial"/>
                <a:cs typeface="Arial"/>
              </a:rPr>
              <a:t> 10 </a:t>
            </a:r>
            <a:r>
              <a:rPr lang="en-US" sz="2000" b="1" spc="-16" err="1">
                <a:solidFill>
                  <a:srgbClr val="000000"/>
                </a:solidFill>
                <a:latin typeface="Arial"/>
                <a:cs typeface="Arial"/>
              </a:rPr>
              <a:t>pontos</a:t>
            </a:r>
            <a:r>
              <a:rPr lang="en-US" sz="2000" b="1" spc="-16">
                <a:solidFill>
                  <a:srgbClr val="000000"/>
                </a:solidFill>
                <a:latin typeface="Arial"/>
                <a:cs typeface="Arial"/>
              </a:rPr>
              <a:t>:</a:t>
            </a:r>
            <a:r>
              <a:rPr lang="en-US" sz="2000" spc="-16">
                <a:solidFill>
                  <a:srgbClr val="000000"/>
                </a:solidFill>
                <a:latin typeface="Arial"/>
                <a:cs typeface="Arial"/>
              </a:rPr>
              <a:t> Se a equipe </a:t>
            </a:r>
            <a:r>
              <a:rPr lang="en-US" sz="2000" spc="-16" err="1">
                <a:solidFill>
                  <a:srgbClr val="000000"/>
                </a:solidFill>
                <a:latin typeface="Arial"/>
                <a:cs typeface="Arial"/>
              </a:rPr>
              <a:t>demonstrou</a:t>
            </a:r>
            <a:r>
              <a:rPr lang="en-US" sz="2000" spc="-16">
                <a:solidFill>
                  <a:srgbClr val="000000"/>
                </a:solidFill>
                <a:latin typeface="Arial"/>
                <a:cs typeface="Arial"/>
              </a:rPr>
              <a:t> </a:t>
            </a:r>
            <a:r>
              <a:rPr lang="en-US" sz="2000" spc="-16" err="1">
                <a:solidFill>
                  <a:srgbClr val="000000"/>
                </a:solidFill>
                <a:latin typeface="Arial"/>
                <a:cs typeface="Arial"/>
              </a:rPr>
              <a:t>preocupação</a:t>
            </a:r>
            <a:r>
              <a:rPr lang="en-US" sz="2000" spc="-16">
                <a:solidFill>
                  <a:srgbClr val="000000"/>
                </a:solidFill>
                <a:latin typeface="Arial"/>
                <a:cs typeface="Arial"/>
              </a:rPr>
              <a:t> </a:t>
            </a:r>
            <a:r>
              <a:rPr lang="en-US" sz="2000" spc="-16" err="1">
                <a:solidFill>
                  <a:srgbClr val="000000"/>
                </a:solidFill>
                <a:latin typeface="Arial"/>
                <a:cs typeface="Arial"/>
              </a:rPr>
              <a:t>em</a:t>
            </a:r>
            <a:r>
              <a:rPr lang="en-US" sz="2000" spc="-16">
                <a:solidFill>
                  <a:srgbClr val="000000"/>
                </a:solidFill>
                <a:latin typeface="Arial"/>
                <a:cs typeface="Arial"/>
              </a:rPr>
              <a:t> </a:t>
            </a:r>
            <a:r>
              <a:rPr lang="en-US" sz="2000" spc="-16" err="1">
                <a:solidFill>
                  <a:srgbClr val="000000"/>
                </a:solidFill>
                <a:latin typeface="Arial"/>
                <a:cs typeface="Arial"/>
              </a:rPr>
              <a:t>testar</a:t>
            </a:r>
            <a:r>
              <a:rPr lang="en-US" sz="2000" spc="-16">
                <a:solidFill>
                  <a:srgbClr val="000000"/>
                </a:solidFill>
                <a:latin typeface="Arial"/>
                <a:cs typeface="Arial"/>
              </a:rPr>
              <a:t> a </a:t>
            </a:r>
            <a:r>
              <a:rPr lang="en-US" sz="2000" spc="-16" err="1">
                <a:solidFill>
                  <a:srgbClr val="000000"/>
                </a:solidFill>
                <a:latin typeface="Arial"/>
                <a:cs typeface="Arial"/>
              </a:rPr>
              <a:t>aplicação</a:t>
            </a:r>
            <a:r>
              <a:rPr lang="en-US" sz="2000" spc="-16">
                <a:solidFill>
                  <a:srgbClr val="000000"/>
                </a:solidFill>
                <a:latin typeface="Arial"/>
                <a:cs typeface="Arial"/>
              </a:rPr>
              <a:t> e </a:t>
            </a:r>
            <a:r>
              <a:rPr lang="en-US" sz="2000" spc="-16" err="1">
                <a:solidFill>
                  <a:srgbClr val="000000"/>
                </a:solidFill>
                <a:latin typeface="Arial"/>
                <a:cs typeface="Arial"/>
              </a:rPr>
              <a:t>provou</a:t>
            </a:r>
            <a:r>
              <a:rPr lang="en-US" sz="2000" spc="-16">
                <a:solidFill>
                  <a:srgbClr val="000000"/>
                </a:solidFill>
                <a:latin typeface="Arial"/>
                <a:cs typeface="Arial"/>
              </a:rPr>
              <a:t> com </a:t>
            </a:r>
            <a:r>
              <a:rPr lang="en-US" sz="2000" spc="-16" err="1">
                <a:solidFill>
                  <a:srgbClr val="000000"/>
                </a:solidFill>
                <a:latin typeface="Arial"/>
                <a:cs typeface="Arial"/>
              </a:rPr>
              <a:t>documentos</a:t>
            </a:r>
            <a:r>
              <a:rPr lang="en-US" sz="2000" spc="-16">
                <a:solidFill>
                  <a:srgbClr val="000000"/>
                </a:solidFill>
                <a:latin typeface="Arial"/>
                <a:cs typeface="Arial"/>
              </a:rPr>
              <a:t>. </a:t>
            </a:r>
            <a:r>
              <a:rPr lang="en-US" sz="2000" spc="-16" err="1">
                <a:solidFill>
                  <a:srgbClr val="000000"/>
                </a:solidFill>
                <a:latin typeface="Arial"/>
                <a:cs typeface="Arial"/>
              </a:rPr>
              <a:t>Disponibilizou</a:t>
            </a:r>
            <a:r>
              <a:rPr lang="en-US" sz="2000" spc="-16">
                <a:solidFill>
                  <a:srgbClr val="000000"/>
                </a:solidFill>
                <a:latin typeface="Arial"/>
                <a:cs typeface="Arial"/>
              </a:rPr>
              <a:t> </a:t>
            </a:r>
            <a:r>
              <a:rPr lang="en-US" sz="2000" spc="-16" err="1">
                <a:solidFill>
                  <a:srgbClr val="000000"/>
                </a:solidFill>
                <a:latin typeface="Arial"/>
                <a:cs typeface="Arial"/>
              </a:rPr>
              <a:t>arquivos</a:t>
            </a:r>
            <a:r>
              <a:rPr lang="en-US" sz="2000" spc="-16">
                <a:solidFill>
                  <a:srgbClr val="000000"/>
                </a:solidFill>
                <a:latin typeface="Arial"/>
                <a:cs typeface="Arial"/>
              </a:rPr>
              <a:t> para </a:t>
            </a:r>
            <a:r>
              <a:rPr lang="en-US" sz="2000" spc="-16" err="1">
                <a:solidFill>
                  <a:srgbClr val="000000"/>
                </a:solidFill>
                <a:latin typeface="Arial"/>
                <a:cs typeface="Arial"/>
              </a:rPr>
              <a:t>que</a:t>
            </a:r>
            <a:r>
              <a:rPr lang="en-US" sz="2000" spc="-16">
                <a:solidFill>
                  <a:srgbClr val="000000"/>
                </a:solidFill>
                <a:latin typeface="Arial"/>
                <a:cs typeface="Arial"/>
              </a:rPr>
              <a:t> o professor </a:t>
            </a:r>
            <a:r>
              <a:rPr lang="en-US" sz="2000" spc="-16" err="1">
                <a:solidFill>
                  <a:srgbClr val="000000"/>
                </a:solidFill>
                <a:latin typeface="Arial"/>
                <a:cs typeface="Arial"/>
              </a:rPr>
              <a:t>seja</a:t>
            </a:r>
            <a:r>
              <a:rPr lang="en-US" sz="2000" spc="-16">
                <a:solidFill>
                  <a:srgbClr val="000000"/>
                </a:solidFill>
                <a:latin typeface="Arial"/>
                <a:cs typeface="Arial"/>
              </a:rPr>
              <a:t> </a:t>
            </a:r>
            <a:r>
              <a:rPr lang="en-US" sz="2000" spc="-16" err="1">
                <a:solidFill>
                  <a:srgbClr val="000000"/>
                </a:solidFill>
                <a:latin typeface="Arial"/>
                <a:cs typeface="Arial"/>
              </a:rPr>
              <a:t>capaz</a:t>
            </a:r>
            <a:r>
              <a:rPr lang="en-US" sz="2000" spc="-16">
                <a:solidFill>
                  <a:srgbClr val="000000"/>
                </a:solidFill>
                <a:latin typeface="Arial"/>
                <a:cs typeface="Arial"/>
              </a:rPr>
              <a:t> de </a:t>
            </a:r>
            <a:r>
              <a:rPr lang="en-US" sz="2000" spc="-16" err="1">
                <a:solidFill>
                  <a:srgbClr val="000000"/>
                </a:solidFill>
                <a:latin typeface="Arial"/>
                <a:cs typeface="Arial"/>
              </a:rPr>
              <a:t>realizar</a:t>
            </a:r>
            <a:r>
              <a:rPr lang="en-US" sz="2000" spc="-16">
                <a:solidFill>
                  <a:srgbClr val="000000"/>
                </a:solidFill>
                <a:latin typeface="Arial"/>
                <a:cs typeface="Arial"/>
              </a:rPr>
              <a:t> teste dos endpoints e </a:t>
            </a:r>
            <a:r>
              <a:rPr lang="en-US" sz="2000" spc="-16" err="1">
                <a:solidFill>
                  <a:srgbClr val="000000"/>
                </a:solidFill>
                <a:latin typeface="Arial"/>
                <a:cs typeface="Arial"/>
              </a:rPr>
              <a:t>houve</a:t>
            </a:r>
            <a:r>
              <a:rPr lang="en-US" sz="2000" spc="-16">
                <a:solidFill>
                  <a:srgbClr val="000000"/>
                </a:solidFill>
                <a:latin typeface="Arial"/>
                <a:cs typeface="Arial"/>
              </a:rPr>
              <a:t>, </a:t>
            </a:r>
            <a:r>
              <a:rPr lang="en-US" sz="2000" spc="-16" err="1">
                <a:solidFill>
                  <a:srgbClr val="000000"/>
                </a:solidFill>
                <a:latin typeface="Arial"/>
                <a:cs typeface="Arial"/>
              </a:rPr>
              <a:t>após</a:t>
            </a:r>
            <a:r>
              <a:rPr lang="en-US" sz="2000" spc="-16">
                <a:solidFill>
                  <a:srgbClr val="000000"/>
                </a:solidFill>
                <a:latin typeface="Arial"/>
                <a:cs typeface="Arial"/>
              </a:rPr>
              <a:t> </a:t>
            </a:r>
            <a:r>
              <a:rPr lang="en-US" sz="2000" spc="-16" err="1">
                <a:solidFill>
                  <a:srgbClr val="000000"/>
                </a:solidFill>
                <a:latin typeface="Arial"/>
                <a:cs typeface="Arial"/>
              </a:rPr>
              <a:t>os</a:t>
            </a:r>
            <a:r>
              <a:rPr lang="en-US" sz="2000" spc="-16">
                <a:solidFill>
                  <a:srgbClr val="000000"/>
                </a:solidFill>
                <a:latin typeface="Arial"/>
                <a:cs typeface="Arial"/>
              </a:rPr>
              <a:t> testes, a </a:t>
            </a:r>
            <a:r>
              <a:rPr lang="en-US" sz="2000" spc="-16" err="1">
                <a:solidFill>
                  <a:srgbClr val="000000"/>
                </a:solidFill>
                <a:latin typeface="Arial"/>
                <a:cs typeface="Arial"/>
              </a:rPr>
              <a:t>perfeita</a:t>
            </a:r>
            <a:r>
              <a:rPr lang="en-US" sz="2000" spc="-16">
                <a:solidFill>
                  <a:srgbClr val="000000"/>
                </a:solidFill>
                <a:latin typeface="Arial"/>
                <a:cs typeface="Arial"/>
              </a:rPr>
              <a:t> </a:t>
            </a:r>
            <a:r>
              <a:rPr lang="en-US" sz="2000" spc="-16" err="1">
                <a:solidFill>
                  <a:srgbClr val="000000"/>
                </a:solidFill>
                <a:latin typeface="Arial"/>
                <a:cs typeface="Arial"/>
              </a:rPr>
              <a:t>persistência</a:t>
            </a:r>
            <a:r>
              <a:rPr lang="en-US" sz="2000" spc="-16">
                <a:solidFill>
                  <a:srgbClr val="000000"/>
                </a:solidFill>
                <a:latin typeface="Arial"/>
                <a:cs typeface="Arial"/>
              </a:rPr>
              <a:t> e </a:t>
            </a:r>
            <a:r>
              <a:rPr lang="en-US" sz="2000" spc="-16" err="1">
                <a:solidFill>
                  <a:srgbClr val="000000"/>
                </a:solidFill>
                <a:latin typeface="Arial"/>
                <a:cs typeface="Arial"/>
              </a:rPr>
              <a:t>recuperação</a:t>
            </a:r>
            <a:r>
              <a:rPr lang="en-US" sz="2000" spc="-16">
                <a:solidFill>
                  <a:srgbClr val="000000"/>
                </a:solidFill>
                <a:latin typeface="Arial"/>
                <a:cs typeface="Arial"/>
              </a:rPr>
              <a:t> dos dados. (</a:t>
            </a:r>
            <a:r>
              <a:rPr lang="en-US" sz="2000" spc="-16" err="1">
                <a:solidFill>
                  <a:srgbClr val="000000"/>
                </a:solidFill>
                <a:latin typeface="Arial"/>
                <a:cs typeface="Arial"/>
              </a:rPr>
              <a:t>exporte</a:t>
            </a:r>
            <a:r>
              <a:rPr lang="en-US" sz="2000" spc="-16">
                <a:solidFill>
                  <a:srgbClr val="000000"/>
                </a:solidFill>
                <a:latin typeface="Arial"/>
                <a:cs typeface="Arial"/>
              </a:rPr>
              <a:t> do Postman </a:t>
            </a:r>
            <a:r>
              <a:rPr lang="en-US" sz="2000" spc="-16" err="1">
                <a:solidFill>
                  <a:srgbClr val="000000"/>
                </a:solidFill>
                <a:latin typeface="Arial"/>
                <a:cs typeface="Arial"/>
              </a:rPr>
              <a:t>ou</a:t>
            </a:r>
            <a:r>
              <a:rPr lang="en-US" sz="2000" spc="-16">
                <a:solidFill>
                  <a:srgbClr val="000000"/>
                </a:solidFill>
                <a:latin typeface="Arial"/>
                <a:cs typeface="Arial"/>
              </a:rPr>
              <a:t> do Insomnia as </a:t>
            </a:r>
            <a:r>
              <a:rPr lang="en-US" sz="2000" spc="-16" err="1">
                <a:solidFill>
                  <a:srgbClr val="000000"/>
                </a:solidFill>
                <a:latin typeface="Arial"/>
                <a:cs typeface="Arial"/>
              </a:rPr>
              <a:t>requisições</a:t>
            </a:r>
            <a:r>
              <a:rPr lang="en-US" sz="2000" spc="-16">
                <a:solidFill>
                  <a:srgbClr val="000000"/>
                </a:solidFill>
                <a:latin typeface="Arial"/>
                <a:cs typeface="Arial"/>
              </a:rPr>
              <a:t> </a:t>
            </a:r>
            <a:r>
              <a:rPr lang="en-US" sz="2000" spc="-16" err="1">
                <a:solidFill>
                  <a:srgbClr val="000000"/>
                </a:solidFill>
                <a:latin typeface="Arial"/>
                <a:cs typeface="Arial"/>
              </a:rPr>
              <a:t>aos</a:t>
            </a:r>
            <a:r>
              <a:rPr lang="en-US" sz="2000" spc="-16">
                <a:solidFill>
                  <a:srgbClr val="000000"/>
                </a:solidFill>
                <a:latin typeface="Arial"/>
                <a:cs typeface="Arial"/>
              </a:rPr>
              <a:t> endpoints). </a:t>
            </a:r>
            <a:r>
              <a:rPr lang="en-US" sz="2000" spc="-16" err="1">
                <a:solidFill>
                  <a:srgbClr val="000000"/>
                </a:solidFill>
                <a:latin typeface="Arial"/>
                <a:cs typeface="Arial"/>
              </a:rPr>
              <a:t>Inclua</a:t>
            </a:r>
            <a:r>
              <a:rPr lang="en-US" sz="2000" spc="-16">
                <a:solidFill>
                  <a:srgbClr val="000000"/>
                </a:solidFill>
                <a:latin typeface="Arial"/>
                <a:cs typeface="Arial"/>
              </a:rPr>
              <a:t> </a:t>
            </a:r>
            <a:r>
              <a:rPr lang="en-US" sz="2000" spc="-16" err="1">
                <a:solidFill>
                  <a:srgbClr val="000000"/>
                </a:solidFill>
                <a:latin typeface="Arial"/>
                <a:cs typeface="Arial"/>
              </a:rPr>
              <a:t>na</a:t>
            </a:r>
            <a:r>
              <a:rPr lang="en-US" sz="2000" spc="-16">
                <a:solidFill>
                  <a:srgbClr val="000000"/>
                </a:solidFill>
                <a:latin typeface="Arial"/>
                <a:cs typeface="Arial"/>
              </a:rPr>
              <a:t> pasta </a:t>
            </a:r>
            <a:r>
              <a:rPr lang="en-US" sz="2000" spc="-16" err="1">
                <a:solidFill>
                  <a:srgbClr val="000000"/>
                </a:solidFill>
                <a:latin typeface="Arial"/>
                <a:cs typeface="Arial"/>
              </a:rPr>
              <a:t>documentos</a:t>
            </a:r>
            <a:r>
              <a:rPr lang="en-US" sz="2000" spc="-16">
                <a:solidFill>
                  <a:srgbClr val="000000"/>
                </a:solidFill>
                <a:latin typeface="Arial"/>
                <a:cs typeface="Arial"/>
              </a:rPr>
              <a:t> do </a:t>
            </a:r>
            <a:r>
              <a:rPr lang="en-US" sz="2000" spc="-16" err="1">
                <a:solidFill>
                  <a:srgbClr val="000000"/>
                </a:solidFill>
                <a:latin typeface="Arial"/>
                <a:cs typeface="Arial"/>
              </a:rPr>
              <a:t>projeto</a:t>
            </a:r>
            <a:r>
              <a:rPr lang="en-US" sz="2000" spc="-16">
                <a:solidFill>
                  <a:srgbClr val="000000"/>
                </a:solidFill>
                <a:latin typeface="Arial"/>
                <a:cs typeface="Arial"/>
              </a:rPr>
              <a:t>.</a:t>
            </a:r>
          </a:p>
          <a:p>
            <a:pPr marL="20320">
              <a:spcBef>
                <a:spcPts val="160"/>
              </a:spcBef>
            </a:pPr>
            <a:endParaRPr lang="en-US" sz="2000" b="1" spc="-16">
              <a:latin typeface="Arial"/>
              <a:cs typeface="Arial"/>
            </a:endParaRPr>
          </a:p>
          <a:p>
            <a:pPr marL="20320">
              <a:spcBef>
                <a:spcPts val="160"/>
              </a:spcBef>
            </a:pPr>
            <a:endParaRPr lang="en-US" sz="2000" spc="-16">
              <a:latin typeface="Arial"/>
              <a:cs typeface="Arial"/>
            </a:endParaRPr>
          </a:p>
        </p:txBody>
      </p:sp>
    </p:spTree>
    <p:extLst>
      <p:ext uri="{BB962C8B-B14F-4D97-AF65-F5344CB8AC3E}">
        <p14:creationId xmlns:p14="http://schemas.microsoft.com/office/powerpoint/2010/main" val="2956148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DAD64-FD3E-D9CE-CB34-8C5B25DE18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9CC1EE-DD5F-E21B-410D-5DD6A89C0CA0}"/>
              </a:ext>
            </a:extLst>
          </p:cNvPr>
          <p:cNvSpPr>
            <a:spLocks noGrp="1"/>
          </p:cNvSpPr>
          <p:nvPr>
            <p:ph type="title"/>
          </p:nvPr>
        </p:nvSpPr>
        <p:spPr/>
        <p:txBody>
          <a:bodyPr/>
          <a:lstStyle/>
          <a:p>
            <a:r>
              <a:rPr lang="en-US">
                <a:latin typeface="Gotham HTF Book"/>
              </a:rPr>
              <a:t>JAVA ADVANCED</a:t>
            </a:r>
            <a:endParaRPr lang="pt-BR" sz="1100" b="0">
              <a:latin typeface="Aptos"/>
            </a:endParaRPr>
          </a:p>
        </p:txBody>
      </p:sp>
      <p:sp>
        <p:nvSpPr>
          <p:cNvPr id="4" name="Espaço Reservado para Texto 3">
            <a:extLst>
              <a:ext uri="{FF2B5EF4-FFF2-40B4-BE49-F238E27FC236}">
                <a16:creationId xmlns:a16="http://schemas.microsoft.com/office/drawing/2014/main" id="{B54447AF-F601-90D0-C7C3-0BCC9986F5B2}"/>
              </a:ext>
            </a:extLst>
          </p:cNvPr>
          <p:cNvSpPr>
            <a:spLocks noGrp="1"/>
          </p:cNvSpPr>
          <p:nvPr>
            <p:ph type="body" sz="quarter" idx="13"/>
          </p:nvPr>
        </p:nvSpPr>
        <p:spPr/>
        <p:txBody>
          <a:bodyPr/>
          <a:lstStyle/>
          <a:p>
            <a:r>
              <a:rPr lang="pt-BR"/>
              <a:t>ENTREGA - 1º SPRINT</a:t>
            </a:r>
          </a:p>
        </p:txBody>
      </p:sp>
      <p:sp>
        <p:nvSpPr>
          <p:cNvPr id="5" name="object 3">
            <a:extLst>
              <a:ext uri="{FF2B5EF4-FFF2-40B4-BE49-F238E27FC236}">
                <a16:creationId xmlns:a16="http://schemas.microsoft.com/office/drawing/2014/main" id="{BDF7CE68-095D-AD77-7A23-E8A4D2D794CC}"/>
              </a:ext>
            </a:extLst>
          </p:cNvPr>
          <p:cNvSpPr txBox="1"/>
          <p:nvPr/>
        </p:nvSpPr>
        <p:spPr>
          <a:xfrm>
            <a:off x="839708" y="1454667"/>
            <a:ext cx="10644591" cy="4796185"/>
          </a:xfrm>
          <a:prstGeom prst="rect">
            <a:avLst/>
          </a:prstGeom>
        </p:spPr>
        <p:txBody>
          <a:bodyPr vert="horz" wrap="square" lIns="0" tIns="25400" rIns="0" bIns="0" rtlCol="0" anchor="t">
            <a:spAutoFit/>
          </a:bodyPr>
          <a:lstStyle>
            <a:defPPr>
              <a:defRPr kern="0"/>
            </a:defPPr>
          </a:lstStyle>
          <a:p>
            <a:pPr marL="20320">
              <a:spcBef>
                <a:spcPts val="160"/>
              </a:spcBef>
            </a:pPr>
            <a:r>
              <a:rPr lang="en-US" sz="2000" b="1" spc="-16">
                <a:solidFill>
                  <a:srgbClr val="000000"/>
                </a:solidFill>
                <a:latin typeface="Arial"/>
                <a:cs typeface="Arial"/>
              </a:rPr>
              <a:t>- </a:t>
            </a:r>
            <a:r>
              <a:rPr lang="en-US" sz="2000" b="1" spc="-16" err="1">
                <a:solidFill>
                  <a:srgbClr val="000000"/>
                </a:solidFill>
                <a:latin typeface="Arial"/>
                <a:cs typeface="Arial"/>
              </a:rPr>
              <a:t>Distribuição</a:t>
            </a:r>
            <a:r>
              <a:rPr lang="en-US" sz="2000" b="1" spc="-16">
                <a:solidFill>
                  <a:srgbClr val="000000"/>
                </a:solidFill>
                <a:latin typeface="Arial"/>
                <a:cs typeface="Arial"/>
              </a:rPr>
              <a:t> da </a:t>
            </a:r>
            <a:r>
              <a:rPr lang="en-US" sz="2000" b="1" spc="-16" err="1">
                <a:solidFill>
                  <a:srgbClr val="000000"/>
                </a:solidFill>
                <a:latin typeface="Arial"/>
                <a:cs typeface="Arial"/>
              </a:rPr>
              <a:t>pontuação</a:t>
            </a:r>
            <a:r>
              <a:rPr lang="en-US" sz="2000" b="1" spc="-16">
                <a:solidFill>
                  <a:srgbClr val="000000"/>
                </a:solidFill>
                <a:latin typeface="Arial"/>
                <a:cs typeface="Arial"/>
              </a:rPr>
              <a:t>:</a:t>
            </a:r>
          </a:p>
          <a:p>
            <a:pPr>
              <a:spcBef>
                <a:spcPts val="152"/>
              </a:spcBef>
            </a:pPr>
            <a:endParaRPr lang="en-US" sz="2000" spc="-16">
              <a:latin typeface="Arial"/>
              <a:cs typeface="Arial"/>
            </a:endParaRPr>
          </a:p>
          <a:p>
            <a:pPr marL="20320" marR="10160" algn="just">
              <a:lnSpc>
                <a:spcPts val="2288"/>
              </a:lnSpc>
            </a:pPr>
            <a:r>
              <a:rPr lang="en-US" sz="2000" b="1" spc="-16" err="1">
                <a:solidFill>
                  <a:srgbClr val="000000"/>
                </a:solidFill>
                <a:latin typeface="Arial"/>
                <a:cs typeface="Arial"/>
              </a:rPr>
              <a:t>até</a:t>
            </a:r>
            <a:r>
              <a:rPr lang="en-US" sz="2000" b="1" spc="-16">
                <a:solidFill>
                  <a:srgbClr val="000000"/>
                </a:solidFill>
                <a:latin typeface="Arial"/>
                <a:cs typeface="Arial"/>
              </a:rPr>
              <a:t> 10 Pontos: </a:t>
            </a:r>
            <a:r>
              <a:rPr lang="en-US" sz="2000" spc="-16">
                <a:solidFill>
                  <a:srgbClr val="000000"/>
                </a:solidFill>
                <a:latin typeface="Arial"/>
                <a:cs typeface="Arial"/>
              </a:rPr>
              <a:t>A </a:t>
            </a:r>
            <a:r>
              <a:rPr lang="en-US" sz="2000" spc="-16" err="1">
                <a:solidFill>
                  <a:srgbClr val="000000"/>
                </a:solidFill>
                <a:latin typeface="Arial"/>
                <a:cs typeface="Arial"/>
              </a:rPr>
              <a:t>Gestão</a:t>
            </a:r>
            <a:r>
              <a:rPr lang="en-US" sz="2000" spc="-16">
                <a:solidFill>
                  <a:srgbClr val="000000"/>
                </a:solidFill>
                <a:latin typeface="Arial"/>
                <a:cs typeface="Arial"/>
              </a:rPr>
              <a:t> de </a:t>
            </a:r>
            <a:r>
              <a:rPr lang="en-US" sz="2000" spc="-16" err="1">
                <a:solidFill>
                  <a:srgbClr val="000000"/>
                </a:solidFill>
                <a:latin typeface="Arial"/>
                <a:cs typeface="Arial"/>
              </a:rPr>
              <a:t>Configuração</a:t>
            </a:r>
            <a:r>
              <a:rPr lang="en-US" sz="2000" spc="-16">
                <a:solidFill>
                  <a:srgbClr val="000000"/>
                </a:solidFill>
                <a:latin typeface="Arial"/>
                <a:cs typeface="Arial"/>
              </a:rPr>
              <a:t> dos </a:t>
            </a:r>
            <a:r>
              <a:rPr lang="en-US" sz="2000" spc="-16" err="1">
                <a:solidFill>
                  <a:srgbClr val="000000"/>
                </a:solidFill>
                <a:latin typeface="Arial"/>
                <a:cs typeface="Arial"/>
              </a:rPr>
              <a:t>Artefatos</a:t>
            </a:r>
            <a:r>
              <a:rPr lang="en-US" sz="2000" spc="-16">
                <a:solidFill>
                  <a:srgbClr val="000000"/>
                </a:solidFill>
                <a:latin typeface="Arial"/>
                <a:cs typeface="Arial"/>
              </a:rPr>
              <a:t> de Software </a:t>
            </a:r>
            <a:r>
              <a:rPr lang="en-US" sz="2000" spc="-16" err="1">
                <a:solidFill>
                  <a:srgbClr val="000000"/>
                </a:solidFill>
                <a:latin typeface="Arial"/>
                <a:cs typeface="Arial"/>
              </a:rPr>
              <a:t>foram</a:t>
            </a:r>
            <a:r>
              <a:rPr lang="en-US" sz="2000" spc="-16">
                <a:solidFill>
                  <a:srgbClr val="000000"/>
                </a:solidFill>
                <a:latin typeface="Arial"/>
                <a:cs typeface="Arial"/>
              </a:rPr>
              <a:t> </a:t>
            </a:r>
            <a:r>
              <a:rPr lang="en-US" sz="2000" spc="-16" err="1">
                <a:solidFill>
                  <a:srgbClr val="000000"/>
                </a:solidFill>
                <a:latin typeface="Arial"/>
                <a:cs typeface="Arial"/>
              </a:rPr>
              <a:t>demonstrados</a:t>
            </a:r>
            <a:r>
              <a:rPr lang="en-US" sz="2000" spc="-16">
                <a:solidFill>
                  <a:srgbClr val="000000"/>
                </a:solidFill>
                <a:latin typeface="Arial"/>
                <a:cs typeface="Arial"/>
              </a:rPr>
              <a:t> pela equipe. Ou </a:t>
            </a:r>
            <a:r>
              <a:rPr lang="en-US" sz="2000" spc="-16" err="1">
                <a:solidFill>
                  <a:srgbClr val="000000"/>
                </a:solidFill>
                <a:latin typeface="Arial"/>
                <a:cs typeface="Arial"/>
              </a:rPr>
              <a:t>seja</a:t>
            </a:r>
            <a:r>
              <a:rPr lang="en-US" sz="2000" spc="-16">
                <a:solidFill>
                  <a:srgbClr val="000000"/>
                </a:solidFill>
                <a:latin typeface="Arial"/>
                <a:cs typeface="Arial"/>
              </a:rPr>
              <a:t>, </a:t>
            </a:r>
            <a:r>
              <a:rPr lang="en-US" sz="2000" spc="-16" err="1">
                <a:solidFill>
                  <a:srgbClr val="000000"/>
                </a:solidFill>
                <a:latin typeface="Arial"/>
                <a:cs typeface="Arial"/>
              </a:rPr>
              <a:t>todos</a:t>
            </a:r>
            <a:r>
              <a:rPr lang="en-US" sz="2000" spc="-16">
                <a:solidFill>
                  <a:srgbClr val="000000"/>
                </a:solidFill>
                <a:latin typeface="Arial"/>
                <a:cs typeface="Arial"/>
              </a:rPr>
              <a:t> </a:t>
            </a:r>
            <a:r>
              <a:rPr lang="en-US" sz="2000" spc="-16" err="1">
                <a:solidFill>
                  <a:srgbClr val="000000"/>
                </a:solidFill>
                <a:latin typeface="Arial"/>
                <a:cs typeface="Arial"/>
              </a:rPr>
              <a:t>os</a:t>
            </a:r>
            <a:r>
              <a:rPr lang="en-US" sz="2000" spc="-16">
                <a:solidFill>
                  <a:srgbClr val="000000"/>
                </a:solidFill>
                <a:latin typeface="Arial"/>
                <a:cs typeface="Arial"/>
              </a:rPr>
              <a:t> </a:t>
            </a:r>
            <a:r>
              <a:rPr lang="en-US" sz="2000" spc="-16" err="1">
                <a:solidFill>
                  <a:srgbClr val="000000"/>
                </a:solidFill>
                <a:latin typeface="Arial"/>
                <a:cs typeface="Arial"/>
              </a:rPr>
              <a:t>artefatos</a:t>
            </a:r>
            <a:r>
              <a:rPr lang="en-US" sz="2000" spc="-16">
                <a:solidFill>
                  <a:srgbClr val="000000"/>
                </a:solidFill>
                <a:latin typeface="Arial"/>
                <a:cs typeface="Arial"/>
              </a:rPr>
              <a:t> </a:t>
            </a:r>
            <a:r>
              <a:rPr lang="en-US" sz="2000" spc="-16" err="1">
                <a:solidFill>
                  <a:srgbClr val="000000"/>
                </a:solidFill>
                <a:latin typeface="Arial"/>
                <a:cs typeface="Arial"/>
              </a:rPr>
              <a:t>produzidos</a:t>
            </a:r>
            <a:r>
              <a:rPr lang="en-US" sz="2000" spc="-16">
                <a:solidFill>
                  <a:srgbClr val="000000"/>
                </a:solidFill>
                <a:latin typeface="Arial"/>
                <a:cs typeface="Arial"/>
              </a:rPr>
              <a:t> </a:t>
            </a:r>
            <a:r>
              <a:rPr lang="en-US" sz="2000" spc="-16" err="1">
                <a:solidFill>
                  <a:srgbClr val="000000"/>
                </a:solidFill>
                <a:latin typeface="Arial"/>
                <a:cs typeface="Arial"/>
              </a:rPr>
              <a:t>estão</a:t>
            </a:r>
            <a:r>
              <a:rPr lang="en-US" sz="2000" spc="-16">
                <a:solidFill>
                  <a:srgbClr val="000000"/>
                </a:solidFill>
                <a:latin typeface="Arial"/>
                <a:cs typeface="Arial"/>
              </a:rPr>
              <a:t> no </a:t>
            </a:r>
            <a:r>
              <a:rPr lang="en-US" sz="2000" spc="-16" err="1">
                <a:solidFill>
                  <a:srgbClr val="000000"/>
                </a:solidFill>
                <a:latin typeface="Arial"/>
                <a:cs typeface="Arial"/>
              </a:rPr>
              <a:t>Github</a:t>
            </a:r>
            <a:r>
              <a:rPr lang="en-US" sz="2000" spc="-16">
                <a:solidFill>
                  <a:srgbClr val="000000"/>
                </a:solidFill>
                <a:latin typeface="Arial"/>
                <a:cs typeface="Arial"/>
              </a:rPr>
              <a:t> e </a:t>
            </a:r>
            <a:r>
              <a:rPr lang="en-US" sz="2000" spc="-16" err="1">
                <a:solidFill>
                  <a:srgbClr val="000000"/>
                </a:solidFill>
                <a:latin typeface="Arial"/>
                <a:cs typeface="Arial"/>
              </a:rPr>
              <a:t>os</a:t>
            </a:r>
            <a:r>
              <a:rPr lang="en-US" sz="2000" spc="-16">
                <a:solidFill>
                  <a:srgbClr val="000000"/>
                </a:solidFill>
                <a:latin typeface="Arial"/>
                <a:cs typeface="Arial"/>
              </a:rPr>
              <a:t> </a:t>
            </a:r>
            <a:r>
              <a:rPr lang="en-US" sz="2000" spc="-16" err="1">
                <a:solidFill>
                  <a:srgbClr val="000000"/>
                </a:solidFill>
                <a:latin typeface="Arial"/>
                <a:cs typeface="Arial"/>
              </a:rPr>
              <a:t>professores</a:t>
            </a:r>
            <a:r>
              <a:rPr lang="en-US" sz="2000" spc="-16">
                <a:solidFill>
                  <a:srgbClr val="000000"/>
                </a:solidFill>
                <a:latin typeface="Arial"/>
                <a:cs typeface="Arial"/>
              </a:rPr>
              <a:t> </a:t>
            </a:r>
            <a:r>
              <a:rPr lang="en-US" sz="2000" spc="-16" err="1">
                <a:solidFill>
                  <a:srgbClr val="000000"/>
                </a:solidFill>
                <a:latin typeface="Arial"/>
                <a:cs typeface="Arial"/>
              </a:rPr>
              <a:t>têm</a:t>
            </a:r>
            <a:r>
              <a:rPr lang="en-US" sz="2000" spc="-16">
                <a:solidFill>
                  <a:srgbClr val="000000"/>
                </a:solidFill>
                <a:latin typeface="Arial"/>
                <a:cs typeface="Arial"/>
              </a:rPr>
              <a:t> </a:t>
            </a:r>
            <a:r>
              <a:rPr lang="en-US" sz="2000" spc="-16" err="1">
                <a:solidFill>
                  <a:srgbClr val="000000"/>
                </a:solidFill>
                <a:latin typeface="Arial"/>
                <a:cs typeface="Arial"/>
              </a:rPr>
              <a:t>acesso</a:t>
            </a:r>
            <a:r>
              <a:rPr lang="en-US" sz="2000" spc="-16">
                <a:solidFill>
                  <a:srgbClr val="000000"/>
                </a:solidFill>
                <a:latin typeface="Arial"/>
                <a:cs typeface="Arial"/>
              </a:rPr>
              <a:t> </a:t>
            </a:r>
            <a:r>
              <a:rPr lang="en-US" sz="2000" spc="-16" err="1">
                <a:solidFill>
                  <a:srgbClr val="000000"/>
                </a:solidFill>
                <a:latin typeface="Arial"/>
                <a:cs typeface="Arial"/>
              </a:rPr>
              <a:t>ao</a:t>
            </a:r>
            <a:r>
              <a:rPr lang="en-US" sz="2000" spc="-16">
                <a:solidFill>
                  <a:srgbClr val="000000"/>
                </a:solidFill>
                <a:latin typeface="Arial"/>
                <a:cs typeface="Arial"/>
              </a:rPr>
              <a:t> </a:t>
            </a:r>
            <a:r>
              <a:rPr lang="en-US" sz="2000" spc="-16" err="1">
                <a:solidFill>
                  <a:srgbClr val="000000"/>
                </a:solidFill>
                <a:latin typeface="Arial"/>
                <a:cs typeface="Arial"/>
              </a:rPr>
              <a:t>repositório</a:t>
            </a:r>
            <a:r>
              <a:rPr lang="en-US" sz="2000" spc="-16">
                <a:solidFill>
                  <a:srgbClr val="000000"/>
                </a:solidFill>
                <a:latin typeface="Arial"/>
                <a:cs typeface="Arial"/>
              </a:rPr>
              <a:t>;</a:t>
            </a:r>
          </a:p>
          <a:p>
            <a:pPr>
              <a:spcBef>
                <a:spcPts val="448"/>
              </a:spcBef>
            </a:pPr>
            <a:endParaRPr lang="en-US" sz="2000" spc="-16">
              <a:solidFill>
                <a:srgbClr val="000000"/>
              </a:solidFill>
              <a:latin typeface="Arial"/>
              <a:cs typeface="Arial"/>
            </a:endParaRPr>
          </a:p>
          <a:p>
            <a:pPr>
              <a:spcBef>
                <a:spcPts val="448"/>
              </a:spcBef>
            </a:pPr>
            <a:r>
              <a:rPr lang="en-US" sz="2000" b="1" spc="-16" err="1">
                <a:solidFill>
                  <a:srgbClr val="000000"/>
                </a:solidFill>
                <a:latin typeface="Arial"/>
                <a:cs typeface="Arial"/>
              </a:rPr>
              <a:t>até</a:t>
            </a:r>
            <a:r>
              <a:rPr lang="en-US" sz="2000" b="1" spc="-16">
                <a:solidFill>
                  <a:srgbClr val="000000"/>
                </a:solidFill>
                <a:latin typeface="Arial"/>
                <a:cs typeface="Arial"/>
              </a:rPr>
              <a:t> 10 </a:t>
            </a:r>
            <a:r>
              <a:rPr lang="en-US" sz="2000" b="1" spc="-16" err="1">
                <a:solidFill>
                  <a:srgbClr val="000000"/>
                </a:solidFill>
                <a:latin typeface="Arial"/>
                <a:cs typeface="Arial"/>
              </a:rPr>
              <a:t>pontos</a:t>
            </a:r>
            <a:r>
              <a:rPr lang="en-US" sz="2000" b="1" spc="-16">
                <a:solidFill>
                  <a:srgbClr val="000000"/>
                </a:solidFill>
                <a:latin typeface="Arial"/>
                <a:cs typeface="Arial"/>
              </a:rPr>
              <a:t>:</a:t>
            </a:r>
            <a:r>
              <a:rPr lang="en-US" sz="2000" spc="-16">
                <a:solidFill>
                  <a:srgbClr val="000000"/>
                </a:solidFill>
                <a:latin typeface="Arial"/>
                <a:cs typeface="Arial"/>
              </a:rPr>
              <a:t> </a:t>
            </a:r>
            <a:r>
              <a:rPr lang="en-US" sz="2000" spc="-16" err="1">
                <a:solidFill>
                  <a:srgbClr val="000000"/>
                </a:solidFill>
                <a:latin typeface="Arial"/>
                <a:cs typeface="Arial"/>
              </a:rPr>
              <a:t>Envio</a:t>
            </a:r>
            <a:r>
              <a:rPr lang="en-US" sz="2000" spc="-16">
                <a:solidFill>
                  <a:srgbClr val="000000"/>
                </a:solidFill>
                <a:latin typeface="Arial"/>
                <a:cs typeface="Arial"/>
              </a:rPr>
              <a:t> do link para o </a:t>
            </a:r>
            <a:r>
              <a:rPr lang="en-US" sz="2000" spc="-16" err="1">
                <a:solidFill>
                  <a:srgbClr val="000000"/>
                </a:solidFill>
                <a:latin typeface="Arial"/>
                <a:cs typeface="Arial"/>
              </a:rPr>
              <a:t>projeto</a:t>
            </a:r>
            <a:r>
              <a:rPr lang="en-US" sz="2000" spc="-16">
                <a:solidFill>
                  <a:srgbClr val="000000"/>
                </a:solidFill>
                <a:latin typeface="Arial"/>
                <a:cs typeface="Arial"/>
              </a:rPr>
              <a:t> </a:t>
            </a:r>
            <a:r>
              <a:rPr lang="en-US" sz="2000" spc="-16" err="1">
                <a:solidFill>
                  <a:srgbClr val="000000"/>
                </a:solidFill>
                <a:latin typeface="Arial"/>
                <a:cs typeface="Arial"/>
              </a:rPr>
              <a:t>público</a:t>
            </a:r>
            <a:r>
              <a:rPr lang="en-US" sz="2000" spc="-16">
                <a:solidFill>
                  <a:srgbClr val="000000"/>
                </a:solidFill>
                <a:latin typeface="Arial"/>
                <a:cs typeface="Arial"/>
              </a:rPr>
              <a:t> </a:t>
            </a:r>
            <a:r>
              <a:rPr lang="en-US" sz="2000" spc="-16" err="1">
                <a:solidFill>
                  <a:srgbClr val="000000"/>
                </a:solidFill>
                <a:latin typeface="Arial"/>
                <a:cs typeface="Arial"/>
              </a:rPr>
              <a:t>compartilhado</a:t>
            </a:r>
            <a:r>
              <a:rPr lang="en-US" sz="2000" spc="-16">
                <a:solidFill>
                  <a:srgbClr val="000000"/>
                </a:solidFill>
                <a:latin typeface="Arial"/>
                <a:cs typeface="Arial"/>
              </a:rPr>
              <a:t> no </a:t>
            </a:r>
            <a:r>
              <a:rPr lang="en-US" sz="2000" spc="-16" err="1">
                <a:solidFill>
                  <a:srgbClr val="000000"/>
                </a:solidFill>
                <a:latin typeface="Arial"/>
                <a:cs typeface="Arial"/>
              </a:rPr>
              <a:t>Github</a:t>
            </a:r>
            <a:endParaRPr lang="en-US" sz="2000" spc="-16">
              <a:latin typeface="Arial"/>
              <a:cs typeface="Arial"/>
            </a:endParaRPr>
          </a:p>
          <a:p>
            <a:pPr marL="342900" indent="-342900">
              <a:spcBef>
                <a:spcPts val="624"/>
              </a:spcBef>
              <a:buAutoNum type="alphaLcParenR"/>
            </a:pPr>
            <a:endParaRPr lang="en-US" sz="2000" spc="-16">
              <a:latin typeface="Arial"/>
              <a:cs typeface="Arial"/>
            </a:endParaRPr>
          </a:p>
          <a:p>
            <a:pPr marL="20320" marR="10160" algn="just">
              <a:lnSpc>
                <a:spcPts val="2288"/>
              </a:lnSpc>
            </a:pPr>
            <a:r>
              <a:rPr lang="en-US" sz="2000" b="1" spc="-16" err="1">
                <a:solidFill>
                  <a:srgbClr val="000000"/>
                </a:solidFill>
                <a:latin typeface="Arial"/>
                <a:cs typeface="Arial"/>
              </a:rPr>
              <a:t>até</a:t>
            </a:r>
            <a:r>
              <a:rPr lang="en-US" sz="2000" b="1" spc="-16">
                <a:solidFill>
                  <a:srgbClr val="000000"/>
                </a:solidFill>
                <a:latin typeface="Arial"/>
                <a:cs typeface="Arial"/>
              </a:rPr>
              <a:t> 10 </a:t>
            </a:r>
            <a:r>
              <a:rPr lang="en-US" sz="2000" b="1" spc="-16" err="1">
                <a:solidFill>
                  <a:srgbClr val="000000"/>
                </a:solidFill>
                <a:latin typeface="Arial"/>
                <a:cs typeface="Arial"/>
              </a:rPr>
              <a:t>pontos</a:t>
            </a:r>
            <a:r>
              <a:rPr lang="en-US" sz="2000" b="1" spc="-16">
                <a:solidFill>
                  <a:srgbClr val="000000"/>
                </a:solidFill>
                <a:latin typeface="Arial"/>
                <a:cs typeface="Arial"/>
              </a:rPr>
              <a:t>:</a:t>
            </a:r>
            <a:r>
              <a:rPr lang="en-US" sz="2000" spc="-16">
                <a:solidFill>
                  <a:srgbClr val="000000"/>
                </a:solidFill>
                <a:latin typeface="Arial"/>
                <a:cs typeface="Arial"/>
              </a:rPr>
              <a:t> Se a equipe </a:t>
            </a:r>
            <a:r>
              <a:rPr lang="en-US" sz="2000" spc="-16" err="1">
                <a:solidFill>
                  <a:srgbClr val="000000"/>
                </a:solidFill>
                <a:latin typeface="Arial"/>
                <a:cs typeface="Arial"/>
              </a:rPr>
              <a:t>demonstrou</a:t>
            </a:r>
            <a:r>
              <a:rPr lang="en-US" sz="2000" spc="-16">
                <a:solidFill>
                  <a:srgbClr val="000000"/>
                </a:solidFill>
                <a:latin typeface="Arial"/>
                <a:cs typeface="Arial"/>
              </a:rPr>
              <a:t> </a:t>
            </a:r>
            <a:r>
              <a:rPr lang="en-US" sz="2000" spc="-16" err="1">
                <a:solidFill>
                  <a:srgbClr val="000000"/>
                </a:solidFill>
                <a:latin typeface="Arial"/>
                <a:cs typeface="Arial"/>
              </a:rPr>
              <a:t>preocupação</a:t>
            </a:r>
            <a:r>
              <a:rPr lang="en-US" sz="2000" spc="-16">
                <a:solidFill>
                  <a:srgbClr val="000000"/>
                </a:solidFill>
                <a:latin typeface="Arial"/>
                <a:cs typeface="Arial"/>
              </a:rPr>
              <a:t> </a:t>
            </a:r>
            <a:r>
              <a:rPr lang="en-US" sz="2000" spc="-16" err="1">
                <a:solidFill>
                  <a:srgbClr val="000000"/>
                </a:solidFill>
                <a:latin typeface="Arial"/>
                <a:cs typeface="Arial"/>
              </a:rPr>
              <a:t>em</a:t>
            </a:r>
            <a:r>
              <a:rPr lang="en-US" sz="2000" spc="-16">
                <a:solidFill>
                  <a:srgbClr val="000000"/>
                </a:solidFill>
                <a:latin typeface="Arial"/>
                <a:cs typeface="Arial"/>
              </a:rPr>
              <a:t> </a:t>
            </a:r>
            <a:r>
              <a:rPr lang="en-US" sz="2000" spc="-16" err="1">
                <a:solidFill>
                  <a:srgbClr val="000000"/>
                </a:solidFill>
                <a:latin typeface="Arial"/>
                <a:cs typeface="Arial"/>
              </a:rPr>
              <a:t>testar</a:t>
            </a:r>
            <a:r>
              <a:rPr lang="en-US" sz="2000" spc="-16">
                <a:solidFill>
                  <a:srgbClr val="000000"/>
                </a:solidFill>
                <a:latin typeface="Arial"/>
                <a:cs typeface="Arial"/>
              </a:rPr>
              <a:t> a </a:t>
            </a:r>
            <a:r>
              <a:rPr lang="en-US" sz="2000" spc="-16" err="1">
                <a:solidFill>
                  <a:srgbClr val="000000"/>
                </a:solidFill>
                <a:latin typeface="Arial"/>
                <a:cs typeface="Arial"/>
              </a:rPr>
              <a:t>aplicação</a:t>
            </a:r>
            <a:r>
              <a:rPr lang="en-US" sz="2000" spc="-16">
                <a:solidFill>
                  <a:srgbClr val="000000"/>
                </a:solidFill>
                <a:latin typeface="Arial"/>
                <a:cs typeface="Arial"/>
              </a:rPr>
              <a:t> e </a:t>
            </a:r>
            <a:r>
              <a:rPr lang="en-US" sz="2000" spc="-16" err="1">
                <a:solidFill>
                  <a:srgbClr val="000000"/>
                </a:solidFill>
                <a:latin typeface="Arial"/>
                <a:cs typeface="Arial"/>
              </a:rPr>
              <a:t>provou</a:t>
            </a:r>
            <a:r>
              <a:rPr lang="en-US" sz="2000" spc="-16">
                <a:solidFill>
                  <a:srgbClr val="000000"/>
                </a:solidFill>
                <a:latin typeface="Arial"/>
                <a:cs typeface="Arial"/>
              </a:rPr>
              <a:t> com </a:t>
            </a:r>
            <a:r>
              <a:rPr lang="en-US" sz="2000" spc="-16" err="1">
                <a:solidFill>
                  <a:srgbClr val="000000"/>
                </a:solidFill>
                <a:latin typeface="Arial"/>
                <a:cs typeface="Arial"/>
              </a:rPr>
              <a:t>documentos</a:t>
            </a:r>
            <a:r>
              <a:rPr lang="en-US" sz="2000" spc="-16">
                <a:solidFill>
                  <a:srgbClr val="000000"/>
                </a:solidFill>
                <a:latin typeface="Arial"/>
                <a:cs typeface="Arial"/>
              </a:rPr>
              <a:t>. </a:t>
            </a:r>
            <a:r>
              <a:rPr lang="en-US" sz="2000" spc="-16" err="1">
                <a:solidFill>
                  <a:srgbClr val="000000"/>
                </a:solidFill>
                <a:latin typeface="Arial"/>
                <a:cs typeface="Arial"/>
              </a:rPr>
              <a:t>Disponibilizou</a:t>
            </a:r>
            <a:r>
              <a:rPr lang="en-US" sz="2000" spc="-16">
                <a:solidFill>
                  <a:srgbClr val="000000"/>
                </a:solidFill>
                <a:latin typeface="Arial"/>
                <a:cs typeface="Arial"/>
              </a:rPr>
              <a:t> </a:t>
            </a:r>
            <a:r>
              <a:rPr lang="en-US" sz="2000" spc="-16" err="1">
                <a:solidFill>
                  <a:srgbClr val="000000"/>
                </a:solidFill>
                <a:latin typeface="Arial"/>
                <a:cs typeface="Arial"/>
              </a:rPr>
              <a:t>arquivos</a:t>
            </a:r>
            <a:r>
              <a:rPr lang="en-US" sz="2000" spc="-16">
                <a:solidFill>
                  <a:srgbClr val="000000"/>
                </a:solidFill>
                <a:latin typeface="Arial"/>
                <a:cs typeface="Arial"/>
              </a:rPr>
              <a:t> para </a:t>
            </a:r>
            <a:r>
              <a:rPr lang="en-US" sz="2000" spc="-16" err="1">
                <a:solidFill>
                  <a:srgbClr val="000000"/>
                </a:solidFill>
                <a:latin typeface="Arial"/>
                <a:cs typeface="Arial"/>
              </a:rPr>
              <a:t>que</a:t>
            </a:r>
            <a:r>
              <a:rPr lang="en-US" sz="2000" spc="-16">
                <a:solidFill>
                  <a:srgbClr val="000000"/>
                </a:solidFill>
                <a:latin typeface="Arial"/>
                <a:cs typeface="Arial"/>
              </a:rPr>
              <a:t> o professor </a:t>
            </a:r>
            <a:r>
              <a:rPr lang="en-US" sz="2000" spc="-16" err="1">
                <a:solidFill>
                  <a:srgbClr val="000000"/>
                </a:solidFill>
                <a:latin typeface="Arial"/>
                <a:cs typeface="Arial"/>
              </a:rPr>
              <a:t>seja</a:t>
            </a:r>
            <a:r>
              <a:rPr lang="en-US" sz="2000" spc="-16">
                <a:solidFill>
                  <a:srgbClr val="000000"/>
                </a:solidFill>
                <a:latin typeface="Arial"/>
                <a:cs typeface="Arial"/>
              </a:rPr>
              <a:t> </a:t>
            </a:r>
            <a:r>
              <a:rPr lang="en-US" sz="2000" spc="-16" err="1">
                <a:solidFill>
                  <a:srgbClr val="000000"/>
                </a:solidFill>
                <a:latin typeface="Arial"/>
                <a:cs typeface="Arial"/>
              </a:rPr>
              <a:t>capaz</a:t>
            </a:r>
            <a:r>
              <a:rPr lang="en-US" sz="2000" spc="-16">
                <a:solidFill>
                  <a:srgbClr val="000000"/>
                </a:solidFill>
                <a:latin typeface="Arial"/>
                <a:cs typeface="Arial"/>
              </a:rPr>
              <a:t> de </a:t>
            </a:r>
            <a:r>
              <a:rPr lang="en-US" sz="2000" spc="-16" err="1">
                <a:solidFill>
                  <a:srgbClr val="000000"/>
                </a:solidFill>
                <a:latin typeface="Arial"/>
                <a:cs typeface="Arial"/>
              </a:rPr>
              <a:t>realizar</a:t>
            </a:r>
            <a:r>
              <a:rPr lang="en-US" sz="2000" spc="-16">
                <a:solidFill>
                  <a:srgbClr val="000000"/>
                </a:solidFill>
                <a:latin typeface="Arial"/>
                <a:cs typeface="Arial"/>
              </a:rPr>
              <a:t> teste dos endpoints e </a:t>
            </a:r>
            <a:r>
              <a:rPr lang="en-US" sz="2000" spc="-16" err="1">
                <a:solidFill>
                  <a:srgbClr val="000000"/>
                </a:solidFill>
                <a:latin typeface="Arial"/>
                <a:cs typeface="Arial"/>
              </a:rPr>
              <a:t>houve</a:t>
            </a:r>
            <a:r>
              <a:rPr lang="en-US" sz="2000" spc="-16">
                <a:solidFill>
                  <a:srgbClr val="000000"/>
                </a:solidFill>
                <a:latin typeface="Arial"/>
                <a:cs typeface="Arial"/>
              </a:rPr>
              <a:t>, </a:t>
            </a:r>
            <a:r>
              <a:rPr lang="en-US" sz="2000" spc="-16" err="1">
                <a:solidFill>
                  <a:srgbClr val="000000"/>
                </a:solidFill>
                <a:latin typeface="Arial"/>
                <a:cs typeface="Arial"/>
              </a:rPr>
              <a:t>após</a:t>
            </a:r>
            <a:r>
              <a:rPr lang="en-US" sz="2000" spc="-16">
                <a:solidFill>
                  <a:srgbClr val="000000"/>
                </a:solidFill>
                <a:latin typeface="Arial"/>
                <a:cs typeface="Arial"/>
              </a:rPr>
              <a:t> </a:t>
            </a:r>
            <a:r>
              <a:rPr lang="en-US" sz="2000" spc="-16" err="1">
                <a:solidFill>
                  <a:srgbClr val="000000"/>
                </a:solidFill>
                <a:latin typeface="Arial"/>
                <a:cs typeface="Arial"/>
              </a:rPr>
              <a:t>os</a:t>
            </a:r>
            <a:r>
              <a:rPr lang="en-US" sz="2000" spc="-16">
                <a:solidFill>
                  <a:srgbClr val="000000"/>
                </a:solidFill>
                <a:latin typeface="Arial"/>
                <a:cs typeface="Arial"/>
              </a:rPr>
              <a:t> testes, a </a:t>
            </a:r>
            <a:r>
              <a:rPr lang="en-US" sz="2000" spc="-16" err="1">
                <a:solidFill>
                  <a:srgbClr val="000000"/>
                </a:solidFill>
                <a:latin typeface="Arial"/>
                <a:cs typeface="Arial"/>
              </a:rPr>
              <a:t>perfeita</a:t>
            </a:r>
            <a:r>
              <a:rPr lang="en-US" sz="2000" spc="-16">
                <a:solidFill>
                  <a:srgbClr val="000000"/>
                </a:solidFill>
                <a:latin typeface="Arial"/>
                <a:cs typeface="Arial"/>
              </a:rPr>
              <a:t> </a:t>
            </a:r>
            <a:r>
              <a:rPr lang="en-US" sz="2000" spc="-16" err="1">
                <a:solidFill>
                  <a:srgbClr val="000000"/>
                </a:solidFill>
                <a:latin typeface="Arial"/>
                <a:cs typeface="Arial"/>
              </a:rPr>
              <a:t>persistência</a:t>
            </a:r>
            <a:r>
              <a:rPr lang="en-US" sz="2000" spc="-16">
                <a:solidFill>
                  <a:srgbClr val="000000"/>
                </a:solidFill>
                <a:latin typeface="Arial"/>
                <a:cs typeface="Arial"/>
              </a:rPr>
              <a:t> e </a:t>
            </a:r>
            <a:r>
              <a:rPr lang="en-US" sz="2000" spc="-16" err="1">
                <a:solidFill>
                  <a:srgbClr val="000000"/>
                </a:solidFill>
                <a:latin typeface="Arial"/>
                <a:cs typeface="Arial"/>
              </a:rPr>
              <a:t>recuperação</a:t>
            </a:r>
            <a:r>
              <a:rPr lang="en-US" sz="2000" spc="-16">
                <a:solidFill>
                  <a:srgbClr val="000000"/>
                </a:solidFill>
                <a:latin typeface="Arial"/>
                <a:cs typeface="Arial"/>
              </a:rPr>
              <a:t> dos dados. (</a:t>
            </a:r>
            <a:r>
              <a:rPr lang="en-US" sz="2000" spc="-16" err="1">
                <a:solidFill>
                  <a:srgbClr val="000000"/>
                </a:solidFill>
                <a:latin typeface="Arial"/>
                <a:cs typeface="Arial"/>
              </a:rPr>
              <a:t>exporte</a:t>
            </a:r>
            <a:r>
              <a:rPr lang="en-US" sz="2000" spc="-16">
                <a:solidFill>
                  <a:srgbClr val="000000"/>
                </a:solidFill>
                <a:latin typeface="Arial"/>
                <a:cs typeface="Arial"/>
              </a:rPr>
              <a:t> do Postman </a:t>
            </a:r>
            <a:r>
              <a:rPr lang="en-US" sz="2000" spc="-16" err="1">
                <a:solidFill>
                  <a:srgbClr val="000000"/>
                </a:solidFill>
                <a:latin typeface="Arial"/>
                <a:cs typeface="Arial"/>
              </a:rPr>
              <a:t>ou</a:t>
            </a:r>
            <a:r>
              <a:rPr lang="en-US" sz="2000" spc="-16">
                <a:solidFill>
                  <a:srgbClr val="000000"/>
                </a:solidFill>
                <a:latin typeface="Arial"/>
                <a:cs typeface="Arial"/>
              </a:rPr>
              <a:t> do Insomnia as </a:t>
            </a:r>
            <a:r>
              <a:rPr lang="en-US" sz="2000" spc="-16" err="1">
                <a:solidFill>
                  <a:srgbClr val="000000"/>
                </a:solidFill>
                <a:latin typeface="Arial"/>
                <a:cs typeface="Arial"/>
              </a:rPr>
              <a:t>requisições</a:t>
            </a:r>
            <a:r>
              <a:rPr lang="en-US" sz="2000" spc="-16">
                <a:solidFill>
                  <a:srgbClr val="000000"/>
                </a:solidFill>
                <a:latin typeface="Arial"/>
                <a:cs typeface="Arial"/>
              </a:rPr>
              <a:t> </a:t>
            </a:r>
            <a:r>
              <a:rPr lang="en-US" sz="2000" spc="-16" err="1">
                <a:solidFill>
                  <a:srgbClr val="000000"/>
                </a:solidFill>
                <a:latin typeface="Arial"/>
                <a:cs typeface="Arial"/>
              </a:rPr>
              <a:t>aos</a:t>
            </a:r>
            <a:r>
              <a:rPr lang="en-US" sz="2000" spc="-16">
                <a:solidFill>
                  <a:srgbClr val="000000"/>
                </a:solidFill>
                <a:latin typeface="Arial"/>
                <a:cs typeface="Arial"/>
              </a:rPr>
              <a:t> endpoints). </a:t>
            </a:r>
            <a:r>
              <a:rPr lang="en-US" sz="2000" spc="-16" err="1">
                <a:solidFill>
                  <a:srgbClr val="000000"/>
                </a:solidFill>
                <a:latin typeface="Arial"/>
                <a:cs typeface="Arial"/>
              </a:rPr>
              <a:t>Inclua</a:t>
            </a:r>
            <a:r>
              <a:rPr lang="en-US" sz="2000" spc="-16">
                <a:solidFill>
                  <a:srgbClr val="000000"/>
                </a:solidFill>
                <a:latin typeface="Arial"/>
                <a:cs typeface="Arial"/>
              </a:rPr>
              <a:t> </a:t>
            </a:r>
            <a:r>
              <a:rPr lang="en-US" sz="2000" spc="-16" err="1">
                <a:solidFill>
                  <a:srgbClr val="000000"/>
                </a:solidFill>
                <a:latin typeface="Arial"/>
                <a:cs typeface="Arial"/>
              </a:rPr>
              <a:t>na</a:t>
            </a:r>
            <a:r>
              <a:rPr lang="en-US" sz="2000" spc="-16">
                <a:solidFill>
                  <a:srgbClr val="000000"/>
                </a:solidFill>
                <a:latin typeface="Arial"/>
                <a:cs typeface="Arial"/>
              </a:rPr>
              <a:t> pasta </a:t>
            </a:r>
            <a:r>
              <a:rPr lang="en-US" sz="2000" spc="-16" err="1">
                <a:solidFill>
                  <a:srgbClr val="000000"/>
                </a:solidFill>
                <a:latin typeface="Arial"/>
                <a:cs typeface="Arial"/>
              </a:rPr>
              <a:t>documentos</a:t>
            </a:r>
            <a:r>
              <a:rPr lang="en-US" sz="2000" spc="-16">
                <a:solidFill>
                  <a:srgbClr val="000000"/>
                </a:solidFill>
                <a:latin typeface="Arial"/>
                <a:cs typeface="Arial"/>
              </a:rPr>
              <a:t> do </a:t>
            </a:r>
            <a:r>
              <a:rPr lang="en-US" sz="2000" spc="-16" err="1">
                <a:solidFill>
                  <a:srgbClr val="000000"/>
                </a:solidFill>
                <a:latin typeface="Arial"/>
                <a:cs typeface="Arial"/>
              </a:rPr>
              <a:t>projeto</a:t>
            </a:r>
            <a:r>
              <a:rPr lang="en-US" sz="2000" spc="-16">
                <a:solidFill>
                  <a:srgbClr val="000000"/>
                </a:solidFill>
                <a:latin typeface="Arial"/>
                <a:cs typeface="Arial"/>
              </a:rPr>
              <a:t>.</a:t>
            </a:r>
          </a:p>
          <a:p>
            <a:pPr marL="20320">
              <a:spcBef>
                <a:spcPts val="160"/>
              </a:spcBef>
            </a:pPr>
            <a:endParaRPr lang="en-US" sz="2000" b="1" spc="-16">
              <a:latin typeface="Arial"/>
              <a:cs typeface="Arial"/>
            </a:endParaRPr>
          </a:p>
          <a:p>
            <a:pPr marL="20320">
              <a:spcBef>
                <a:spcPts val="160"/>
              </a:spcBef>
            </a:pPr>
            <a:endParaRPr lang="en-US" sz="2000" spc="-16">
              <a:latin typeface="Arial"/>
              <a:cs typeface="Arial"/>
            </a:endParaRPr>
          </a:p>
        </p:txBody>
      </p:sp>
    </p:spTree>
    <p:extLst>
      <p:ext uri="{BB962C8B-B14F-4D97-AF65-F5344CB8AC3E}">
        <p14:creationId xmlns:p14="http://schemas.microsoft.com/office/powerpoint/2010/main" val="636794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84121-A0F7-83D3-18B2-6D53BB52AC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5EB8AD-DC7F-5AFE-E430-AC383DECBCF7}"/>
              </a:ext>
            </a:extLst>
          </p:cNvPr>
          <p:cNvSpPr>
            <a:spLocks noGrp="1"/>
          </p:cNvSpPr>
          <p:nvPr>
            <p:ph type="title"/>
          </p:nvPr>
        </p:nvSpPr>
        <p:spPr>
          <a:xfrm>
            <a:off x="838200" y="365125"/>
            <a:ext cx="11594504" cy="1325563"/>
          </a:xfrm>
        </p:spPr>
        <p:txBody>
          <a:bodyPr>
            <a:normAutofit/>
          </a:bodyPr>
          <a:lstStyle/>
          <a:p>
            <a:r>
              <a:rPr lang="en-US" sz="3200"/>
              <a:t>MASTERING RELATIONAL AND NON-RELATIONAL DATABASE</a:t>
            </a:r>
            <a:endParaRPr lang="pt-BR" sz="3200"/>
          </a:p>
        </p:txBody>
      </p:sp>
      <p:sp>
        <p:nvSpPr>
          <p:cNvPr id="3" name="Espaço Reservado para Conteúdo 2">
            <a:extLst>
              <a:ext uri="{FF2B5EF4-FFF2-40B4-BE49-F238E27FC236}">
                <a16:creationId xmlns:a16="http://schemas.microsoft.com/office/drawing/2014/main" id="{9F539A99-8C45-5ADA-87F8-254AD68A04F4}"/>
              </a:ext>
            </a:extLst>
          </p:cNvPr>
          <p:cNvSpPr>
            <a:spLocks noGrp="1"/>
          </p:cNvSpPr>
          <p:nvPr>
            <p:ph idx="1"/>
          </p:nvPr>
        </p:nvSpPr>
        <p:spPr>
          <a:xfrm>
            <a:off x="838199" y="1613976"/>
            <a:ext cx="11224853" cy="5032376"/>
          </a:xfrm>
        </p:spPr>
        <p:txBody>
          <a:bodyPr vert="horz" lIns="91440" tIns="45720" rIns="91440" bIns="45720" rtlCol="0" anchor="t">
            <a:noAutofit/>
          </a:bodyPr>
          <a:lstStyle/>
          <a:p>
            <a:r>
              <a:rPr lang="pt-BR" sz="1600"/>
              <a:t>Entregar o Projeto de Banco de Dados Relacional, compondo:</a:t>
            </a:r>
          </a:p>
          <a:p>
            <a:pPr>
              <a:lnSpc>
                <a:spcPct val="150000"/>
              </a:lnSpc>
            </a:pPr>
            <a:r>
              <a:rPr lang="pt-BR" sz="1600">
                <a:latin typeface="Gotham HTF Book"/>
                <a:cs typeface="Arial"/>
              </a:rPr>
              <a:t>Modelo descritivo, descrevendo a estrutura de armazenamento. </a:t>
            </a:r>
            <a:endParaRPr lang="pt-BR">
              <a:cs typeface="Arial"/>
            </a:endParaRPr>
          </a:p>
          <a:p>
            <a:r>
              <a:rPr lang="pt-BR" sz="1600">
                <a:latin typeface="Arial"/>
                <a:cs typeface="Arial"/>
              </a:rPr>
              <a:t>Modelagem:  (10  </a:t>
            </a:r>
            <a:r>
              <a:rPr lang="pt-BR" sz="1600" err="1">
                <a:latin typeface="Arial"/>
                <a:cs typeface="Arial"/>
              </a:rPr>
              <a:t>pts</a:t>
            </a:r>
            <a:r>
              <a:rPr lang="pt-BR" sz="1600">
                <a:latin typeface="Arial"/>
                <a:cs typeface="Arial"/>
              </a:rPr>
              <a:t>)</a:t>
            </a:r>
          </a:p>
          <a:p>
            <a:r>
              <a:rPr lang="pt-BR" sz="1600">
                <a:latin typeface="Arial"/>
                <a:cs typeface="Arial"/>
              </a:rPr>
              <a:t>Os Diagramas deverão ser construídos no Oracle Data </a:t>
            </a:r>
            <a:r>
              <a:rPr lang="pt-BR" sz="1600" err="1">
                <a:latin typeface="Arial"/>
                <a:cs typeface="Arial"/>
              </a:rPr>
              <a:t>Modeler</a:t>
            </a:r>
            <a:r>
              <a:rPr lang="pt-BR" sz="1600">
                <a:latin typeface="Arial"/>
                <a:cs typeface="Arial"/>
              </a:rPr>
              <a:t>, cumprindo a notação DER-(</a:t>
            </a:r>
            <a:r>
              <a:rPr lang="pt-BR" sz="1600" err="1">
                <a:latin typeface="Arial"/>
                <a:cs typeface="Arial"/>
              </a:rPr>
              <a:t>Logical</a:t>
            </a:r>
            <a:r>
              <a:rPr lang="pt-BR" sz="1600">
                <a:latin typeface="Arial"/>
                <a:cs typeface="Arial"/>
              </a:rPr>
              <a:t> Model) e o MER-(</a:t>
            </a:r>
            <a:r>
              <a:rPr lang="pt-BR" sz="1600" err="1">
                <a:latin typeface="Arial"/>
                <a:cs typeface="Arial"/>
              </a:rPr>
              <a:t>Physical</a:t>
            </a:r>
            <a:r>
              <a:rPr lang="pt-BR" sz="1600">
                <a:latin typeface="Arial"/>
                <a:cs typeface="Arial"/>
              </a:rPr>
              <a:t> Model). Deverá ser utilizado obrigatoriamente a notação de Barker para o DER-(</a:t>
            </a:r>
            <a:r>
              <a:rPr lang="pt-BR" sz="1600" err="1">
                <a:latin typeface="Arial"/>
                <a:cs typeface="Arial"/>
              </a:rPr>
              <a:t>Logical</a:t>
            </a:r>
            <a:r>
              <a:rPr lang="pt-BR" sz="1600">
                <a:latin typeface="Arial"/>
                <a:cs typeface="Arial"/>
              </a:rPr>
              <a:t> Model) e no mínimo estar na 3ª Forma Normal (3FN). As tabelas devem coincidir com os objetos desenvolvidos no Front/Back do seu trabalho de codificação.</a:t>
            </a:r>
            <a:endParaRPr lang="pt-BR">
              <a:cs typeface="Arial"/>
            </a:endParaRPr>
          </a:p>
          <a:p>
            <a:r>
              <a:rPr lang="pt-BR" sz="1600">
                <a:latin typeface="Gotham HTF Book"/>
                <a:cs typeface="Arial"/>
              </a:rPr>
              <a:t>Scripts DDL: crie os scripts com os comandos DDL gerado pelo Oracle Data </a:t>
            </a:r>
            <a:r>
              <a:rPr lang="pt-BR" sz="1600" err="1">
                <a:latin typeface="Gotham HTF Book"/>
                <a:cs typeface="Arial"/>
              </a:rPr>
              <a:t>Modeler</a:t>
            </a:r>
            <a:r>
              <a:rPr lang="pt-BR" sz="1600">
                <a:latin typeface="Gotham HTF Book"/>
                <a:cs typeface="Arial"/>
              </a:rPr>
              <a:t>. Execute o script no banco de dados Oracle. (10 </a:t>
            </a:r>
            <a:r>
              <a:rPr lang="pt-BR" sz="1600" err="1">
                <a:latin typeface="Gotham HTF Book"/>
                <a:cs typeface="Arial"/>
              </a:rPr>
              <a:t>pts</a:t>
            </a:r>
            <a:r>
              <a:rPr lang="pt-BR" sz="1600">
                <a:latin typeface="Gotham HTF Book"/>
                <a:cs typeface="Arial"/>
              </a:rPr>
              <a:t>)</a:t>
            </a:r>
            <a:endParaRPr lang="pt-BR"/>
          </a:p>
        </p:txBody>
      </p:sp>
      <p:sp>
        <p:nvSpPr>
          <p:cNvPr id="4" name="Espaço Reservado para Texto 3">
            <a:extLst>
              <a:ext uri="{FF2B5EF4-FFF2-40B4-BE49-F238E27FC236}">
                <a16:creationId xmlns:a16="http://schemas.microsoft.com/office/drawing/2014/main" id="{8CB065E5-66A3-D27D-E46B-709119440F39}"/>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2432079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28A85-4E61-9F74-075E-E432939C23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AAA5E9-33B6-4126-CA12-375643716CA7}"/>
              </a:ext>
            </a:extLst>
          </p:cNvPr>
          <p:cNvSpPr>
            <a:spLocks noGrp="1"/>
          </p:cNvSpPr>
          <p:nvPr>
            <p:ph type="title"/>
          </p:nvPr>
        </p:nvSpPr>
        <p:spPr>
          <a:xfrm>
            <a:off x="838200" y="365125"/>
            <a:ext cx="11594504" cy="1325563"/>
          </a:xfrm>
        </p:spPr>
        <p:txBody>
          <a:bodyPr>
            <a:normAutofit/>
          </a:bodyPr>
          <a:lstStyle/>
          <a:p>
            <a:r>
              <a:rPr lang="en-US" sz="3200"/>
              <a:t>MASTERING RELATIONAL AND NON-RELATIONAL DATABASE</a:t>
            </a:r>
            <a:endParaRPr lang="pt-BR" sz="3200"/>
          </a:p>
        </p:txBody>
      </p:sp>
      <p:sp>
        <p:nvSpPr>
          <p:cNvPr id="3" name="Espaço Reservado para Conteúdo 2">
            <a:extLst>
              <a:ext uri="{FF2B5EF4-FFF2-40B4-BE49-F238E27FC236}">
                <a16:creationId xmlns:a16="http://schemas.microsoft.com/office/drawing/2014/main" id="{EA400C55-B38F-D1FD-E062-791DBE624CFA}"/>
              </a:ext>
            </a:extLst>
          </p:cNvPr>
          <p:cNvSpPr>
            <a:spLocks noGrp="1"/>
          </p:cNvSpPr>
          <p:nvPr>
            <p:ph idx="1"/>
          </p:nvPr>
        </p:nvSpPr>
        <p:spPr>
          <a:xfrm>
            <a:off x="838199" y="1613976"/>
            <a:ext cx="11224853" cy="5032376"/>
          </a:xfrm>
        </p:spPr>
        <p:txBody>
          <a:bodyPr vert="horz" lIns="91440" tIns="45720" rIns="91440" bIns="45720" rtlCol="0" anchor="t">
            <a:noAutofit/>
          </a:bodyPr>
          <a:lstStyle/>
          <a:p>
            <a:pPr>
              <a:lnSpc>
                <a:spcPct val="150000"/>
              </a:lnSpc>
            </a:pPr>
            <a:r>
              <a:rPr lang="pt-BR" sz="1600">
                <a:latin typeface="Arial"/>
                <a:cs typeface="Arial"/>
              </a:rPr>
              <a:t>Carga de dados: para cada tabela crie uma Procedure para efetuar a carga de dados daquela tabela. A carga de dados deve ser feita por passagem de parâmetro, não façam uso de hard-</a:t>
            </a:r>
            <a:r>
              <a:rPr lang="pt-BR" sz="1600" err="1">
                <a:latin typeface="Arial"/>
                <a:cs typeface="Arial"/>
              </a:rPr>
              <a:t>code</a:t>
            </a:r>
            <a:r>
              <a:rPr lang="pt-BR" sz="1600">
                <a:latin typeface="Arial"/>
                <a:cs typeface="Arial"/>
              </a:rPr>
              <a:t> nas Procedures. Em todos os blocos devem existir a EXCEPTION WHEN OTHERS e mais dois tratamentos de exceção a escolha do grupo. Quando ocorrer uma exceção, o nome da procedure, o nome do usuário, a data de ocorrência de erro, o código de erro e a mensagem de erro devem ser salvos em uma tabela de registro de logs. Para as turmas que não chegaram ao tema Procedures, criar blocos anônimos utilizando variáveis de substituição para informar os valores a serem inseridos. (20 </a:t>
            </a:r>
            <a:r>
              <a:rPr lang="pt-BR" sz="1600" err="1">
                <a:latin typeface="Arial"/>
                <a:cs typeface="Arial"/>
              </a:rPr>
              <a:t>pts</a:t>
            </a:r>
            <a:r>
              <a:rPr lang="pt-BR" sz="1600">
                <a:latin typeface="Arial"/>
                <a:cs typeface="Arial"/>
              </a:rPr>
              <a:t>)</a:t>
            </a:r>
          </a:p>
          <a:p>
            <a:endParaRPr lang="pt-BR" sz="1600"/>
          </a:p>
        </p:txBody>
      </p:sp>
      <p:sp>
        <p:nvSpPr>
          <p:cNvPr id="4" name="Espaço Reservado para Texto 3">
            <a:extLst>
              <a:ext uri="{FF2B5EF4-FFF2-40B4-BE49-F238E27FC236}">
                <a16:creationId xmlns:a16="http://schemas.microsoft.com/office/drawing/2014/main" id="{D1B17061-7B25-83A7-52EF-8EA988374F70}"/>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8175275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7279C-2DEE-F39A-9E47-4E8BC3A2AB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7689D1-5CD2-DB59-9483-10A7E10972A9}"/>
              </a:ext>
            </a:extLst>
          </p:cNvPr>
          <p:cNvSpPr>
            <a:spLocks noGrp="1"/>
          </p:cNvSpPr>
          <p:nvPr>
            <p:ph type="title"/>
          </p:nvPr>
        </p:nvSpPr>
        <p:spPr>
          <a:xfrm>
            <a:off x="838200" y="365125"/>
            <a:ext cx="11594504" cy="1325563"/>
          </a:xfrm>
        </p:spPr>
        <p:txBody>
          <a:bodyPr>
            <a:normAutofit/>
          </a:bodyPr>
          <a:lstStyle/>
          <a:p>
            <a:r>
              <a:rPr lang="en-US" sz="3200"/>
              <a:t>MASTERING RELATIONAL AND NON-RELATIONAL DATABASE</a:t>
            </a:r>
            <a:endParaRPr lang="pt-BR" sz="3200"/>
          </a:p>
        </p:txBody>
      </p:sp>
      <p:sp>
        <p:nvSpPr>
          <p:cNvPr id="3" name="Espaço Reservado para Conteúdo 2">
            <a:extLst>
              <a:ext uri="{FF2B5EF4-FFF2-40B4-BE49-F238E27FC236}">
                <a16:creationId xmlns:a16="http://schemas.microsoft.com/office/drawing/2014/main" id="{B3A3B444-6BBD-B4B3-09CB-79F27F7F53EA}"/>
              </a:ext>
            </a:extLst>
          </p:cNvPr>
          <p:cNvSpPr>
            <a:spLocks noGrp="1"/>
          </p:cNvSpPr>
          <p:nvPr>
            <p:ph idx="1"/>
          </p:nvPr>
        </p:nvSpPr>
        <p:spPr>
          <a:xfrm>
            <a:off x="838199" y="1613976"/>
            <a:ext cx="11224853" cy="5032376"/>
          </a:xfrm>
        </p:spPr>
        <p:txBody>
          <a:bodyPr vert="horz" lIns="91440" tIns="45720" rIns="91440" bIns="45720" rtlCol="0" anchor="t">
            <a:noAutofit/>
          </a:bodyPr>
          <a:lstStyle/>
          <a:p>
            <a:r>
              <a:rPr lang="pt-BR" sz="1600">
                <a:latin typeface="Gotham HTF Book"/>
              </a:rPr>
              <a:t>Criar dois blocos anônimos para mostrar os dados inseridos, com pelo menos 3 consultas de junções (</a:t>
            </a:r>
            <a:r>
              <a:rPr lang="pt-BR" sz="1600" err="1">
                <a:latin typeface="Gotham HTF Book"/>
              </a:rPr>
              <a:t>Joins</a:t>
            </a:r>
            <a:r>
              <a:rPr lang="pt-BR" sz="1600">
                <a:latin typeface="Gotham HTF Book"/>
              </a:rPr>
              <a:t>) utilizando agrupamento (</a:t>
            </a:r>
            <a:r>
              <a:rPr lang="pt-BR" sz="1600" err="1">
                <a:latin typeface="Gotham HTF Book"/>
              </a:rPr>
              <a:t>group</a:t>
            </a:r>
            <a:r>
              <a:rPr lang="pt-BR" sz="1600">
                <a:latin typeface="Gotham HTF Book"/>
              </a:rPr>
              <a:t> </a:t>
            </a:r>
            <a:r>
              <a:rPr lang="pt-BR" sz="1600" err="1">
                <a:latin typeface="Gotham HTF Book"/>
              </a:rPr>
              <a:t>by</a:t>
            </a:r>
            <a:r>
              <a:rPr lang="pt-BR" sz="1600">
                <a:latin typeface="Gotham HTF Book"/>
              </a:rPr>
              <a:t>) e ordenação (</a:t>
            </a:r>
            <a:r>
              <a:rPr lang="pt-BR" sz="1600" err="1">
                <a:latin typeface="Gotham HTF Book"/>
              </a:rPr>
              <a:t>order</a:t>
            </a:r>
            <a:r>
              <a:rPr lang="pt-BR" sz="1600">
                <a:latin typeface="Gotham HTF Book"/>
              </a:rPr>
              <a:t> </a:t>
            </a:r>
            <a:r>
              <a:rPr lang="pt-BR" sz="1600" err="1">
                <a:latin typeface="Gotham HTF Book"/>
              </a:rPr>
              <a:t>by</a:t>
            </a:r>
            <a:r>
              <a:rPr lang="pt-BR" sz="1600">
                <a:latin typeface="Gotham HTF Book"/>
              </a:rPr>
              <a:t>). (20 pts)</a:t>
            </a:r>
            <a:endParaRPr lang="pt-BR"/>
          </a:p>
          <a:p>
            <a:endParaRPr lang="pt-BR" sz="1600">
              <a:latin typeface="Gotham HTF Book"/>
            </a:endParaRPr>
          </a:p>
          <a:p>
            <a:r>
              <a:rPr lang="pt-BR" sz="1600">
                <a:latin typeface="Gotham HTF Book"/>
              </a:rPr>
              <a:t>Criar um bloco que deverá ler os dados de uma tabela e, na mesma linha, mostrar o valor de uma coluna da linha atual, o valor dessa mesma coluna na linha anterior e o valor dessa mesma coluna na próxima linha. Caso a linha anterior ou a próxima linha não existir, apresentar a palavra "Vazio". O relatório deve ter, pelo menos, cinco linhas de dados. A tabela e a coluna a ser exibida fica a cargo do grupo. (20 </a:t>
            </a:r>
            <a:r>
              <a:rPr lang="pt-BR" sz="1600" err="1">
                <a:latin typeface="Gotham HTF Book"/>
              </a:rPr>
              <a:t>pts</a:t>
            </a:r>
            <a:r>
              <a:rPr lang="pt-BR" sz="1600">
                <a:latin typeface="Gotham HTF Book"/>
              </a:rPr>
              <a:t>)</a:t>
            </a:r>
            <a:endParaRPr lang="pt-BR">
              <a:latin typeface="Gotham HTF Book"/>
            </a:endParaRPr>
          </a:p>
        </p:txBody>
      </p:sp>
      <p:sp>
        <p:nvSpPr>
          <p:cNvPr id="4" name="Espaço Reservado para Texto 3">
            <a:extLst>
              <a:ext uri="{FF2B5EF4-FFF2-40B4-BE49-F238E27FC236}">
                <a16:creationId xmlns:a16="http://schemas.microsoft.com/office/drawing/2014/main" id="{A133F1AC-189A-9E26-2209-A9ED201E75ED}"/>
              </a:ext>
            </a:extLst>
          </p:cNvPr>
          <p:cNvSpPr>
            <a:spLocks noGrp="1"/>
          </p:cNvSpPr>
          <p:nvPr>
            <p:ph type="body" sz="quarter" idx="13"/>
          </p:nvPr>
        </p:nvSpPr>
        <p:spPr/>
        <p:txBody>
          <a:bodyPr/>
          <a:lstStyle/>
          <a:p>
            <a:r>
              <a:rPr lang="pt-BR"/>
              <a:t>ENTREGA - 1º SPRINT</a:t>
            </a:r>
          </a:p>
        </p:txBody>
      </p:sp>
      <p:pic>
        <p:nvPicPr>
          <p:cNvPr id="5" name="Imagem 4" descr="Interface gráfica do usuário, Texto, Aplicativo&#10;&#10;O conteúdo gerado por IA pode estar incorreto.">
            <a:extLst>
              <a:ext uri="{FF2B5EF4-FFF2-40B4-BE49-F238E27FC236}">
                <a16:creationId xmlns:a16="http://schemas.microsoft.com/office/drawing/2014/main" id="{67F78947-8908-EF48-1404-A1DA1C252FDF}"/>
              </a:ext>
            </a:extLst>
          </p:cNvPr>
          <p:cNvPicPr>
            <a:picLocks noChangeAspect="1"/>
          </p:cNvPicPr>
          <p:nvPr/>
        </p:nvPicPr>
        <p:blipFill>
          <a:blip r:embed="rId2"/>
          <a:stretch>
            <a:fillRect/>
          </a:stretch>
        </p:blipFill>
        <p:spPr>
          <a:xfrm>
            <a:off x="849313" y="4124325"/>
            <a:ext cx="11229975" cy="1809750"/>
          </a:xfrm>
          <a:prstGeom prst="rect">
            <a:avLst/>
          </a:prstGeom>
        </p:spPr>
      </p:pic>
    </p:spTree>
    <p:extLst>
      <p:ext uri="{BB962C8B-B14F-4D97-AF65-F5344CB8AC3E}">
        <p14:creationId xmlns:p14="http://schemas.microsoft.com/office/powerpoint/2010/main" val="235499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EBB9C-8588-4931-0D22-B271683AB1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BAD954-9818-4541-E88E-66B2FEDF53D7}"/>
              </a:ext>
            </a:extLst>
          </p:cNvPr>
          <p:cNvSpPr>
            <a:spLocks noGrp="1"/>
          </p:cNvSpPr>
          <p:nvPr>
            <p:ph type="title"/>
          </p:nvPr>
        </p:nvSpPr>
        <p:spPr>
          <a:xfrm>
            <a:off x="838200" y="365125"/>
            <a:ext cx="11594504" cy="1325563"/>
          </a:xfrm>
        </p:spPr>
        <p:txBody>
          <a:bodyPr>
            <a:normAutofit/>
          </a:bodyPr>
          <a:lstStyle/>
          <a:p>
            <a:r>
              <a:rPr lang="en-US" sz="3200"/>
              <a:t>MASTERING RELATIONAL AND NON-RELATIONAL DATABASE</a:t>
            </a:r>
            <a:endParaRPr lang="pt-BR" sz="3200"/>
          </a:p>
        </p:txBody>
      </p:sp>
      <p:sp>
        <p:nvSpPr>
          <p:cNvPr id="3" name="Espaço Reservado para Conteúdo 2">
            <a:extLst>
              <a:ext uri="{FF2B5EF4-FFF2-40B4-BE49-F238E27FC236}">
                <a16:creationId xmlns:a16="http://schemas.microsoft.com/office/drawing/2014/main" id="{7334310E-7371-0FC9-39AB-540D043D9A46}"/>
              </a:ext>
            </a:extLst>
          </p:cNvPr>
          <p:cNvSpPr>
            <a:spLocks noGrp="1"/>
          </p:cNvSpPr>
          <p:nvPr>
            <p:ph idx="1"/>
          </p:nvPr>
        </p:nvSpPr>
        <p:spPr>
          <a:xfrm>
            <a:off x="838199" y="1613976"/>
            <a:ext cx="11224853" cy="5032376"/>
          </a:xfrm>
        </p:spPr>
        <p:txBody>
          <a:bodyPr vert="horz" lIns="91440" tIns="45720" rIns="91440" bIns="45720" rtlCol="0" anchor="t">
            <a:noAutofit/>
          </a:bodyPr>
          <a:lstStyle/>
          <a:p>
            <a:r>
              <a:rPr lang="pt-BR" sz="1600">
                <a:latin typeface="Gotham HTF Book"/>
              </a:rPr>
              <a:t>Relatórios: crie quatro blocos anônimos que usem cursor explícito e tomada de decisão. Um dos blocos anônimos deve listar todos os dados de uma tabela, mostrar os dados numéricos sumarizados e mostrar a sumarização dos dados agrupados por um critério definido pelo grupo. Exemplo do relatório para facilitar a visualização: (20 </a:t>
            </a:r>
            <a:r>
              <a:rPr lang="pt-BR" sz="1600" err="1">
                <a:latin typeface="Gotham HTF Book"/>
              </a:rPr>
              <a:t>pts</a:t>
            </a:r>
            <a:r>
              <a:rPr lang="pt-BR" sz="1600">
                <a:latin typeface="Gotham HTF Book"/>
              </a:rPr>
              <a:t>)</a:t>
            </a:r>
          </a:p>
          <a:p>
            <a:endParaRPr lang="pt-BR" sz="1600"/>
          </a:p>
        </p:txBody>
      </p:sp>
      <p:sp>
        <p:nvSpPr>
          <p:cNvPr id="4" name="Espaço Reservado para Texto 3">
            <a:extLst>
              <a:ext uri="{FF2B5EF4-FFF2-40B4-BE49-F238E27FC236}">
                <a16:creationId xmlns:a16="http://schemas.microsoft.com/office/drawing/2014/main" id="{73AC5B97-AB07-F062-455E-0719B4DA2939}"/>
              </a:ext>
            </a:extLst>
          </p:cNvPr>
          <p:cNvSpPr>
            <a:spLocks noGrp="1"/>
          </p:cNvSpPr>
          <p:nvPr>
            <p:ph type="body" sz="quarter" idx="13"/>
          </p:nvPr>
        </p:nvSpPr>
        <p:spPr/>
        <p:txBody>
          <a:bodyPr/>
          <a:lstStyle/>
          <a:p>
            <a:r>
              <a:rPr lang="pt-BR"/>
              <a:t>ENTREGA - 1º SPRINT</a:t>
            </a:r>
          </a:p>
        </p:txBody>
      </p:sp>
      <p:pic>
        <p:nvPicPr>
          <p:cNvPr id="6" name="Imagem 5">
            <a:extLst>
              <a:ext uri="{FF2B5EF4-FFF2-40B4-BE49-F238E27FC236}">
                <a16:creationId xmlns:a16="http://schemas.microsoft.com/office/drawing/2014/main" id="{4DC8D3ED-0E53-D5B0-3E8A-3D62125B0A3C}"/>
              </a:ext>
            </a:extLst>
          </p:cNvPr>
          <p:cNvPicPr>
            <a:picLocks noChangeAspect="1"/>
          </p:cNvPicPr>
          <p:nvPr/>
        </p:nvPicPr>
        <p:blipFill>
          <a:blip r:embed="rId2"/>
          <a:stretch>
            <a:fillRect/>
          </a:stretch>
        </p:blipFill>
        <p:spPr>
          <a:xfrm>
            <a:off x="4370388" y="2451100"/>
            <a:ext cx="2867025" cy="4038600"/>
          </a:xfrm>
          <a:prstGeom prst="rect">
            <a:avLst/>
          </a:prstGeom>
        </p:spPr>
      </p:pic>
    </p:spTree>
    <p:extLst>
      <p:ext uri="{BB962C8B-B14F-4D97-AF65-F5344CB8AC3E}">
        <p14:creationId xmlns:p14="http://schemas.microsoft.com/office/powerpoint/2010/main" val="469016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EA7C9-DCBD-2A8F-D58D-CA8A80D25D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2C71BB-99BB-B205-92A8-548491FADB6E}"/>
              </a:ext>
            </a:extLst>
          </p:cNvPr>
          <p:cNvSpPr>
            <a:spLocks noGrp="1"/>
          </p:cNvSpPr>
          <p:nvPr>
            <p:ph type="title"/>
          </p:nvPr>
        </p:nvSpPr>
        <p:spPr>
          <a:xfrm>
            <a:off x="838200" y="365125"/>
            <a:ext cx="11594504" cy="1325563"/>
          </a:xfrm>
        </p:spPr>
        <p:txBody>
          <a:bodyPr>
            <a:normAutofit/>
          </a:bodyPr>
          <a:lstStyle/>
          <a:p>
            <a:r>
              <a:rPr lang="en-US" sz="3200"/>
              <a:t>MASTERING RELATIONAL AND NON-RELATIONAL DATABASE</a:t>
            </a:r>
            <a:endParaRPr lang="pt-BR" sz="3200"/>
          </a:p>
        </p:txBody>
      </p:sp>
      <p:sp>
        <p:nvSpPr>
          <p:cNvPr id="3" name="Espaço Reservado para Conteúdo 2">
            <a:extLst>
              <a:ext uri="{FF2B5EF4-FFF2-40B4-BE49-F238E27FC236}">
                <a16:creationId xmlns:a16="http://schemas.microsoft.com/office/drawing/2014/main" id="{9408FA49-9466-D76B-B264-3D46C3098275}"/>
              </a:ext>
            </a:extLst>
          </p:cNvPr>
          <p:cNvSpPr>
            <a:spLocks noGrp="1"/>
          </p:cNvSpPr>
          <p:nvPr>
            <p:ph idx="1"/>
          </p:nvPr>
        </p:nvSpPr>
        <p:spPr>
          <a:xfrm>
            <a:off x="838199" y="1613976"/>
            <a:ext cx="11224853" cy="5032376"/>
          </a:xfrm>
        </p:spPr>
        <p:txBody>
          <a:bodyPr vert="horz" lIns="91440" tIns="45720" rIns="91440" bIns="45720" rtlCol="0" anchor="t">
            <a:noAutofit/>
          </a:bodyPr>
          <a:lstStyle/>
          <a:p>
            <a:r>
              <a:rPr lang="pt-BR" sz="1600">
                <a:latin typeface="Gotham HTF Book"/>
              </a:rPr>
              <a:t>Entrega:</a:t>
            </a:r>
          </a:p>
          <a:p>
            <a:r>
              <a:rPr lang="pt-BR" sz="1600">
                <a:latin typeface="Gotham HTF Book"/>
              </a:rPr>
              <a:t>Arquivo PDF contendo folha de rosto com os nomes completos dos integrantes do time em ordem alfabética e seus RMS.</a:t>
            </a:r>
            <a:endParaRPr lang="pt-BR" err="1"/>
          </a:p>
          <a:p>
            <a:r>
              <a:rPr lang="pt-BR" sz="1600">
                <a:latin typeface="Gotham HTF Book"/>
              </a:rPr>
              <a:t>Arquivo (</a:t>
            </a:r>
            <a:r>
              <a:rPr lang="pt-BR" sz="1600" err="1">
                <a:latin typeface="Gotham HTF Book"/>
              </a:rPr>
              <a:t>sql</a:t>
            </a:r>
            <a:r>
              <a:rPr lang="pt-BR" sz="1600">
                <a:latin typeface="Gotham HTF Book"/>
              </a:rPr>
              <a:t> ou </a:t>
            </a:r>
            <a:r>
              <a:rPr lang="pt-BR" sz="1600" err="1">
                <a:latin typeface="Gotham HTF Book"/>
              </a:rPr>
              <a:t>txt</a:t>
            </a:r>
            <a:r>
              <a:rPr lang="pt-BR" sz="1600">
                <a:latin typeface="Gotham HTF Book"/>
              </a:rPr>
              <a:t>) com a codificação SQL solicitada.</a:t>
            </a:r>
            <a:endParaRPr lang="pt-BR"/>
          </a:p>
          <a:p>
            <a:r>
              <a:rPr lang="pt-BR" sz="1600" err="1">
                <a:latin typeface="Gotham HTF Book"/>
              </a:rPr>
              <a:t>Obs</a:t>
            </a:r>
            <a:r>
              <a:rPr lang="pt-BR" sz="1600">
                <a:latin typeface="Gotham HTF Book"/>
              </a:rPr>
              <a:t>: A boa organização do conteúdo do arquivo é de suma importância para apontamento da nota, caso haja falhas na organização a correção pode vir a ser comprometida acarretando diminuição da nota.</a:t>
            </a:r>
            <a:endParaRPr lang="pt-BR"/>
          </a:p>
          <a:p>
            <a:endParaRPr lang="pt-BR" sz="1600"/>
          </a:p>
        </p:txBody>
      </p:sp>
      <p:sp>
        <p:nvSpPr>
          <p:cNvPr id="4" name="Espaço Reservado para Texto 3">
            <a:extLst>
              <a:ext uri="{FF2B5EF4-FFF2-40B4-BE49-F238E27FC236}">
                <a16:creationId xmlns:a16="http://schemas.microsoft.com/office/drawing/2014/main" id="{34CC63E4-BF8A-928A-7FCB-800D8BE825CB}"/>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30653437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57E94-D2E0-CF74-FF13-31430B71F1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DB6F7A-6F91-5338-91B1-B6C0CAFDC374}"/>
              </a:ext>
            </a:extLst>
          </p:cNvPr>
          <p:cNvSpPr>
            <a:spLocks noGrp="1"/>
          </p:cNvSpPr>
          <p:nvPr>
            <p:ph type="title"/>
          </p:nvPr>
        </p:nvSpPr>
        <p:spPr>
          <a:xfrm>
            <a:off x="838200" y="365125"/>
            <a:ext cx="11594504" cy="1325563"/>
          </a:xfrm>
        </p:spPr>
        <p:txBody>
          <a:bodyPr>
            <a:normAutofit/>
          </a:bodyPr>
          <a:lstStyle/>
          <a:p>
            <a:r>
              <a:rPr lang="en-US" sz="3200"/>
              <a:t>MASTERING RELATIONAL AND NON-RELATIONAL DATABASE</a:t>
            </a:r>
            <a:endParaRPr lang="pt-BR" sz="3200"/>
          </a:p>
        </p:txBody>
      </p:sp>
      <p:sp>
        <p:nvSpPr>
          <p:cNvPr id="3" name="Espaço Reservado para Conteúdo 2">
            <a:extLst>
              <a:ext uri="{FF2B5EF4-FFF2-40B4-BE49-F238E27FC236}">
                <a16:creationId xmlns:a16="http://schemas.microsoft.com/office/drawing/2014/main" id="{C8533FE0-899D-947C-7794-489B54E4C24A}"/>
              </a:ext>
            </a:extLst>
          </p:cNvPr>
          <p:cNvSpPr>
            <a:spLocks noGrp="1"/>
          </p:cNvSpPr>
          <p:nvPr>
            <p:ph idx="1"/>
          </p:nvPr>
        </p:nvSpPr>
        <p:spPr>
          <a:xfrm>
            <a:off x="838199" y="1613976"/>
            <a:ext cx="11224853" cy="5032376"/>
          </a:xfrm>
        </p:spPr>
        <p:txBody>
          <a:bodyPr vert="horz" lIns="91440" tIns="45720" rIns="91440" bIns="45720" rtlCol="0" anchor="t">
            <a:noAutofit/>
          </a:bodyPr>
          <a:lstStyle/>
          <a:p>
            <a:r>
              <a:rPr lang="pt-BR" sz="1600"/>
              <a:t>Penalidades:</a:t>
            </a:r>
          </a:p>
          <a:p>
            <a:r>
              <a:rPr lang="pt-BR" sz="1600"/>
              <a:t>A falta da documentação compromete totalmente a correção das instruções em SQL, acarretando uma nota mínima de entrega de 30% do total da atividade.</a:t>
            </a:r>
            <a:endParaRPr lang="pt-BR"/>
          </a:p>
          <a:p>
            <a:r>
              <a:rPr lang="pt-BR" sz="1600"/>
              <a:t>O não cumprimento dos requisitos solicitados na codificação implica na perda de 50% do total da nota do item.</a:t>
            </a:r>
            <a:endParaRPr lang="pt-BR"/>
          </a:p>
          <a:p>
            <a:r>
              <a:rPr lang="pt-BR" sz="1600"/>
              <a:t>A criação de uma ou mais instruções que não atendam o solicitado será desconsiderada, sem valor na pontuação.</a:t>
            </a:r>
            <a:endParaRPr lang="pt-BR"/>
          </a:p>
          <a:p>
            <a:r>
              <a:rPr lang="pt-BR" sz="1600"/>
              <a:t>A instrução que atenda parcialmente o solicitado terá como valor 50% do total deste item.</a:t>
            </a:r>
            <a:endParaRPr lang="pt-BR"/>
          </a:p>
          <a:p>
            <a:r>
              <a:rPr lang="pt-BR" sz="1600">
                <a:latin typeface="Gotham HTF Book"/>
              </a:rPr>
              <a:t>Instruções que apresentarem problemas de execução serão desconsideradas e não haverá pontuação para a mesma.</a:t>
            </a:r>
            <a:endParaRPr lang="pt-BR">
              <a:latin typeface="Gotham HTF Book"/>
            </a:endParaRPr>
          </a:p>
        </p:txBody>
      </p:sp>
      <p:sp>
        <p:nvSpPr>
          <p:cNvPr id="4" name="Espaço Reservado para Texto 3">
            <a:extLst>
              <a:ext uri="{FF2B5EF4-FFF2-40B4-BE49-F238E27FC236}">
                <a16:creationId xmlns:a16="http://schemas.microsoft.com/office/drawing/2014/main" id="{1B70DA68-20F0-751A-2F15-177A1E9BADBA}"/>
              </a:ext>
            </a:extLst>
          </p:cNvPr>
          <p:cNvSpPr>
            <a:spLocks noGrp="1"/>
          </p:cNvSpPr>
          <p:nvPr>
            <p:ph type="body" sz="quarter" idx="13"/>
          </p:nvPr>
        </p:nvSpPr>
        <p:spPr/>
        <p:txBody>
          <a:bodyPr/>
          <a:lstStyle/>
          <a:p>
            <a:r>
              <a:rPr lang="pt-BR"/>
              <a:t>ENTREGA - 1º SPRINT</a:t>
            </a:r>
          </a:p>
        </p:txBody>
      </p:sp>
    </p:spTree>
    <p:extLst>
      <p:ext uri="{BB962C8B-B14F-4D97-AF65-F5344CB8AC3E}">
        <p14:creationId xmlns:p14="http://schemas.microsoft.com/office/powerpoint/2010/main" val="2799712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7" name="Image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5" y="132"/>
            <a:ext cx="12187091" cy="6857736"/>
          </a:xfrm>
          <a:prstGeom prst="rect">
            <a:avLst/>
          </a:prstGeom>
          <a:blipFill>
            <a:blip r:embed="rId4"/>
            <a:stretch>
              <a:fillRect/>
            </a:stretch>
          </a:blipFill>
        </p:spPr>
      </p:pic>
      <p:pic>
        <p:nvPicPr>
          <p:cNvPr id="5" name="Picture 7"/>
          <p:cNvPicPr>
            <a:picLocks noChangeAspect="1"/>
          </p:cNvPicPr>
          <p:nvPr/>
        </p:nvPicPr>
        <p:blipFill rotWithShape="1">
          <a:blip r:embed="rId5"/>
          <a:srcRect r="51438"/>
          <a:stretch/>
        </p:blipFill>
        <p:spPr>
          <a:xfrm>
            <a:off x="4619836" y="2924944"/>
            <a:ext cx="2952328" cy="1259404"/>
          </a:xfrm>
          <a:prstGeom prst="rect">
            <a:avLst/>
          </a:prstGeom>
        </p:spPr>
      </p:pic>
    </p:spTree>
    <p:extLst>
      <p:ext uri="{BB962C8B-B14F-4D97-AF65-F5344CB8AC3E}">
        <p14:creationId xmlns:p14="http://schemas.microsoft.com/office/powerpoint/2010/main" val="248942493"/>
      </p:ext>
    </p:extLst>
  </p:cSld>
  <p:clrMapOvr>
    <a:masterClrMapping/>
  </p:clrMapOvr>
</p:sld>
</file>

<file path=ppt/theme/theme1.xml><?xml version="1.0" encoding="utf-8"?>
<a:theme xmlns:a="http://schemas.openxmlformats.org/drawingml/2006/main" name="1_Personalizar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ersonalizar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69851C83A66C54BAF5260C2FE031B75" ma:contentTypeVersion="13" ma:contentTypeDescription="Crie um novo documento." ma:contentTypeScope="" ma:versionID="9b8db59be8b8145cc434785a53847d26">
  <xsd:schema xmlns:xsd="http://www.w3.org/2001/XMLSchema" xmlns:xs="http://www.w3.org/2001/XMLSchema" xmlns:p="http://schemas.microsoft.com/office/2006/metadata/properties" xmlns:ns1="http://schemas.microsoft.com/sharepoint/v3" xmlns:ns3="7b91572d-6f74-4501-97d4-3273d2c077f8" xmlns:ns4="24efde5b-ebe8-43f5-adff-4a84e764f0cd" targetNamespace="http://schemas.microsoft.com/office/2006/metadata/properties" ma:root="true" ma:fieldsID="328d78511ee11fe6b86583d7ba6ae2a1" ns1:_="" ns3:_="" ns4:_="">
    <xsd:import namespace="http://schemas.microsoft.com/sharepoint/v3"/>
    <xsd:import namespace="7b91572d-6f74-4501-97d4-3273d2c077f8"/>
    <xsd:import namespace="24efde5b-ebe8-43f5-adff-4a84e764f0c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1:_ip_UnifiedCompliancePolicyProperties" minOccurs="0"/>
                <xsd:element ref="ns1:_ip_UnifiedCompliancePolicyUIAction"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Propriedades da Política de Conformidade Unificada" ma:hidden="true" ma:internalName="_ip_UnifiedCompliancePolicyProperties">
      <xsd:simpleType>
        <xsd:restriction base="dms:Note"/>
      </xsd:simpleType>
    </xsd:element>
    <xsd:element name="_ip_UnifiedCompliancePolicyUIAction" ma:index="14" nillable="true" ma:displayName="Ação de Interface do Usuário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91572d-6f74-4501-97d4-3273d2c077f8" elementFormDefault="qualified">
    <xsd:import namespace="http://schemas.microsoft.com/office/2006/documentManagement/types"/>
    <xsd:import namespace="http://schemas.microsoft.com/office/infopath/2007/PartnerControls"/>
    <xsd:element name="SharedWithUsers" ma:index="8" nillable="true" ma:displayName="Compartilhado com"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description="" ma:internalName="SharedWithDetails" ma:readOnly="true">
      <xsd:simpleType>
        <xsd:restriction base="dms:Note">
          <xsd:maxLength value="255"/>
        </xsd:restriction>
      </xsd:simpleType>
    </xsd:element>
    <xsd:element name="SharingHintHash" ma:index="10" nillable="true" ma:displayName="Hash de Dica de Compartilhamento"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4efde5b-ebe8-43f5-adff-4a84e764f0c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CC0CC5-D507-4D30-B110-F0B8ADA8212F}">
  <ds:schemaRefs>
    <ds:schemaRef ds:uri="http://schemas.microsoft.com/sharepoint/v3/contenttype/forms"/>
  </ds:schemaRefs>
</ds:datastoreItem>
</file>

<file path=customXml/itemProps2.xml><?xml version="1.0" encoding="utf-8"?>
<ds:datastoreItem xmlns:ds="http://schemas.openxmlformats.org/officeDocument/2006/customXml" ds:itemID="{B16F4D8A-3282-48E4-AFF9-190F1C45920F}">
  <ds:schemaRefs>
    <ds:schemaRef ds:uri="24efde5b-ebe8-43f5-adff-4a84e764f0cd"/>
    <ds:schemaRef ds:uri="7b91572d-6f74-4501-97d4-3273d2c077f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EED7177-9E25-421E-81E9-0B992E0F1CC5}">
  <ds:schemaRefs>
    <ds:schemaRef ds:uri="24efde5b-ebe8-43f5-adff-4a84e764f0cd"/>
    <ds:schemaRef ds:uri="7b91572d-6f74-4501-97d4-3273d2c077f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FIAP</Template>
  <TotalTime>0</TotalTime>
  <Words>3388</Words>
  <Application>Microsoft Macintosh PowerPoint</Application>
  <PresentationFormat>Widescreen</PresentationFormat>
  <Paragraphs>376</Paragraphs>
  <Slides>40</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40</vt:i4>
      </vt:variant>
    </vt:vector>
  </HeadingPairs>
  <TitlesOfParts>
    <vt:vector size="50" baseType="lpstr">
      <vt:lpstr>Aptos</vt:lpstr>
      <vt:lpstr>Aptos Display</vt:lpstr>
      <vt:lpstr>Arial</vt:lpstr>
      <vt:lpstr>Arial MT</vt:lpstr>
      <vt:lpstr>Calibri</vt:lpstr>
      <vt:lpstr>Gotham HTF Book</vt:lpstr>
      <vt:lpstr>Segoe UI Symbol,Sans-Serif</vt:lpstr>
      <vt:lpstr>Spline Sans Bold</vt:lpstr>
      <vt:lpstr>1_Personalizar design</vt:lpstr>
      <vt:lpstr>Personalizar design</vt:lpstr>
      <vt:lpstr>PowerPoint Presentation</vt:lpstr>
      <vt:lpstr>PowerPoint Presentation</vt:lpstr>
      <vt:lpstr>INTRODUÇÃO</vt:lpstr>
      <vt:lpstr>OBJETIVO DO CHALLENGE</vt:lpstr>
      <vt:lpstr>DESAFIO </vt:lpstr>
      <vt:lpstr>VISÃO ESTRATÉGICA DO DESAFIO</vt:lpstr>
      <vt:lpstr>PROBLEMA MACRO</vt:lpstr>
      <vt:lpstr>PROBLEMA MACRO</vt:lpstr>
      <vt:lpstr>ESPAÇOS POSSÍVEIS DA JORNADA</vt:lpstr>
      <vt:lpstr>ESPAÇOS POSSÍVEIS DA JORNADA</vt:lpstr>
      <vt:lpstr>FORMATOS DE SOLUÇÃO PERMITIDOS</vt:lpstr>
      <vt:lpstr>CRITÉRIOS DE AVALIAÇÃO</vt:lpstr>
      <vt:lpstr>PERGUNTAS NORTEADORAS</vt:lpstr>
      <vt:lpstr>REGRAS DO  CHALLENGE</vt:lpstr>
      <vt:lpstr>TIMES</vt:lpstr>
      <vt:lpstr>ENTREGAS</vt:lpstr>
      <vt:lpstr>ENTREGAS</vt:lpstr>
      <vt:lpstr>RESPONSABILIDADES</vt:lpstr>
      <vt:lpstr>ALUNOS</vt:lpstr>
      <vt:lpstr>PROFESSORES</vt:lpstr>
      <vt:lpstr>SCRUM MASTER</vt:lpstr>
      <vt:lpstr>DEVOPS TOOLS &amp; CLOUD COMPUTING 1/5</vt:lpstr>
      <vt:lpstr>DEVOPS TOOLS &amp; CLOUD COMPUTING 2/5</vt:lpstr>
      <vt:lpstr>DEVOPS TOOLS &amp; CLOUD COMPUTING 3/5</vt:lpstr>
      <vt:lpstr>DEVOPS TOOLS &amp; CLOUD COMPUTING 4/5</vt:lpstr>
      <vt:lpstr>DEVOPS TOOLS &amp; CLOUD COMPUTING 5/5</vt:lpstr>
      <vt:lpstr>JAVA ADVANCED</vt:lpstr>
      <vt:lpstr>JAVA ADVANCED</vt:lpstr>
      <vt:lpstr>JAVA ADVANCED</vt:lpstr>
      <vt:lpstr>JAVA ADVANCED</vt:lpstr>
      <vt:lpstr>JAVA ADVANCED</vt:lpstr>
      <vt:lpstr>JAVA ADVANCED</vt:lpstr>
      <vt:lpstr>JAVA ADVANCED</vt:lpstr>
      <vt:lpstr>MASTERING RELATIONAL AND NON-RELATIONAL DATABASE</vt:lpstr>
      <vt:lpstr>MASTERING RELATIONAL AND NON-RELATIONAL DATABASE</vt:lpstr>
      <vt:lpstr>MASTERING RELATIONAL AND NON-RELATIONAL DATABASE</vt:lpstr>
      <vt:lpstr>MASTERING RELATIONAL AND NON-RELATIONAL DATABASE</vt:lpstr>
      <vt:lpstr>MASTERING RELATIONAL AND NON-RELATIONAL DATABASE</vt:lpstr>
      <vt:lpstr>MASTERING RELATIONAL AND NON-RELATIONAL DATABASE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Marcelo Nakagawa</dc:creator>
  <cp:lastModifiedBy>Antonio Figueiredo</cp:lastModifiedBy>
  <cp:revision>11</cp:revision>
  <cp:lastPrinted>2015-09-12T11:53:34Z</cp:lastPrinted>
  <dcterms:created xsi:type="dcterms:W3CDTF">2014-08-08T14:56:44Z</dcterms:created>
  <dcterms:modified xsi:type="dcterms:W3CDTF">2026-05-07T18:33:12Z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0x010100369851C83A66C54BAF5260C2FE031B75</vt:lpwstr>
  </property>
</Properties>
</file>